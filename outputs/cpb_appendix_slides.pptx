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1324f9bd944fdd" /><Relationship Type="http://schemas.openxmlformats.org/officeDocument/2006/relationships/extended-properties" Target="/docProps/app.xml" Id="R82888e07cf0742ba" /><Relationship Type="http://schemas.openxmlformats.org/officeDocument/2006/relationships/officeDocument" Target="/ppt/presentation.xml" Id="Rf79f79819d744d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cd41c4bba5424a"/>
  </p:sldMasterIdLst>
  <p:notesMasterIdLst>
    <p:notesMasterId xmlns:r="http://schemas.openxmlformats.org/officeDocument/2006/relationships" r:id="Ra545e9e8e57046be"/>
  </p:notesMasterIdLst>
  <p:sldIdLst>
    <p:sldId xmlns:r="http://schemas.openxmlformats.org/officeDocument/2006/relationships" id="256" r:id="R064581fee946430c"/>
    <p:sldId xmlns:r="http://schemas.openxmlformats.org/officeDocument/2006/relationships" id="257" r:id="Rf097c754fe664e61"/>
    <p:sldId xmlns:r="http://schemas.openxmlformats.org/officeDocument/2006/relationships" id="258" r:id="R58e9154daaa042e5"/>
    <p:sldId xmlns:r="http://schemas.openxmlformats.org/officeDocument/2006/relationships" id="259" r:id="R7d116eb4ce7d48d1"/>
    <p:sldId xmlns:r="http://schemas.openxmlformats.org/officeDocument/2006/relationships" id="260" r:id="R5fbeee7f073c49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14725822ca475d" /><Relationship Type="http://schemas.openxmlformats.org/officeDocument/2006/relationships/slideMaster" Target="/ppt/slideMasters/slideMaster1.xml" Id="Rb7cd41c4bba5424a" /><Relationship Type="http://schemas.openxmlformats.org/officeDocument/2006/relationships/notesMaster" Target="/ppt/notesMasters/notesMaster1.xml" Id="Ra545e9e8e57046be" /><Relationship Type="http://schemas.openxmlformats.org/officeDocument/2006/relationships/presProps" Target="/ppt/presProps.xml" Id="Rd256c523e08b4f6f" /><Relationship Type="http://schemas.openxmlformats.org/officeDocument/2006/relationships/tableStyles" Target="/ppt/tableStyles.xml" Id="R13238118132f4337" /><Relationship Type="http://schemas.openxmlformats.org/officeDocument/2006/relationships/slide" Target="/ppt/slides/slide1.xml" Id="R064581fee946430c" /><Relationship Type="http://schemas.openxmlformats.org/officeDocument/2006/relationships/slide" Target="/ppt/slides/slide2.xml" Id="Rf097c754fe664e61" /><Relationship Type="http://schemas.openxmlformats.org/officeDocument/2006/relationships/slide" Target="/ppt/slides/slide3.xml" Id="R58e9154daaa042e5" /><Relationship Type="http://schemas.openxmlformats.org/officeDocument/2006/relationships/slide" Target="/ppt/slides/slide4.xml" Id="R7d116eb4ce7d48d1" /><Relationship Type="http://schemas.openxmlformats.org/officeDocument/2006/relationships/slide" Target="/ppt/slides/slide5.xml" Id="R5fbeee7f073c49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c41eb1de8547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1b137b6434c4b" /><Relationship Type="http://schemas.openxmlformats.org/officeDocument/2006/relationships/notesMaster" Target="/ppt/notesMasters/notesMaster1.xml" Id="R6c28d47b5b2241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85a56a43542e2" /><Relationship Type="http://schemas.openxmlformats.org/officeDocument/2006/relationships/notesMaster" Target="/ppt/notesMasters/notesMaster1.xml" Id="Rc32c1dc8dd9048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3bc59bb1b145c8" /><Relationship Type="http://schemas.openxmlformats.org/officeDocument/2006/relationships/notesMaster" Target="/ppt/notesMasters/notesMaster1.xml" Id="Raad9c864a0244f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02ca1b29064b5b" /><Relationship Type="http://schemas.openxmlformats.org/officeDocument/2006/relationships/notesMaster" Target="/ppt/notesMasters/notesMaster1.xml" Id="R623b196dea1d44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b0ac7a7de846e6" /><Relationship Type="http://schemas.openxmlformats.org/officeDocument/2006/relationships/notesMaster" Target="/ppt/notesMasters/notesMaster1.xml" Id="R060df3230e95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9348e5dc74b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cfc0b34adb404f" /><Relationship Type="http://schemas.openxmlformats.org/officeDocument/2006/relationships/slideLayout" Target="/ppt/slideLayouts/slideLayout1.xml" Id="R58bd1b14268b4e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bd1b14268b4e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b2fc93bce4d72" /><Relationship Type="http://schemas.openxmlformats.org/officeDocument/2006/relationships/notesSlide" Target="/ppt/notesSlides/notesSlide1.xml" Id="Rcfaa65cf209e47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ae5aeadc44214" /><Relationship Type="http://schemas.openxmlformats.org/officeDocument/2006/relationships/notesSlide" Target="/ppt/notesSlides/notesSlide2.xml" Id="Rbd9d48222e8940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ff083b4da4067" /><Relationship Type="http://schemas.openxmlformats.org/officeDocument/2006/relationships/notesSlide" Target="/ppt/notesSlides/notesSlide3.xml" Id="R2914cb8b1da34a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792ce549d4ffd" /><Relationship Type="http://schemas.openxmlformats.org/officeDocument/2006/relationships/notesSlide" Target="/ppt/notesSlides/notesSlide4.xml" Id="Rf81596f0713440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f1988e0194a5a" /><Relationship Type="http://schemas.openxmlformats.org/officeDocument/2006/relationships/notesSlide" Target="/ppt/notesSlides/notesSlide5.xml" Id="Re7293742975843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911CF-C1BE-4E39-8FFA-BEBD501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7580A-7713-4857-B8D2-7F73C661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PRISMA Flow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59FFA-DF7C-4759-A4E6-A995C661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895D8-F33C-41A3-A16F-762AB53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identified through database and web searches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08ED2-5DFF-48F2-B156-98C0CE43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Duplicates removed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9659B-4D91-42FD-B5E7-5501E6DB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screened by title / abstract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371F7-C397-4C92-8F9D-753B26A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excluded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7A9A0-9807-4C29-BBA6-C987575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Full-text records assessed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D9F19-0D28-47D3-9A91-20BB2DF2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9625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Full-text records excluded</a:t>
            </a:r>
          </a:p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 = 7</a:t>
            </a:r>
          </a:p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Reasons: not CPB-specific, limited relevance, not education/usability focused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75880-2311-4F6B-9DFB-83917038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Studies and guidelines included in synthesis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n =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A3416-4FB5-4501-BBC0-CF60916B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526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E1BC0-B692-49C5-B9CA-2C468A12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051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6A1CE-658F-4659-8D04-36D0E4DF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62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DC26D-2A45-4A39-9B86-B96CC949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576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5DB37-4A6B-4C16-B89D-522CE4D4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149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BC341-006E-4A01-A83A-CC9AA114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0067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4312D-42FA-4505-80A6-F0619DDF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Search strategy summarized for the Capstone evidence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1047F-4B3F-498E-AF55-CD27594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1</a:t>
            </a:r>
          </a:p>
        </p:txBody>
      </p:sp>
    </p:spTree>
    <p:extLst>
      <p:ext uri="{BB962C8B-B14F-4D97-AF65-F5344CB8AC3E}">
        <p14:creationId xmlns:p14="http://schemas.microsoft.com/office/powerpoint/2010/main" val="16655979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3EA5AE-75A2-42C1-A3A8-B0D648FF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7344F-30E3-4846-8A71-1509C374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22F27-6FD2-440A-A94E-858ACDD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3FB57-39E4-4193-B735-11F955B5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1E852-322B-49FF-BDD8-3A672A9C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67640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Representative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59973-1258-4056-94BE-91C66F8A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7640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Use in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10276-43F8-43BA-BF8D-10CD80B2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Perfusion standards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9817D-0780-46CB-A5D9-C170A00E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4315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AmSECT; Shore-Lesserson et al.; Tibi et 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D9ED6-D51D-4D2E-85E0-C6A67176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Protocol framing, safety language, anticoagulation and blood management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97875-3B7B-485F-B0B0-95647AFC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Goal-directed perfusion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77674-F057-4387-9373-A52B563D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0990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Mukaida et al.; Ranucci et al.; Gao et al.; Newland &amp; Baker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7CB12-D286-4E11-85A7-437BD87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Supports DO2i, BSA, flow, hemoglobin, and AKI-risk education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8157E-884F-4C3B-8E72-7B7EF61B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Prime / hemodilution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076CB-A3E7-4E65-AFD9-C6C296A5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67665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Asopa &amp; Elahi; Ranucci et 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D2BD2-7F75-4808-AD29-93AE376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Supports prime planning, hematocrit dilution, and transfusion discussion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ED402-FF41-4B13-AA5E-C60A8932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Simulation education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56AA0-DB42-4F63-B065-FF8EDCD8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4340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Searles et al.; Sistino et al.; Babar et 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5D793-D320-4C32-AACD-867413E5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4340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Supports simulation as the setting for tool 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4805E-103B-41FC-9EFC-8F6F238E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Usability and workload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A8449-8AD6-4608-962C-E10DF3F2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01015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Hyzy et al.; Said et al.; Hutson et al.; Kennedy-Metz et al.; Avrunin et al.; Dias et 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16D1E-7945-4CBE-ADC2-21DAA96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Supports SUS, NASA-TLX, and cognitive-load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24640-70B7-4054-AB53-92AEA73C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Master appraisal list includes JHEBP level and quality ratings in the written appendix.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1146E-2452-4E94-A15E-52CF7E3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2</a:t>
            </a:r>
          </a:p>
        </p:txBody>
      </p:sp>
    </p:spTree>
    <p:extLst>
      <p:ext uri="{BB962C8B-B14F-4D97-AF65-F5344CB8AC3E}">
        <p14:creationId xmlns:p14="http://schemas.microsoft.com/office/powerpoint/2010/main" val="522614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20D122-8196-4D61-BC37-9EADF4BD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B94C3-4BFC-4D70-803A-06ED9827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Timeline / Gantt 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90AFF-F11C-4187-8131-44B0FC64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ED117-65B2-481A-9114-7B9D4186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Project 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E2800-11F4-42FB-A4B8-EB6E8F6B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Month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63C8D-3250-4BAE-9CD5-63C8CED6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Month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696D4-62AB-4BB1-B195-F3AB3AFB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Month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B5075-A839-49B5-8845-4614BD7F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66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Month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A1757-0FDF-42B8-8627-43461B71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Finalize scope and research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69280-A905-4857-AFA5-3D7672B3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3F8F6-DA6F-4BFB-8A81-142A5C40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12CE5-7A86-4024-9C87-19CB728F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0036D-6DA0-414B-9E1A-006C5EF0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095CF-58C6-4F00-AC6D-490D5FB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1543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5B215-D719-4E0F-9EA5-EEBB279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Complete literature review and evidence 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9F074-932E-4274-9981-3258E6F1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3362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FC84B-A9AC-45E5-90B5-CA1404EA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CB1DF-EE6C-481F-B6C5-47565EC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10F73-2759-454D-BDB7-2A7E9F1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3362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D02F9-74E9-48ED-BE93-2C17FE26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9825"/>
            <a:ext cx="3162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C15E2-54C4-4FB6-B0F4-5DF6D10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Validate formulas and assumptions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48E92-317F-42EB-BBFB-4F14FDE0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4E9AA-D4A5-4A53-AA90-DFEAE4D4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942AE-118D-4992-A89D-850BD064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F4B35-4F86-4B8E-ACCB-70191862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09952-9A41-481E-BDA5-E52D1DF6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1543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EE38CC-D519-4060-8A2C-46C657A9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Refine web tool and mobile workflow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800A8-B096-4647-B5B5-DC986CF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8137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4F9B99-AB1E-4237-8E94-4AA6CD73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8137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58B38C-EA74-42AD-92F0-BB2B2F26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8137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EC113-08F0-4B95-837F-1E9CF3B9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8137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F11E11-98C8-4227-AA86-2A2D6A9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57575"/>
            <a:ext cx="3162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95D7E8-38B4-4CEF-9FBD-3AA2B5B0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09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Conduct simulation and usability testing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43A8AC-3EA1-4A60-AF05-DFDE20C1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0525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4EA42C-E025-49E3-88AA-7C4EEDAF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A6BD53-4935-45F6-855B-58CAD844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3F43E3-4A71-4553-AB65-5CFDDF32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0525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24A78B-06F0-4060-B8C6-232DC92D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81450"/>
            <a:ext cx="1543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FD556-B633-467D-8CFD-E0A5E224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Analyze feedback and revise tool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9FB6C6-440B-45B6-AC47-44B083A7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2912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67B2A7-A5C8-489F-86FA-A5D34C97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2912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D71B89-5FC0-4538-890B-F1AE7F06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2912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A95BA6-B9AC-4BF3-9520-6E4FDE6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29125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32F921-5BAB-43F6-B233-7BC11713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05325"/>
            <a:ext cx="1543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95F0AD-B30F-47C4-A146-C5738D3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387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Finalize paper, slides, and dissemination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3D4333-1F08-4945-A3A7-B47A794C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5300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00C010-0010-49E2-86D8-FC02A66B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5300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CC1793-F9BE-4B6A-AF3D-F88C14DF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B53A5B-4076-4438-8433-49D303ED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53000"/>
            <a:ext cx="1543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D6AE7D-A667-42C8-94F3-B0EDBB4B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29200"/>
            <a:ext cx="1543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E88E10-8732-489B-B5F7-9260D070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Milestone: deliverable accepted when the tool, evidence appendix, user feedback summary, and final presentation are complete.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33ABCA-F7F5-4D3C-971B-8F1B0FC9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3</a:t>
            </a:r>
          </a:p>
        </p:txBody>
      </p:sp>
    </p:spTree>
    <p:extLst>
      <p:ext uri="{BB962C8B-B14F-4D97-AF65-F5344CB8AC3E}">
        <p14:creationId xmlns:p14="http://schemas.microsoft.com/office/powerpoint/2010/main" val="1485134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19EF9-84D5-4BFE-93EE-6CD7B7E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798CF-3770-4680-9340-BFDB8D8A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IRB Determination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D3BB7-29A0-4B79-9FE0-697A03C0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535E4-65FF-49F4-9564-0B09FC08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Anticipated determination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26EC0-DBD7-426C-8F74-BA563456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857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Educational quality improvement / evidence-based practice project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No protected health information collected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No clinical intervention or patient assignment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A240A-D16A-4CB9-88AB-38B52F86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Required documentation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1F76F-D1DC-4D26-BFA8-DD5B3490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857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Submit school or institutional IRB screening form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Maintain faculty approval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Use de-identified usability and confidence feedback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Store responses securely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5C374-D8FF-48BF-99CF-3F8432DC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Final wording should be updated to match the official IRB or program determination once received.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AD776-383E-47E1-868D-67692793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4</a:t>
            </a:r>
          </a:p>
        </p:txBody>
      </p:sp>
    </p:spTree>
    <p:extLst>
      <p:ext uri="{BB962C8B-B14F-4D97-AF65-F5344CB8AC3E}">
        <p14:creationId xmlns:p14="http://schemas.microsoft.com/office/powerpoint/2010/main" val="460894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ABE56-FAD3-4AB5-ADEC-564A6629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DEC7F-35AF-458A-B712-C273D3C5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Data Collection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82DD1-6520-4BE4-AEC6-0A902BC1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07924-758F-4217-B17B-40935832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Tool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D2EB0-0DE3-427F-B7D6-61E97C43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Calculation accuracy checklist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Scenario completion time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Observed input or navigation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15DA1-C303-4D0C-B390-1F268595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33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User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17C63-C794-44BF-A456-3D72BE6A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System Usability Scale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Confidence rating before / after use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Open-ended feedback prompts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DBB83-1284-46A2-9A86-405E3C02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33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Workload and simulation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16785-82BE-40ED-BD8C-93F3FE3D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NASA-TLX or brief workload rating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Mobile usability notes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Instructor / preceptor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FD52F-9641-4DEA-92C4-4BD6DEB1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Data sources align with the project question: accuracy, workflow efficiency, usability, cognitive load, and learner confidence.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13518-C6B3-41E5-A83A-B9D38FD5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5</a:t>
            </a:r>
          </a:p>
        </p:txBody>
      </p:sp>
    </p:spTree>
    <p:extLst>
      <p:ext uri="{BB962C8B-B14F-4D97-AF65-F5344CB8AC3E}">
        <p14:creationId xmlns:p14="http://schemas.microsoft.com/office/powerpoint/2010/main" val="1938477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2026-07-30T23:18:03.9400000Z</dcterms:created>
  <dcterms:modified xsi:type="dcterms:W3CDTF">2026-07-30T23:18:03.9410000Z</dcterms:modified>
</coreProperties>
</file>