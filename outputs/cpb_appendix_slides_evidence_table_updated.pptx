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8580722-2CFC-47CF-80C9-8344375D1F2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9E4F07-43CF-4CBF-AA58-45FE3296E3E4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PRISMA Flow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F6CA2-B2E9-41CA-ACD0-685E0A1DCBEA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6ADE4-5D54-4278-8284-6AA27175A67F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409575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identified through database and web searches</a:t>
            </a:r>
          </a:p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42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9F1CF-DF28-452B-B000-460383949115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409575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Duplicates removed</a:t>
            </a:r>
          </a:p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75FDE-CDB1-4206-A472-CEBDCB6C595F}"/>
              </a:ext>
            </a:extLst>
          </p:cNvPr>
          <p:cNvSpPr>
            <a:spLocks noGrp="1"/>
          </p:cNvSpPr>
          <p:nvPr/>
        </p:nvSpPr>
        <p:spPr>
          <a:xfrm>
            <a:off x="1047750" y="3667125"/>
            <a:ext cx="409575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screened by title / abstract</a:t>
            </a:r>
          </a:p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34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A64755-D42A-438C-80F6-45DC0CD8E69C}"/>
              </a:ext>
            </a:extLst>
          </p:cNvPr>
          <p:cNvSpPr>
            <a:spLocks noGrp="1"/>
          </p:cNvSpPr>
          <p:nvPr/>
        </p:nvSpPr>
        <p:spPr>
          <a:xfrm>
            <a:off x="7239000" y="3667125"/>
            <a:ext cx="409575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excluded</a:t>
            </a:r>
          </a:p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EBD455-90DD-47E7-BD7E-598E9EAB3D39}"/>
              </a:ext>
            </a:extLst>
          </p:cNvPr>
          <p:cNvSpPr>
            <a:spLocks noGrp="1"/>
          </p:cNvSpPr>
          <p:nvPr/>
        </p:nvSpPr>
        <p:spPr>
          <a:xfrm>
            <a:off x="1047750" y="4619625"/>
            <a:ext cx="409575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Full-text records assessed</a:t>
            </a:r>
          </a:p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A62CD-DE73-4E56-B12B-BC12663E14FB}"/>
              </a:ext>
            </a:extLst>
          </p:cNvPr>
          <p:cNvSpPr>
            <a:spLocks noGrp="1"/>
          </p:cNvSpPr>
          <p:nvPr/>
        </p:nvSpPr>
        <p:spPr>
          <a:xfrm>
            <a:off x="7239000" y="4619625"/>
            <a:ext cx="3714750" cy="781050"/>
          </a:xfrm>
          <a:prstGeom prst="rect">
            <a:avLst/>
          </a:prstGeom>
          <a:solidFill>
            <a:srgbClr val="EDED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Full-text records excluded</a:t>
            </a:r>
          </a:p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 = 7</a:t>
            </a:r>
          </a:p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Reasons: not CPB-specific, limited relevance, not education/usability focused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5E83E9-2A9C-44C6-A423-EB2672059EF7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4095750" cy="590550"/>
          </a:xfrm>
          <a:prstGeom prst="rect">
            <a:avLst/>
          </a:prstGeom>
          <a:solidFill>
            <a:srgbClr val="FFF1EA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Studies and guidelines included in synthesis</a:t>
            </a:r>
          </a:p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 = 6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569FD83-2534-4C76-943C-4D7F22BFE26F}"/>
              </a:ext>
            </a:extLst>
          </p:cNvPr>
          <p:cNvSpPr>
            <a:spLocks noGrp="1"/>
          </p:cNvSpPr>
          <p:nvPr/>
        </p:nvSpPr>
        <p:spPr>
          <a:xfrm>
            <a:off x="3095625" y="2352675"/>
            <a:ext cx="0" cy="36195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6D2188C-8EBC-440F-B714-F003A502EC7E}"/>
              </a:ext>
            </a:extLst>
          </p:cNvPr>
          <p:cNvSpPr>
            <a:spLocks noGrp="1"/>
          </p:cNvSpPr>
          <p:nvPr/>
        </p:nvSpPr>
        <p:spPr>
          <a:xfrm>
            <a:off x="3095625" y="3305175"/>
            <a:ext cx="0" cy="36195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6DBC3B1-1966-407A-9F47-0732D75CEC28}"/>
              </a:ext>
            </a:extLst>
          </p:cNvPr>
          <p:cNvSpPr>
            <a:spLocks noGrp="1"/>
          </p:cNvSpPr>
          <p:nvPr/>
        </p:nvSpPr>
        <p:spPr>
          <a:xfrm>
            <a:off x="5143500" y="3962400"/>
            <a:ext cx="20955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FC72B01-D0BE-44CE-8AB9-8AC1DFF84FBA}"/>
              </a:ext>
            </a:extLst>
          </p:cNvPr>
          <p:cNvSpPr>
            <a:spLocks noGrp="1"/>
          </p:cNvSpPr>
          <p:nvPr/>
        </p:nvSpPr>
        <p:spPr>
          <a:xfrm>
            <a:off x="3095625" y="4257675"/>
            <a:ext cx="0" cy="36195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C97F487-1D7F-43DA-8BF3-50C02BCCE90C}"/>
              </a:ext>
            </a:extLst>
          </p:cNvPr>
          <p:cNvSpPr>
            <a:spLocks noGrp="1"/>
          </p:cNvSpPr>
          <p:nvPr/>
        </p:nvSpPr>
        <p:spPr>
          <a:xfrm>
            <a:off x="5143500" y="4914900"/>
            <a:ext cx="20955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F850E02-EC86-4367-986F-881D49F33D94}"/>
              </a:ext>
            </a:extLst>
          </p:cNvPr>
          <p:cNvSpPr>
            <a:spLocks noGrp="1"/>
          </p:cNvSpPr>
          <p:nvPr/>
        </p:nvSpPr>
        <p:spPr>
          <a:xfrm>
            <a:off x="3095625" y="5400675"/>
            <a:ext cx="0" cy="17145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12B20-96BB-4C39-9083-0E8D420803F1}"/>
              </a:ext>
            </a:extLst>
          </p:cNvPr>
          <p:cNvSpPr>
            <a:spLocks noGrp="1"/>
          </p:cNvSpPr>
          <p:nvPr/>
        </p:nvSpPr>
        <p:spPr>
          <a:xfrm>
            <a:off x="6477000" y="18288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Search strategy summarized for the Capstone evidence review.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8C301-DEA0-4376-9C42-B5C967C2725C}"/>
              </a:ext>
            </a:extLst>
          </p:cNvPr>
          <p:cNvSpPr>
            <a:spLocks noGrp="1"/>
          </p:cNvSpPr>
          <p:nvPr/>
        </p:nvSpPr>
        <p:spPr>
          <a:xfrm>
            <a:off x="9667875" y="633412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1</a:t>
            </a:r>
          </a:p>
        </p:txBody>
      </p:sp>
    </p:spTree>
    <p:extLst>
      <p:ext uri="{BB962C8B-B14F-4D97-AF65-F5344CB8AC3E}">
        <p14:creationId xmlns:p14="http://schemas.microsoft.com/office/powerpoint/2010/main" val="1987974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BB80A371-5F36-4F81-8EFF-804C0F85972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9089F5-3BF3-4DC4-9879-5350535156DB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Evidence Table: Top 10 Key Articles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DACBA-6C30-482A-ACE6-AA02E572D90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2D4FB-1D1B-4E8C-9A88-59EE5968FCB2}"/>
              </a:ext>
            </a:extLst>
          </p:cNvPr>
          <p:cNvSpPr>
            <a:spLocks noGrp="1"/>
          </p:cNvSpPr>
          <p:nvPr/>
        </p:nvSpPr>
        <p:spPr>
          <a:xfrm>
            <a:off x="323850" y="1581150"/>
            <a:ext cx="1381125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A6F5E0-009A-43A6-A1E7-5C50A7297006}"/>
              </a:ext>
            </a:extLst>
          </p:cNvPr>
          <p:cNvSpPr>
            <a:spLocks noGrp="1"/>
          </p:cNvSpPr>
          <p:nvPr/>
        </p:nvSpPr>
        <p:spPr>
          <a:xfrm>
            <a:off x="1704975" y="1581150"/>
            <a:ext cx="1695450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Type of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4596F8-4A7E-4FC8-A7DD-06E2F3215B20}"/>
              </a:ext>
            </a:extLst>
          </p:cNvPr>
          <p:cNvSpPr>
            <a:spLocks noGrp="1"/>
          </p:cNvSpPr>
          <p:nvPr/>
        </p:nvSpPr>
        <p:spPr>
          <a:xfrm>
            <a:off x="3400425" y="1581150"/>
            <a:ext cx="590550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JHEBP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06CD2-650A-416B-A9F5-C5E7F180F4A4}"/>
              </a:ext>
            </a:extLst>
          </p:cNvPr>
          <p:cNvSpPr>
            <a:spLocks noGrp="1"/>
          </p:cNvSpPr>
          <p:nvPr/>
        </p:nvSpPr>
        <p:spPr>
          <a:xfrm>
            <a:off x="3990975" y="1581150"/>
            <a:ext cx="685800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1F2439-D0AD-4282-8A4F-19D37B40A5FB}"/>
              </a:ext>
            </a:extLst>
          </p:cNvPr>
          <p:cNvSpPr>
            <a:spLocks noGrp="1"/>
          </p:cNvSpPr>
          <p:nvPr/>
        </p:nvSpPr>
        <p:spPr>
          <a:xfrm>
            <a:off x="4676775" y="1581150"/>
            <a:ext cx="2333625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1C8D30-02B2-43BF-B925-49FF981778FD}"/>
              </a:ext>
            </a:extLst>
          </p:cNvPr>
          <p:cNvSpPr>
            <a:spLocks noGrp="1"/>
          </p:cNvSpPr>
          <p:nvPr/>
        </p:nvSpPr>
        <p:spPr>
          <a:xfrm>
            <a:off x="7010400" y="1581150"/>
            <a:ext cx="2038350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Weaknesses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C5787-8092-433D-AB3F-9021DF2953C3}"/>
              </a:ext>
            </a:extLst>
          </p:cNvPr>
          <p:cNvSpPr>
            <a:spLocks noGrp="1"/>
          </p:cNvSpPr>
          <p:nvPr/>
        </p:nvSpPr>
        <p:spPr>
          <a:xfrm>
            <a:off x="9048750" y="1581150"/>
            <a:ext cx="2362200" cy="35242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810" b="1">
                <a:solidFill>
                  <a:srgbClr val="FFFFFF"/>
                </a:solidFill>
              </a:defRPr>
            </a:pPr>
            <a:r>
              <a:rPr sz="810" b="1">
                <a:solidFill>
                  <a:srgbClr val="FFFFFF"/>
                </a:solidFill>
              </a:rPr>
              <a:t>Relevance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7379ED-CC2B-41F1-8A02-AF321FDEEA70}"/>
              </a:ext>
            </a:extLst>
          </p:cNvPr>
          <p:cNvSpPr>
            <a:spLocks noGrp="1"/>
          </p:cNvSpPr>
          <p:nvPr/>
        </p:nvSpPr>
        <p:spPr>
          <a:xfrm>
            <a:off x="323850" y="1971675"/>
            <a:ext cx="13811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Mukaida et al., 2023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A2099-90DB-47B4-8DD7-315FBD48493D}"/>
              </a:ext>
            </a:extLst>
          </p:cNvPr>
          <p:cNvSpPr>
            <a:spLocks noGrp="1"/>
          </p:cNvSpPr>
          <p:nvPr/>
        </p:nvSpPr>
        <p:spPr>
          <a:xfrm>
            <a:off x="1704975" y="1971675"/>
            <a:ext cx="16954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RCT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FBA201-CBBC-4CC2-AC85-D466A3EA4CBD}"/>
              </a:ext>
            </a:extLst>
          </p:cNvPr>
          <p:cNvSpPr>
            <a:spLocks noGrp="1"/>
          </p:cNvSpPr>
          <p:nvPr/>
        </p:nvSpPr>
        <p:spPr>
          <a:xfrm>
            <a:off x="3400425" y="1971675"/>
            <a:ext cx="5905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E5A225-396B-4DCB-B143-6DE7186AC20C}"/>
              </a:ext>
            </a:extLst>
          </p:cNvPr>
          <p:cNvSpPr>
            <a:spLocks noGrp="1"/>
          </p:cNvSpPr>
          <p:nvPr/>
        </p:nvSpPr>
        <p:spPr>
          <a:xfrm>
            <a:off x="3990975" y="1971675"/>
            <a:ext cx="6858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141E08-4391-4B9A-AC7F-58F9E2FD1567}"/>
              </a:ext>
            </a:extLst>
          </p:cNvPr>
          <p:cNvSpPr>
            <a:spLocks noGrp="1"/>
          </p:cNvSpPr>
          <p:nvPr/>
        </p:nvSpPr>
        <p:spPr>
          <a:xfrm>
            <a:off x="4676775" y="1971675"/>
            <a:ext cx="23336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Tests oxygen delivery-guided perfusion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92DB4-153F-402C-BD28-D6517E1F7408}"/>
              </a:ext>
            </a:extLst>
          </p:cNvPr>
          <p:cNvSpPr>
            <a:spLocks noGrp="1"/>
          </p:cNvSpPr>
          <p:nvPr/>
        </p:nvSpPr>
        <p:spPr>
          <a:xfrm>
            <a:off x="7010400" y="1971675"/>
            <a:ext cx="20383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Clinical, not educational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600417-4DF6-499C-A2BE-23ED24C7CD67}"/>
              </a:ext>
            </a:extLst>
          </p:cNvPr>
          <p:cNvSpPr>
            <a:spLocks noGrp="1"/>
          </p:cNvSpPr>
          <p:nvPr/>
        </p:nvSpPr>
        <p:spPr>
          <a:xfrm>
            <a:off x="9048750" y="1971675"/>
            <a:ext cx="23622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DO2i / flow logic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556E73-7D93-476E-A775-030D1A2D9271}"/>
              </a:ext>
            </a:extLst>
          </p:cNvPr>
          <p:cNvSpPr>
            <a:spLocks noGrp="1"/>
          </p:cNvSpPr>
          <p:nvPr/>
        </p:nvSpPr>
        <p:spPr>
          <a:xfrm>
            <a:off x="323850" y="2362200"/>
            <a:ext cx="13811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Ranucci et al., 2018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DC4232-9AA9-40D9-9EAA-5E38513DFF24}"/>
              </a:ext>
            </a:extLst>
          </p:cNvPr>
          <p:cNvSpPr>
            <a:spLocks noGrp="1"/>
          </p:cNvSpPr>
          <p:nvPr/>
        </p:nvSpPr>
        <p:spPr>
          <a:xfrm>
            <a:off x="1704975" y="2362200"/>
            <a:ext cx="1695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RCT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FD42F5-153B-44C8-8CF6-862734B36DEA}"/>
              </a:ext>
            </a:extLst>
          </p:cNvPr>
          <p:cNvSpPr>
            <a:spLocks noGrp="1"/>
          </p:cNvSpPr>
          <p:nvPr/>
        </p:nvSpPr>
        <p:spPr>
          <a:xfrm>
            <a:off x="3400425" y="2362200"/>
            <a:ext cx="5905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DF5E62-806C-44AF-9192-2428F7F3226E}"/>
              </a:ext>
            </a:extLst>
          </p:cNvPr>
          <p:cNvSpPr>
            <a:spLocks noGrp="1"/>
          </p:cNvSpPr>
          <p:nvPr/>
        </p:nvSpPr>
        <p:spPr>
          <a:xfrm>
            <a:off x="3990975" y="2362200"/>
            <a:ext cx="685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58B13A-E6DC-4969-8332-887B739BBA8F}"/>
              </a:ext>
            </a:extLst>
          </p:cNvPr>
          <p:cNvSpPr>
            <a:spLocks noGrp="1"/>
          </p:cNvSpPr>
          <p:nvPr/>
        </p:nvSpPr>
        <p:spPr>
          <a:xfrm>
            <a:off x="4676775" y="2362200"/>
            <a:ext cx="23336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Goal-directed perfusion trial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62DC66-5655-46F8-9A8C-F2129ADCBF40}"/>
              </a:ext>
            </a:extLst>
          </p:cNvPr>
          <p:cNvSpPr>
            <a:spLocks noGrp="1"/>
          </p:cNvSpPr>
          <p:nvPr/>
        </p:nvSpPr>
        <p:spPr>
          <a:xfrm>
            <a:off x="7010400" y="2362200"/>
            <a:ext cx="20383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Adult cardiac surgery focus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0EFFBC-B174-4BC9-B5DF-472F58586BD6}"/>
              </a:ext>
            </a:extLst>
          </p:cNvPr>
          <p:cNvSpPr>
            <a:spLocks noGrp="1"/>
          </p:cNvSpPr>
          <p:nvPr/>
        </p:nvSpPr>
        <p:spPr>
          <a:xfrm>
            <a:off x="9048750" y="2362200"/>
            <a:ext cx="23622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GDP targets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CFDA10-06D9-47B4-B03E-8C314965F90C}"/>
              </a:ext>
            </a:extLst>
          </p:cNvPr>
          <p:cNvSpPr>
            <a:spLocks noGrp="1"/>
          </p:cNvSpPr>
          <p:nvPr/>
        </p:nvSpPr>
        <p:spPr>
          <a:xfrm>
            <a:off x="323850" y="2752725"/>
            <a:ext cx="13811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Gao et al., 2023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A51EAB-0EC7-49DA-A60E-37B71A9C0605}"/>
              </a:ext>
            </a:extLst>
          </p:cNvPr>
          <p:cNvSpPr>
            <a:spLocks noGrp="1"/>
          </p:cNvSpPr>
          <p:nvPr/>
        </p:nvSpPr>
        <p:spPr>
          <a:xfrm>
            <a:off x="1704975" y="2752725"/>
            <a:ext cx="16954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Systematic review / meta-analysis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614E-60CF-496C-A3B2-C2A98C351551}"/>
              </a:ext>
            </a:extLst>
          </p:cNvPr>
          <p:cNvSpPr>
            <a:spLocks noGrp="1"/>
          </p:cNvSpPr>
          <p:nvPr/>
        </p:nvSpPr>
        <p:spPr>
          <a:xfrm>
            <a:off x="3400425" y="2752725"/>
            <a:ext cx="5905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1D616-5E44-432B-BABF-AB8B4D793A64}"/>
              </a:ext>
            </a:extLst>
          </p:cNvPr>
          <p:cNvSpPr>
            <a:spLocks noGrp="1"/>
          </p:cNvSpPr>
          <p:nvPr/>
        </p:nvSpPr>
        <p:spPr>
          <a:xfrm>
            <a:off x="3990975" y="2752725"/>
            <a:ext cx="6858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B75A9-FD89-475A-9E15-C93F8D440E78}"/>
              </a:ext>
            </a:extLst>
          </p:cNvPr>
          <p:cNvSpPr>
            <a:spLocks noGrp="1"/>
          </p:cNvSpPr>
          <p:nvPr/>
        </p:nvSpPr>
        <p:spPr>
          <a:xfrm>
            <a:off x="4676775" y="2752725"/>
            <a:ext cx="23336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Synthesizes GDP and AKI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BF2EA3-4AF6-480F-A72D-32CE6E684AFC}"/>
              </a:ext>
            </a:extLst>
          </p:cNvPr>
          <p:cNvSpPr>
            <a:spLocks noGrp="1"/>
          </p:cNvSpPr>
          <p:nvPr/>
        </p:nvSpPr>
        <p:spPr>
          <a:xfrm>
            <a:off x="7010400" y="2752725"/>
            <a:ext cx="20383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Limited tool focus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87AAD5-FA59-454A-BAE0-2013B2AC59AC}"/>
              </a:ext>
            </a:extLst>
          </p:cNvPr>
          <p:cNvSpPr>
            <a:spLocks noGrp="1"/>
          </p:cNvSpPr>
          <p:nvPr/>
        </p:nvSpPr>
        <p:spPr>
          <a:xfrm>
            <a:off x="9048750" y="2752725"/>
            <a:ext cx="23622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oxygen-delivery rationale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5C5BC1-8C77-4829-8AFC-362093B3652A}"/>
              </a:ext>
            </a:extLst>
          </p:cNvPr>
          <p:cNvSpPr>
            <a:spLocks noGrp="1"/>
          </p:cNvSpPr>
          <p:nvPr/>
        </p:nvSpPr>
        <p:spPr>
          <a:xfrm>
            <a:off x="323850" y="3143250"/>
            <a:ext cx="13811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Shore-Lesserson et al., 2018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38B7AF-22EB-4F98-81B0-5BB2AEBA5064}"/>
              </a:ext>
            </a:extLst>
          </p:cNvPr>
          <p:cNvSpPr>
            <a:spLocks noGrp="1"/>
          </p:cNvSpPr>
          <p:nvPr/>
        </p:nvSpPr>
        <p:spPr>
          <a:xfrm>
            <a:off x="1704975" y="3143250"/>
            <a:ext cx="1695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Clinical practice guideline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6775B3-5C1B-4B15-B038-1B422B870160}"/>
              </a:ext>
            </a:extLst>
          </p:cNvPr>
          <p:cNvSpPr>
            <a:spLocks noGrp="1"/>
          </p:cNvSpPr>
          <p:nvPr/>
        </p:nvSpPr>
        <p:spPr>
          <a:xfrm>
            <a:off x="3400425" y="3143250"/>
            <a:ext cx="5905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IV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0C1C8F-8D45-4484-AFB1-F0F45EFFA622}"/>
              </a:ext>
            </a:extLst>
          </p:cNvPr>
          <p:cNvSpPr>
            <a:spLocks noGrp="1"/>
          </p:cNvSpPr>
          <p:nvPr/>
        </p:nvSpPr>
        <p:spPr>
          <a:xfrm>
            <a:off x="3990975" y="3143250"/>
            <a:ext cx="685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64DB56-8DCB-4972-AEC5-21B57745CC0C}"/>
              </a:ext>
            </a:extLst>
          </p:cNvPr>
          <p:cNvSpPr>
            <a:spLocks noGrp="1"/>
          </p:cNvSpPr>
          <p:nvPr/>
        </p:nvSpPr>
        <p:spPr>
          <a:xfrm>
            <a:off x="4676775" y="3143250"/>
            <a:ext cx="23336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STS/SCA/AmSECT anticoagulation guidance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454F9C-783B-431B-86A3-C75F87CE821F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20383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Guideline, not tool trial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D1709F-64A6-4FFD-B53F-F38E28584C92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3622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heparin/ACT framing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BA207B-BDE9-45A5-B5E9-808D1E97ABA5}"/>
              </a:ext>
            </a:extLst>
          </p:cNvPr>
          <p:cNvSpPr>
            <a:spLocks noGrp="1"/>
          </p:cNvSpPr>
          <p:nvPr/>
        </p:nvSpPr>
        <p:spPr>
          <a:xfrm>
            <a:off x="323850" y="3533775"/>
            <a:ext cx="13811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Tibi et al., 2021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442855-C048-40E1-87EA-555EAF2CDC44}"/>
              </a:ext>
            </a:extLst>
          </p:cNvPr>
          <p:cNvSpPr>
            <a:spLocks noGrp="1"/>
          </p:cNvSpPr>
          <p:nvPr/>
        </p:nvSpPr>
        <p:spPr>
          <a:xfrm>
            <a:off x="1704975" y="3533775"/>
            <a:ext cx="16954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Clinical practice guideline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84659B-8C46-4045-9061-AF18BA2057C3}"/>
              </a:ext>
            </a:extLst>
          </p:cNvPr>
          <p:cNvSpPr>
            <a:spLocks noGrp="1"/>
          </p:cNvSpPr>
          <p:nvPr/>
        </p:nvSpPr>
        <p:spPr>
          <a:xfrm>
            <a:off x="3400425" y="3533775"/>
            <a:ext cx="5905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IV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297829-AE28-4EC8-8B89-3FD4B425395A}"/>
              </a:ext>
            </a:extLst>
          </p:cNvPr>
          <p:cNvSpPr>
            <a:spLocks noGrp="1"/>
          </p:cNvSpPr>
          <p:nvPr/>
        </p:nvSpPr>
        <p:spPr>
          <a:xfrm>
            <a:off x="3990975" y="3533775"/>
            <a:ext cx="6858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CD95E2-6DBC-43D3-B0B5-6EF91FA458E4}"/>
              </a:ext>
            </a:extLst>
          </p:cNvPr>
          <p:cNvSpPr>
            <a:spLocks noGrp="1"/>
          </p:cNvSpPr>
          <p:nvPr/>
        </p:nvSpPr>
        <p:spPr>
          <a:xfrm>
            <a:off x="4676775" y="3533775"/>
            <a:ext cx="23336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Blood management guidance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A9B41D-2BBE-4A86-AE64-E82244EBBF43}"/>
              </a:ext>
            </a:extLst>
          </p:cNvPr>
          <p:cNvSpPr>
            <a:spLocks noGrp="1"/>
          </p:cNvSpPr>
          <p:nvPr/>
        </p:nvSpPr>
        <p:spPr>
          <a:xfrm>
            <a:off x="7010400" y="3533775"/>
            <a:ext cx="20383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Not web-tool specific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AB35D2-F4E6-4C65-A4F4-B0036DFEA8BE}"/>
              </a:ext>
            </a:extLst>
          </p:cNvPr>
          <p:cNvSpPr>
            <a:spLocks noGrp="1"/>
          </p:cNvSpPr>
          <p:nvPr/>
        </p:nvSpPr>
        <p:spPr>
          <a:xfrm>
            <a:off x="9048750" y="3533775"/>
            <a:ext cx="23622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blood/prime content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437B62-7D52-4EA8-800B-1173FCFE721E}"/>
              </a:ext>
            </a:extLst>
          </p:cNvPr>
          <p:cNvSpPr>
            <a:spLocks noGrp="1"/>
          </p:cNvSpPr>
          <p:nvPr/>
        </p:nvSpPr>
        <p:spPr>
          <a:xfrm>
            <a:off x="323850" y="3924300"/>
            <a:ext cx="13811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Babar et al., 2023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1CCDF6-B349-4639-8961-4FC74643D95F}"/>
              </a:ext>
            </a:extLst>
          </p:cNvPr>
          <p:cNvSpPr>
            <a:spLocks noGrp="1"/>
          </p:cNvSpPr>
          <p:nvPr/>
        </p:nvSpPr>
        <p:spPr>
          <a:xfrm>
            <a:off x="1704975" y="3924300"/>
            <a:ext cx="1695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Simulation validation study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86DA5C-8BD3-45A3-8486-18911CCDB9E2}"/>
              </a:ext>
            </a:extLst>
          </p:cNvPr>
          <p:cNvSpPr>
            <a:spLocks noGrp="1"/>
          </p:cNvSpPr>
          <p:nvPr/>
        </p:nvSpPr>
        <p:spPr>
          <a:xfrm>
            <a:off x="3400425" y="3924300"/>
            <a:ext cx="5905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III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276B0A9-1DCA-4552-B766-48C379BE47AE}"/>
              </a:ext>
            </a:extLst>
          </p:cNvPr>
          <p:cNvSpPr>
            <a:spLocks noGrp="1"/>
          </p:cNvSpPr>
          <p:nvPr/>
        </p:nvSpPr>
        <p:spPr>
          <a:xfrm>
            <a:off x="3990975" y="3924300"/>
            <a:ext cx="685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854234-030A-4825-9BFB-FAB93C232FA8}"/>
              </a:ext>
            </a:extLst>
          </p:cNvPr>
          <p:cNvSpPr>
            <a:spLocks noGrp="1"/>
          </p:cNvSpPr>
          <p:nvPr/>
        </p:nvSpPr>
        <p:spPr>
          <a:xfrm>
            <a:off x="4676775" y="3924300"/>
            <a:ext cx="23336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Perfusionist ECC simulation validity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7D6E6C-DB62-4200-89FC-274ADAB1B307}"/>
              </a:ext>
            </a:extLst>
          </p:cNvPr>
          <p:cNvSpPr>
            <a:spLocks noGrp="1"/>
          </p:cNvSpPr>
          <p:nvPr/>
        </p:nvSpPr>
        <p:spPr>
          <a:xfrm>
            <a:off x="7010400" y="3924300"/>
            <a:ext cx="20383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VR focus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C77CAF-5030-4E3B-A40C-09F6807B2905}"/>
              </a:ext>
            </a:extLst>
          </p:cNvPr>
          <p:cNvSpPr>
            <a:spLocks noGrp="1"/>
          </p:cNvSpPr>
          <p:nvPr/>
        </p:nvSpPr>
        <p:spPr>
          <a:xfrm>
            <a:off x="9048750" y="3924300"/>
            <a:ext cx="23622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simulation-based training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38F6836-50A5-4201-B2C1-30F636242805}"/>
              </a:ext>
            </a:extLst>
          </p:cNvPr>
          <p:cNvSpPr>
            <a:spLocks noGrp="1"/>
          </p:cNvSpPr>
          <p:nvPr/>
        </p:nvSpPr>
        <p:spPr>
          <a:xfrm>
            <a:off x="323850" y="4314825"/>
            <a:ext cx="13811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Searles et al., 2024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564204-89B7-4B98-B3DC-EB886C5918AD}"/>
              </a:ext>
            </a:extLst>
          </p:cNvPr>
          <p:cNvSpPr>
            <a:spLocks noGrp="1"/>
          </p:cNvSpPr>
          <p:nvPr/>
        </p:nvSpPr>
        <p:spPr>
          <a:xfrm>
            <a:off x="1704975" y="4314825"/>
            <a:ext cx="16954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High-fidelity CPB simulation study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3E75CF-6E29-4662-BF10-E29C9FFE7F0C}"/>
              </a:ext>
            </a:extLst>
          </p:cNvPr>
          <p:cNvSpPr>
            <a:spLocks noGrp="1"/>
          </p:cNvSpPr>
          <p:nvPr/>
        </p:nvSpPr>
        <p:spPr>
          <a:xfrm>
            <a:off x="3400425" y="4314825"/>
            <a:ext cx="5905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III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6E5B9C-E5FC-4665-9E1B-F506F3457AC7}"/>
              </a:ext>
            </a:extLst>
          </p:cNvPr>
          <p:cNvSpPr>
            <a:spLocks noGrp="1"/>
          </p:cNvSpPr>
          <p:nvPr/>
        </p:nvSpPr>
        <p:spPr>
          <a:xfrm>
            <a:off x="3990975" y="4314825"/>
            <a:ext cx="6858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B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580970-1AD2-43E0-9D87-0EF2D748BFC3}"/>
              </a:ext>
            </a:extLst>
          </p:cNvPr>
          <p:cNvSpPr>
            <a:spLocks noGrp="1"/>
          </p:cNvSpPr>
          <p:nvPr/>
        </p:nvSpPr>
        <p:spPr>
          <a:xfrm>
            <a:off x="4676775" y="4314825"/>
            <a:ext cx="23336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Direct CPB skill-development model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74FF1AC-D627-4593-BD9F-E63986BA4970}"/>
              </a:ext>
            </a:extLst>
          </p:cNvPr>
          <p:cNvSpPr>
            <a:spLocks noGrp="1"/>
          </p:cNvSpPr>
          <p:nvPr/>
        </p:nvSpPr>
        <p:spPr>
          <a:xfrm>
            <a:off x="7010400" y="4314825"/>
            <a:ext cx="20383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No calculator evaluation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F6237F4-9EE9-495A-8C78-5A3BE1F53A3E}"/>
              </a:ext>
            </a:extLst>
          </p:cNvPr>
          <p:cNvSpPr>
            <a:spLocks noGrp="1"/>
          </p:cNvSpPr>
          <p:nvPr/>
        </p:nvSpPr>
        <p:spPr>
          <a:xfrm>
            <a:off x="9048750" y="4314825"/>
            <a:ext cx="23622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simulation use case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DF513C-7AEE-456C-9880-60B7229FC248}"/>
              </a:ext>
            </a:extLst>
          </p:cNvPr>
          <p:cNvSpPr>
            <a:spLocks noGrp="1"/>
          </p:cNvSpPr>
          <p:nvPr/>
        </p:nvSpPr>
        <p:spPr>
          <a:xfrm>
            <a:off x="323850" y="4705350"/>
            <a:ext cx="13811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Hyzy et al., 2022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C6C74CB-5E8A-4805-B039-BE5C67A531D9}"/>
              </a:ext>
            </a:extLst>
          </p:cNvPr>
          <p:cNvSpPr>
            <a:spLocks noGrp="1"/>
          </p:cNvSpPr>
          <p:nvPr/>
        </p:nvSpPr>
        <p:spPr>
          <a:xfrm>
            <a:off x="1704975" y="4705350"/>
            <a:ext cx="1695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Usability meta-analysis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FFABCC4-9F2E-4184-904B-3F87EC7A366A}"/>
              </a:ext>
            </a:extLst>
          </p:cNvPr>
          <p:cNvSpPr>
            <a:spLocks noGrp="1"/>
          </p:cNvSpPr>
          <p:nvPr/>
        </p:nvSpPr>
        <p:spPr>
          <a:xfrm>
            <a:off x="3400425" y="4705350"/>
            <a:ext cx="5905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III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30446F-898D-4A31-9D24-D878126B638E}"/>
              </a:ext>
            </a:extLst>
          </p:cNvPr>
          <p:cNvSpPr>
            <a:spLocks noGrp="1"/>
          </p:cNvSpPr>
          <p:nvPr/>
        </p:nvSpPr>
        <p:spPr>
          <a:xfrm>
            <a:off x="3990975" y="4705350"/>
            <a:ext cx="685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BFFD040-5F69-4F37-952E-4CDB5C4460B7}"/>
              </a:ext>
            </a:extLst>
          </p:cNvPr>
          <p:cNvSpPr>
            <a:spLocks noGrp="1"/>
          </p:cNvSpPr>
          <p:nvPr/>
        </p:nvSpPr>
        <p:spPr>
          <a:xfrm>
            <a:off x="4676775" y="4705350"/>
            <a:ext cx="23336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Benchmarks SUS for health apps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843C546-01D6-4AF5-AB6E-92CC75CE5A53}"/>
              </a:ext>
            </a:extLst>
          </p:cNvPr>
          <p:cNvSpPr>
            <a:spLocks noGrp="1"/>
          </p:cNvSpPr>
          <p:nvPr/>
        </p:nvSpPr>
        <p:spPr>
          <a:xfrm>
            <a:off x="7010400" y="4705350"/>
            <a:ext cx="20383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Not perfusion-specific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D10FC7-9716-44B9-840D-658E86F62024}"/>
              </a:ext>
            </a:extLst>
          </p:cNvPr>
          <p:cNvSpPr>
            <a:spLocks noGrp="1"/>
          </p:cNvSpPr>
          <p:nvPr/>
        </p:nvSpPr>
        <p:spPr>
          <a:xfrm>
            <a:off x="9048750" y="4705350"/>
            <a:ext cx="23622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SUS evaluation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9B61C0F-0063-48BB-9680-BF008C1C8BA2}"/>
              </a:ext>
            </a:extLst>
          </p:cNvPr>
          <p:cNvSpPr>
            <a:spLocks noGrp="1"/>
          </p:cNvSpPr>
          <p:nvPr/>
        </p:nvSpPr>
        <p:spPr>
          <a:xfrm>
            <a:off x="323850" y="5095875"/>
            <a:ext cx="13811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Said et al., 2020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10CAA8-5AE1-476A-8AC0-37A9E6F3C793}"/>
              </a:ext>
            </a:extLst>
          </p:cNvPr>
          <p:cNvSpPr>
            <a:spLocks noGrp="1"/>
          </p:cNvSpPr>
          <p:nvPr/>
        </p:nvSpPr>
        <p:spPr>
          <a:xfrm>
            <a:off x="1704975" y="5095875"/>
            <a:ext cx="16954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NASA-TLX validation study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DC90BFA-668D-432C-9C9D-C34E6A5CDAA8}"/>
              </a:ext>
            </a:extLst>
          </p:cNvPr>
          <p:cNvSpPr>
            <a:spLocks noGrp="1"/>
          </p:cNvSpPr>
          <p:nvPr/>
        </p:nvSpPr>
        <p:spPr>
          <a:xfrm>
            <a:off x="3400425" y="5095875"/>
            <a:ext cx="5905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III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E5F693F-6B86-4CB0-9273-8230856EEC6C}"/>
              </a:ext>
            </a:extLst>
          </p:cNvPr>
          <p:cNvSpPr>
            <a:spLocks noGrp="1"/>
          </p:cNvSpPr>
          <p:nvPr/>
        </p:nvSpPr>
        <p:spPr>
          <a:xfrm>
            <a:off x="3990975" y="5095875"/>
            <a:ext cx="6858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478C1DD-640E-492C-9509-5705E50F9098}"/>
              </a:ext>
            </a:extLst>
          </p:cNvPr>
          <p:cNvSpPr>
            <a:spLocks noGrp="1"/>
          </p:cNvSpPr>
          <p:nvPr/>
        </p:nvSpPr>
        <p:spPr>
          <a:xfrm>
            <a:off x="4676775" y="5095875"/>
            <a:ext cx="2333625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Validates workload measure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D1E6D15-7E68-4E04-9EBB-49A78591CA8A}"/>
              </a:ext>
            </a:extLst>
          </p:cNvPr>
          <p:cNvSpPr>
            <a:spLocks noGrp="1"/>
          </p:cNvSpPr>
          <p:nvPr/>
        </p:nvSpPr>
        <p:spPr>
          <a:xfrm>
            <a:off x="7010400" y="5095875"/>
            <a:ext cx="203835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Patient monitoring context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7112A6D-CDCB-4622-A1A9-18DBA9515CFF}"/>
              </a:ext>
            </a:extLst>
          </p:cNvPr>
          <p:cNvSpPr>
            <a:spLocks noGrp="1"/>
          </p:cNvSpPr>
          <p:nvPr/>
        </p:nvSpPr>
        <p:spPr>
          <a:xfrm>
            <a:off x="9048750" y="5095875"/>
            <a:ext cx="2362200" cy="352425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workload testing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BAF1348-831A-40EA-B5BE-447ED4AB2F8E}"/>
              </a:ext>
            </a:extLst>
          </p:cNvPr>
          <p:cNvSpPr>
            <a:spLocks noGrp="1"/>
          </p:cNvSpPr>
          <p:nvPr/>
        </p:nvSpPr>
        <p:spPr>
          <a:xfrm>
            <a:off x="323850" y="5486400"/>
            <a:ext cx="13811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1">
                <a:solidFill>
                  <a:srgbClr val="111111"/>
                </a:solidFill>
              </a:defRPr>
            </a:pPr>
            <a:r>
              <a:rPr sz="668" b="1">
                <a:solidFill>
                  <a:srgbClr val="111111"/>
                </a:solidFill>
              </a:rPr>
              <a:t>Mosteller, 1987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020A8A5-785E-4E0A-A3C7-58CEF000F235}"/>
              </a:ext>
            </a:extLst>
          </p:cNvPr>
          <p:cNvSpPr>
            <a:spLocks noGrp="1"/>
          </p:cNvSpPr>
          <p:nvPr/>
        </p:nvSpPr>
        <p:spPr>
          <a:xfrm>
            <a:off x="1704975" y="5486400"/>
            <a:ext cx="1695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Formula / methods article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612D53F-C7B7-4792-88AE-DF7A254B8190}"/>
              </a:ext>
            </a:extLst>
          </p:cNvPr>
          <p:cNvSpPr>
            <a:spLocks noGrp="1"/>
          </p:cNvSpPr>
          <p:nvPr/>
        </p:nvSpPr>
        <p:spPr>
          <a:xfrm>
            <a:off x="3400425" y="5486400"/>
            <a:ext cx="5905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V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BE63BB3-6E1E-4F93-85B6-643BC5333661}"/>
              </a:ext>
            </a:extLst>
          </p:cNvPr>
          <p:cNvSpPr>
            <a:spLocks noGrp="1"/>
          </p:cNvSpPr>
          <p:nvPr/>
        </p:nvSpPr>
        <p:spPr>
          <a:xfrm>
            <a:off x="3990975" y="5486400"/>
            <a:ext cx="685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B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EFA586E-853D-4051-8853-F8F115726D57}"/>
              </a:ext>
            </a:extLst>
          </p:cNvPr>
          <p:cNvSpPr>
            <a:spLocks noGrp="1"/>
          </p:cNvSpPr>
          <p:nvPr/>
        </p:nvSpPr>
        <p:spPr>
          <a:xfrm>
            <a:off x="4676775" y="5486400"/>
            <a:ext cx="2333625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Widely used BSA formula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F8F5BAC-D666-4B6E-AC0B-79C378FB59F4}"/>
              </a:ext>
            </a:extLst>
          </p:cNvPr>
          <p:cNvSpPr>
            <a:spLocks noGrp="1"/>
          </p:cNvSpPr>
          <p:nvPr/>
        </p:nvSpPr>
        <p:spPr>
          <a:xfrm>
            <a:off x="7010400" y="5486400"/>
            <a:ext cx="20383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Brief, not CPB-specific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93B2931-7828-4B99-8B77-3E662E158C18}"/>
              </a:ext>
            </a:extLst>
          </p:cNvPr>
          <p:cNvSpPr>
            <a:spLocks noGrp="1"/>
          </p:cNvSpPr>
          <p:nvPr/>
        </p:nvSpPr>
        <p:spPr>
          <a:xfrm>
            <a:off x="9048750" y="5486400"/>
            <a:ext cx="23622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l">
              <a:defRPr sz="668" b="0">
                <a:solidFill>
                  <a:srgbClr val="111111"/>
                </a:solidFill>
              </a:defRPr>
            </a:pPr>
            <a:r>
              <a:rPr sz="668" b="0">
                <a:solidFill>
                  <a:srgbClr val="111111"/>
                </a:solidFill>
              </a:rPr>
              <a:t>Supports BSA calculation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3F252A1-01E1-4567-A9CF-E167EAC3DED7}"/>
              </a:ext>
            </a:extLst>
          </p:cNvPr>
          <p:cNvSpPr>
            <a:spLocks noGrp="1"/>
          </p:cNvSpPr>
          <p:nvPr/>
        </p:nvSpPr>
        <p:spPr>
          <a:xfrm>
            <a:off x="323850" y="59436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JHEBP: Level I = experimental/RCT or systematic review of experimental evidence; Level III = nonexperimental or validation evidence; Level IV = guideline; Level V = expert/methods evidence.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4BCD4B8-6FA7-4C9A-A98E-4FD7343D3087}"/>
              </a:ext>
            </a:extLst>
          </p:cNvPr>
          <p:cNvSpPr>
            <a:spLocks noGrp="1"/>
          </p:cNvSpPr>
          <p:nvPr/>
        </p:nvSpPr>
        <p:spPr>
          <a:xfrm>
            <a:off x="9667875" y="633412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endParaRPr sz="975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834EDF9-0434-406A-B671-71BB5BF49AE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248CB-7EC3-4B7B-8A0E-35D0790E197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Timeline / Gantt Chart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143BA-3B70-484F-9DBE-E072660CDB01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1BA13-6339-4223-A50B-DA6ED78D27FF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3857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192712-BEF8-47AC-9A8B-4750870D05B1}"/>
              </a:ext>
            </a:extLst>
          </p:cNvPr>
          <p:cNvSpPr>
            <a:spLocks noGrp="1"/>
          </p:cNvSpPr>
          <p:nvPr/>
        </p:nvSpPr>
        <p:spPr>
          <a:xfrm>
            <a:off x="4276725" y="1466850"/>
            <a:ext cx="215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Specific date range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65660-D9BE-4C45-BAFF-A728CD631E28}"/>
              </a:ext>
            </a:extLst>
          </p:cNvPr>
          <p:cNvSpPr>
            <a:spLocks noGrp="1"/>
          </p:cNvSpPr>
          <p:nvPr/>
        </p:nvSpPr>
        <p:spPr>
          <a:xfrm>
            <a:off x="6562725" y="146685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Jul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DCAA2-1555-46E1-A4C9-91DBA0E0CE53}"/>
              </a:ext>
            </a:extLst>
          </p:cNvPr>
          <p:cNvSpPr>
            <a:spLocks noGrp="1"/>
          </p:cNvSpPr>
          <p:nvPr/>
        </p:nvSpPr>
        <p:spPr>
          <a:xfrm>
            <a:off x="7572375" y="14668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Aug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4671D4-D348-404A-AADD-E08873254851}"/>
              </a:ext>
            </a:extLst>
          </p:cNvPr>
          <p:cNvSpPr>
            <a:spLocks noGrp="1"/>
          </p:cNvSpPr>
          <p:nvPr/>
        </p:nvSpPr>
        <p:spPr>
          <a:xfrm>
            <a:off x="8696325" y="14668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FA68F-5460-4DA9-B550-D3F711620B2A}"/>
              </a:ext>
            </a:extLst>
          </p:cNvPr>
          <p:cNvSpPr>
            <a:spLocks noGrp="1"/>
          </p:cNvSpPr>
          <p:nvPr/>
        </p:nvSpPr>
        <p:spPr>
          <a:xfrm>
            <a:off x="9839325" y="14668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86FE95-3A2B-41E5-B0FB-1CA7DB1E4010}"/>
              </a:ext>
            </a:extLst>
          </p:cNvPr>
          <p:cNvSpPr>
            <a:spLocks noGrp="1"/>
          </p:cNvSpPr>
          <p:nvPr/>
        </p:nvSpPr>
        <p:spPr>
          <a:xfrm>
            <a:off x="10963275" y="14668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Nov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87AC598-35E8-4148-AACE-E283AEF31987}"/>
              </a:ext>
            </a:extLst>
          </p:cNvPr>
          <p:cNvSpPr>
            <a:spLocks noGrp="1"/>
          </p:cNvSpPr>
          <p:nvPr/>
        </p:nvSpPr>
        <p:spPr>
          <a:xfrm>
            <a:off x="6429375" y="1685925"/>
            <a:ext cx="0" cy="39147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6EB8897-9D60-4188-B0AF-282FDB5C1C89}"/>
              </a:ext>
            </a:extLst>
          </p:cNvPr>
          <p:cNvSpPr>
            <a:spLocks noGrp="1"/>
          </p:cNvSpPr>
          <p:nvPr/>
        </p:nvSpPr>
        <p:spPr>
          <a:xfrm>
            <a:off x="7131760" y="1685925"/>
            <a:ext cx="0" cy="39147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513139A-08E4-4CE5-89C6-02461BAD0A75}"/>
              </a:ext>
            </a:extLst>
          </p:cNvPr>
          <p:cNvSpPr>
            <a:spLocks noGrp="1"/>
          </p:cNvSpPr>
          <p:nvPr/>
        </p:nvSpPr>
        <p:spPr>
          <a:xfrm>
            <a:off x="8277758" y="1685925"/>
            <a:ext cx="0" cy="39147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F236404-D886-44AA-8B2E-9F87AFF25F82}"/>
              </a:ext>
            </a:extLst>
          </p:cNvPr>
          <p:cNvSpPr>
            <a:spLocks noGrp="1"/>
          </p:cNvSpPr>
          <p:nvPr/>
        </p:nvSpPr>
        <p:spPr>
          <a:xfrm>
            <a:off x="9423755" y="1685925"/>
            <a:ext cx="0" cy="39147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FF0897B-2E1F-4778-8D17-0D3E1DFCFB69}"/>
              </a:ext>
            </a:extLst>
          </p:cNvPr>
          <p:cNvSpPr>
            <a:spLocks noGrp="1"/>
          </p:cNvSpPr>
          <p:nvPr/>
        </p:nvSpPr>
        <p:spPr>
          <a:xfrm>
            <a:off x="10569753" y="1685925"/>
            <a:ext cx="0" cy="39147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A535E02-4AE4-4444-967D-E997706A3F39}"/>
              </a:ext>
            </a:extLst>
          </p:cNvPr>
          <p:cNvSpPr>
            <a:spLocks noGrp="1"/>
          </p:cNvSpPr>
          <p:nvPr/>
        </p:nvSpPr>
        <p:spPr>
          <a:xfrm>
            <a:off x="11715750" y="1685925"/>
            <a:ext cx="0" cy="39147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70CDD-BED1-4513-95ED-A6E43C8EC0FA}"/>
              </a:ext>
            </a:extLst>
          </p:cNvPr>
          <p:cNvSpPr>
            <a:spLocks noGrp="1"/>
          </p:cNvSpPr>
          <p:nvPr/>
        </p:nvSpPr>
        <p:spPr>
          <a:xfrm>
            <a:off x="419100" y="1762125"/>
            <a:ext cx="11296650" cy="3143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373231-E3AB-4BAA-9863-5E3618742287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Finalize research question and project scope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5EBD37-FE19-4FA8-95E1-B5BBED24BDB5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July 13-19, 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F63379-1A99-4B6F-BA4E-42CD336E73B8}"/>
              </a:ext>
            </a:extLst>
          </p:cNvPr>
          <p:cNvSpPr>
            <a:spLocks noGrp="1"/>
          </p:cNvSpPr>
          <p:nvPr/>
        </p:nvSpPr>
        <p:spPr>
          <a:xfrm>
            <a:off x="6909955" y="1847850"/>
            <a:ext cx="221806" cy="1428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8408DE-6745-48D7-8DC3-322126083753}"/>
              </a:ext>
            </a:extLst>
          </p:cNvPr>
          <p:cNvSpPr>
            <a:spLocks noGrp="1"/>
          </p:cNvSpPr>
          <p:nvPr/>
        </p:nvSpPr>
        <p:spPr>
          <a:xfrm>
            <a:off x="419100" y="2114550"/>
            <a:ext cx="11296650" cy="314325"/>
          </a:xfrm>
          <a:prstGeom prst="rect">
            <a:avLst/>
          </a:prstGeom>
          <a:solidFill>
            <a:srgbClr val="F7F7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21204C-9DE3-412B-805C-37C8E03D2ECB}"/>
              </a:ext>
            </a:extLst>
          </p:cNvPr>
          <p:cNvSpPr>
            <a:spLocks noGrp="1"/>
          </p:cNvSpPr>
          <p:nvPr/>
        </p:nvSpPr>
        <p:spPr>
          <a:xfrm>
            <a:off x="476250" y="2162175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Finalize IRB application, consent form, and recruitment materials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D3FE28-4879-4628-8263-09762F700F90}"/>
              </a:ext>
            </a:extLst>
          </p:cNvPr>
          <p:cNvSpPr>
            <a:spLocks noGrp="1"/>
          </p:cNvSpPr>
          <p:nvPr/>
        </p:nvSpPr>
        <p:spPr>
          <a:xfrm>
            <a:off x="4333875" y="216217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July 20-August 23, 2026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1EE363-C79C-4CDE-9D14-E1B29BAD8BDC}"/>
              </a:ext>
            </a:extLst>
          </p:cNvPr>
          <p:cNvSpPr>
            <a:spLocks noGrp="1"/>
          </p:cNvSpPr>
          <p:nvPr/>
        </p:nvSpPr>
        <p:spPr>
          <a:xfrm>
            <a:off x="7168728" y="2200275"/>
            <a:ext cx="1256900" cy="1428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E2FB87-99A1-4E24-A56E-36BBCD9C95A6}"/>
              </a:ext>
            </a:extLst>
          </p:cNvPr>
          <p:cNvSpPr>
            <a:spLocks noGrp="1"/>
          </p:cNvSpPr>
          <p:nvPr/>
        </p:nvSpPr>
        <p:spPr>
          <a:xfrm>
            <a:off x="419100" y="2466975"/>
            <a:ext cx="11296650" cy="3143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965A30-F092-4407-B335-A49F5D36A622}"/>
              </a:ext>
            </a:extLst>
          </p:cNvPr>
          <p:cNvSpPr>
            <a:spLocks noGrp="1"/>
          </p:cNvSpPr>
          <p:nvPr/>
        </p:nvSpPr>
        <p:spPr>
          <a:xfrm>
            <a:off x="476250" y="2514600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Complete literature review and evidence table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9075A7-E893-422B-B413-0A957DB92CCA}"/>
              </a:ext>
            </a:extLst>
          </p:cNvPr>
          <p:cNvSpPr>
            <a:spLocks noGrp="1"/>
          </p:cNvSpPr>
          <p:nvPr/>
        </p:nvSpPr>
        <p:spPr>
          <a:xfrm>
            <a:off x="4333875" y="2514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July 20-August 9, 2026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FE2797-BECC-4BCC-905E-AED60518966E}"/>
              </a:ext>
            </a:extLst>
          </p:cNvPr>
          <p:cNvSpPr>
            <a:spLocks noGrp="1"/>
          </p:cNvSpPr>
          <p:nvPr/>
        </p:nvSpPr>
        <p:spPr>
          <a:xfrm>
            <a:off x="7168728" y="2552700"/>
            <a:ext cx="739353" cy="1428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7A5726-463C-4F70-AE24-047913C07831}"/>
              </a:ext>
            </a:extLst>
          </p:cNvPr>
          <p:cNvSpPr>
            <a:spLocks noGrp="1"/>
          </p:cNvSpPr>
          <p:nvPr/>
        </p:nvSpPr>
        <p:spPr>
          <a:xfrm>
            <a:off x="419100" y="2819400"/>
            <a:ext cx="11296650" cy="314325"/>
          </a:xfrm>
          <a:prstGeom prst="rect">
            <a:avLst/>
          </a:prstGeom>
          <a:solidFill>
            <a:srgbClr val="F7F7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451A66-ACCA-4B38-9D91-D1CC3B5ACD6F}"/>
              </a:ext>
            </a:extLst>
          </p:cNvPr>
          <p:cNvSpPr>
            <a:spLocks noGrp="1"/>
          </p:cNvSpPr>
          <p:nvPr/>
        </p:nvSpPr>
        <p:spPr>
          <a:xfrm>
            <a:off x="476250" y="2867025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Validate formulas and assumptions with references/stakeholders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8C2926-06D0-4B60-B1F0-97D7BB75E156}"/>
              </a:ext>
            </a:extLst>
          </p:cNvPr>
          <p:cNvSpPr>
            <a:spLocks noGrp="1"/>
          </p:cNvSpPr>
          <p:nvPr/>
        </p:nvSpPr>
        <p:spPr>
          <a:xfrm>
            <a:off x="4333875" y="286702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August 10-23, 2026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D7250-C1F6-4EED-9935-AA7F786A7B2A}"/>
              </a:ext>
            </a:extLst>
          </p:cNvPr>
          <p:cNvSpPr>
            <a:spLocks noGrp="1"/>
          </p:cNvSpPr>
          <p:nvPr/>
        </p:nvSpPr>
        <p:spPr>
          <a:xfrm>
            <a:off x="7945049" y="2905125"/>
            <a:ext cx="480580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155E9C-8C98-4254-810F-62E26F25D9DD}"/>
              </a:ext>
            </a:extLst>
          </p:cNvPr>
          <p:cNvSpPr>
            <a:spLocks noGrp="1"/>
          </p:cNvSpPr>
          <p:nvPr/>
        </p:nvSpPr>
        <p:spPr>
          <a:xfrm>
            <a:off x="419100" y="3171825"/>
            <a:ext cx="11296650" cy="3143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0390A5-FD40-44E7-8AA8-EC5DCA9106D2}"/>
              </a:ext>
            </a:extLst>
          </p:cNvPr>
          <p:cNvSpPr>
            <a:spLocks noGrp="1"/>
          </p:cNvSpPr>
          <p:nvPr/>
        </p:nvSpPr>
        <p:spPr>
          <a:xfrm>
            <a:off x="476250" y="3219450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Develop standardized simulation case and participant instructions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FC66BC-BC99-4E45-B27D-A43EB6BB071D}"/>
              </a:ext>
            </a:extLst>
          </p:cNvPr>
          <p:cNvSpPr>
            <a:spLocks noGrp="1"/>
          </p:cNvSpPr>
          <p:nvPr/>
        </p:nvSpPr>
        <p:spPr>
          <a:xfrm>
            <a:off x="4333875" y="321945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August 10-31, 2026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4506F0-F69D-4A94-B8E7-AD50DA029921}"/>
              </a:ext>
            </a:extLst>
          </p:cNvPr>
          <p:cNvSpPr>
            <a:spLocks noGrp="1"/>
          </p:cNvSpPr>
          <p:nvPr/>
        </p:nvSpPr>
        <p:spPr>
          <a:xfrm>
            <a:off x="7945049" y="3257550"/>
            <a:ext cx="776321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1F2439-932E-431C-B087-1D166292905B}"/>
              </a:ext>
            </a:extLst>
          </p:cNvPr>
          <p:cNvSpPr>
            <a:spLocks noGrp="1"/>
          </p:cNvSpPr>
          <p:nvPr/>
        </p:nvSpPr>
        <p:spPr>
          <a:xfrm>
            <a:off x="419100" y="3524250"/>
            <a:ext cx="11296650" cy="314325"/>
          </a:xfrm>
          <a:prstGeom prst="rect">
            <a:avLst/>
          </a:prstGeom>
          <a:solidFill>
            <a:srgbClr val="F7F7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00262C-0BF5-41CA-8025-655C61B59FB5}"/>
              </a:ext>
            </a:extLst>
          </p:cNvPr>
          <p:cNvSpPr>
            <a:spLocks noGrp="1"/>
          </p:cNvSpPr>
          <p:nvPr/>
        </p:nvSpPr>
        <p:spPr>
          <a:xfrm>
            <a:off x="476250" y="3571875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Refine web-based tool interface and mobile workflow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DAD17F-BED2-4CB5-8164-33E8521A1440}"/>
              </a:ext>
            </a:extLst>
          </p:cNvPr>
          <p:cNvSpPr>
            <a:spLocks noGrp="1"/>
          </p:cNvSpPr>
          <p:nvPr/>
        </p:nvSpPr>
        <p:spPr>
          <a:xfrm>
            <a:off x="4333875" y="357187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August 24-September 13, 2026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19D4D5-611E-436F-97D6-491F020AF9D1}"/>
              </a:ext>
            </a:extLst>
          </p:cNvPr>
          <p:cNvSpPr>
            <a:spLocks noGrp="1"/>
          </p:cNvSpPr>
          <p:nvPr/>
        </p:nvSpPr>
        <p:spPr>
          <a:xfrm>
            <a:off x="8462596" y="3609975"/>
            <a:ext cx="739353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A07DAD-5ECF-453D-980E-2774134AD416}"/>
              </a:ext>
            </a:extLst>
          </p:cNvPr>
          <p:cNvSpPr>
            <a:spLocks noGrp="1"/>
          </p:cNvSpPr>
          <p:nvPr/>
        </p:nvSpPr>
        <p:spPr>
          <a:xfrm>
            <a:off x="419100" y="3876675"/>
            <a:ext cx="11296650" cy="3143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8D2C95-AB1A-47C3-8F61-A8855EFE423D}"/>
              </a:ext>
            </a:extLst>
          </p:cNvPr>
          <p:cNvSpPr>
            <a:spLocks noGrp="1"/>
          </p:cNvSpPr>
          <p:nvPr/>
        </p:nvSpPr>
        <p:spPr>
          <a:xfrm>
            <a:off x="476250" y="3924300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Conduct simulation/usability testing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08DC64-9902-4D1D-8F2C-373D035E28AA}"/>
              </a:ext>
            </a:extLst>
          </p:cNvPr>
          <p:cNvSpPr>
            <a:spLocks noGrp="1"/>
          </p:cNvSpPr>
          <p:nvPr/>
        </p:nvSpPr>
        <p:spPr>
          <a:xfrm>
            <a:off x="4333875" y="39243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September 1-November 15, 2026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9D024A-743A-4143-9313-C8EAA23370BA}"/>
              </a:ext>
            </a:extLst>
          </p:cNvPr>
          <p:cNvSpPr>
            <a:spLocks noGrp="1"/>
          </p:cNvSpPr>
          <p:nvPr/>
        </p:nvSpPr>
        <p:spPr>
          <a:xfrm>
            <a:off x="8758337" y="3962400"/>
            <a:ext cx="2772574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FF5F2F4-205C-4FC7-8C64-9E12A1415D5F}"/>
              </a:ext>
            </a:extLst>
          </p:cNvPr>
          <p:cNvSpPr>
            <a:spLocks noGrp="1"/>
          </p:cNvSpPr>
          <p:nvPr/>
        </p:nvSpPr>
        <p:spPr>
          <a:xfrm>
            <a:off x="419100" y="4229100"/>
            <a:ext cx="11296650" cy="314325"/>
          </a:xfrm>
          <a:prstGeom prst="rect">
            <a:avLst/>
          </a:prstGeom>
          <a:solidFill>
            <a:srgbClr val="F7F7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73B673-9B87-4433-B65F-D44AAB52C1A8}"/>
              </a:ext>
            </a:extLst>
          </p:cNvPr>
          <p:cNvSpPr>
            <a:spLocks noGrp="1"/>
          </p:cNvSpPr>
          <p:nvPr/>
        </p:nvSpPr>
        <p:spPr>
          <a:xfrm>
            <a:off x="476250" y="4276725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Analyze quantitative and qualitative feedback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4992F2-C2EE-4B9C-A974-E8BFAEA7E14C}"/>
              </a:ext>
            </a:extLst>
          </p:cNvPr>
          <p:cNvSpPr>
            <a:spLocks noGrp="1"/>
          </p:cNvSpPr>
          <p:nvPr/>
        </p:nvSpPr>
        <p:spPr>
          <a:xfrm>
            <a:off x="4333875" y="427672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September 1-November 15, 2026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E4579F-AFD4-40FF-BFA3-77CB065F34B7}"/>
              </a:ext>
            </a:extLst>
          </p:cNvPr>
          <p:cNvSpPr>
            <a:spLocks noGrp="1"/>
          </p:cNvSpPr>
          <p:nvPr/>
        </p:nvSpPr>
        <p:spPr>
          <a:xfrm>
            <a:off x="8758337" y="4314825"/>
            <a:ext cx="2772574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F18C1B-5DF9-4DC8-8C55-42B0058C48F7}"/>
              </a:ext>
            </a:extLst>
          </p:cNvPr>
          <p:cNvSpPr>
            <a:spLocks noGrp="1"/>
          </p:cNvSpPr>
          <p:nvPr/>
        </p:nvSpPr>
        <p:spPr>
          <a:xfrm>
            <a:off x="419100" y="4581525"/>
            <a:ext cx="11296650" cy="3143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CCBFBE-A5FA-49A3-985F-7B64C4886B94}"/>
              </a:ext>
            </a:extLst>
          </p:cNvPr>
          <p:cNvSpPr>
            <a:spLocks noGrp="1"/>
          </p:cNvSpPr>
          <p:nvPr/>
        </p:nvSpPr>
        <p:spPr>
          <a:xfrm>
            <a:off x="476250" y="4629150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Recruit participants after IRB approval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0DDAB4-5CA6-47A7-902F-DAD76C0D0161}"/>
              </a:ext>
            </a:extLst>
          </p:cNvPr>
          <p:cNvSpPr>
            <a:spLocks noGrp="1"/>
          </p:cNvSpPr>
          <p:nvPr/>
        </p:nvSpPr>
        <p:spPr>
          <a:xfrm>
            <a:off x="4333875" y="462915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September 21-October 15, 2026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F07908-0EAF-4608-A231-8C3E1B945ED6}"/>
              </a:ext>
            </a:extLst>
          </p:cNvPr>
          <p:cNvSpPr>
            <a:spLocks noGrp="1"/>
          </p:cNvSpPr>
          <p:nvPr/>
        </p:nvSpPr>
        <p:spPr>
          <a:xfrm>
            <a:off x="9497691" y="4667250"/>
            <a:ext cx="887224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4857F8-640D-4359-BC56-3A52ECF6BF5B}"/>
              </a:ext>
            </a:extLst>
          </p:cNvPr>
          <p:cNvSpPr>
            <a:spLocks noGrp="1"/>
          </p:cNvSpPr>
          <p:nvPr/>
        </p:nvSpPr>
        <p:spPr>
          <a:xfrm>
            <a:off x="419100" y="4933950"/>
            <a:ext cx="11296650" cy="314325"/>
          </a:xfrm>
          <a:prstGeom prst="rect">
            <a:avLst/>
          </a:prstGeom>
          <a:solidFill>
            <a:srgbClr val="F7F7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2C4046-A5AA-4BD3-8026-D04A27D81DD9}"/>
              </a:ext>
            </a:extLst>
          </p:cNvPr>
          <p:cNvSpPr>
            <a:spLocks noGrp="1"/>
          </p:cNvSpPr>
          <p:nvPr/>
        </p:nvSpPr>
        <p:spPr>
          <a:xfrm>
            <a:off x="476250" y="4981575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Revise tool based on findings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7C3E1FC-7B5E-4408-A318-FC6B55BFF2FE}"/>
              </a:ext>
            </a:extLst>
          </p:cNvPr>
          <p:cNvSpPr>
            <a:spLocks noGrp="1"/>
          </p:cNvSpPr>
          <p:nvPr/>
        </p:nvSpPr>
        <p:spPr>
          <a:xfrm>
            <a:off x="4333875" y="498157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October 1-November 15, 2026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67336D6-7EF9-4F85-B6DF-A54DC359CEA0}"/>
              </a:ext>
            </a:extLst>
          </p:cNvPr>
          <p:cNvSpPr>
            <a:spLocks noGrp="1"/>
          </p:cNvSpPr>
          <p:nvPr/>
        </p:nvSpPr>
        <p:spPr>
          <a:xfrm>
            <a:off x="9867367" y="5019675"/>
            <a:ext cx="1663545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0B63E8-6B0F-4FF6-9DFB-E831BCA3C115}"/>
              </a:ext>
            </a:extLst>
          </p:cNvPr>
          <p:cNvSpPr>
            <a:spLocks noGrp="1"/>
          </p:cNvSpPr>
          <p:nvPr/>
        </p:nvSpPr>
        <p:spPr>
          <a:xfrm>
            <a:off x="419100" y="5286375"/>
            <a:ext cx="11296650" cy="3143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772B90-2A3B-4593-80EB-920FB52EED8F}"/>
              </a:ext>
            </a:extLst>
          </p:cNvPr>
          <p:cNvSpPr>
            <a:spLocks noGrp="1"/>
          </p:cNvSpPr>
          <p:nvPr/>
        </p:nvSpPr>
        <p:spPr>
          <a:xfrm>
            <a:off x="476250" y="5334000"/>
            <a:ext cx="3705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Complete final paper, presentation, and dissemination 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8F65693-D147-4293-99AE-6234E70867E3}"/>
              </a:ext>
            </a:extLst>
          </p:cNvPr>
          <p:cNvSpPr>
            <a:spLocks noGrp="1"/>
          </p:cNvSpPr>
          <p:nvPr/>
        </p:nvSpPr>
        <p:spPr>
          <a:xfrm>
            <a:off x="4333875" y="53340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Capstone presentation due date, 2026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E377FBA-CE99-48D3-8C4F-79EEFD868B27}"/>
              </a:ext>
            </a:extLst>
          </p:cNvPr>
          <p:cNvSpPr>
            <a:spLocks noGrp="1"/>
          </p:cNvSpPr>
          <p:nvPr/>
        </p:nvSpPr>
        <p:spPr>
          <a:xfrm>
            <a:off x="11567879" y="5372100"/>
            <a:ext cx="147871" cy="1428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179DBE-033E-4C3A-8BCE-1A7A42BE9496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Note: the final paper, presentation, and dissemination plan close on the assigned Capstone presentation due date in 2026.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915949-75F4-4529-8E9E-921F0069DF2F}"/>
              </a:ext>
            </a:extLst>
          </p:cNvPr>
          <p:cNvSpPr>
            <a:spLocks noGrp="1"/>
          </p:cNvSpPr>
          <p:nvPr/>
        </p:nvSpPr>
        <p:spPr>
          <a:xfrm>
            <a:off x="9667875" y="633412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3</a:t>
            </a:r>
          </a:p>
        </p:txBody>
      </p:sp>
    </p:spTree>
    <p:extLst>
      <p:ext uri="{BB962C8B-B14F-4D97-AF65-F5344CB8AC3E}">
        <p14:creationId xmlns:p14="http://schemas.microsoft.com/office/powerpoint/2010/main" val="142963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70108D-608B-4E4B-9C84-2FC782D203A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16394D-4CDF-4A94-8B80-51030B110C1E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IRB Determination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3DC5E-2773-42C0-9502-71B68D600E5C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71712-00E8-454F-9549-E0A61BA1C995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Anticipated determination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25E95-DBEB-4AC6-BBFC-DAEEAA3615ED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4857750" cy="1762125"/>
          </a:xfrm>
          <a:prstGeom prst="rect">
            <a:avLst/>
          </a:prstGeom>
          <a:solidFill>
            <a:srgbClr val="F4F4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Educational quality improvement / evidence-based practice project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 protected health information collected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 clinical intervention or patient assignment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F9EE8-54EB-45B9-9B56-877AEF4B74D5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Required documentation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32AE1-D439-4994-86BE-8268B23D8852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4857750" cy="1762125"/>
          </a:xfrm>
          <a:prstGeom prst="rect">
            <a:avLst/>
          </a:prstGeom>
          <a:solidFill>
            <a:srgbClr val="F4F4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Submit school or institutional IRB screening form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Maintain faculty approval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Use de-identified usability and confidence feedback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Store responses securely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E2252A-4047-4663-BDDC-9B8A8A35CE45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763250" cy="704850"/>
          </a:xfrm>
          <a:prstGeom prst="rect">
            <a:avLst/>
          </a:prstGeom>
          <a:solidFill>
            <a:srgbClr val="FFF1EA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Final wording should be updated to match the official IRB or program determination once received.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4131F-2115-4623-BCAD-034F8993A994}"/>
              </a:ext>
            </a:extLst>
          </p:cNvPr>
          <p:cNvSpPr>
            <a:spLocks noGrp="1"/>
          </p:cNvSpPr>
          <p:nvPr/>
        </p:nvSpPr>
        <p:spPr>
          <a:xfrm>
            <a:off x="9667875" y="633412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4</a:t>
            </a:r>
          </a:p>
        </p:txBody>
      </p:sp>
    </p:spTree>
    <p:extLst>
      <p:ext uri="{BB962C8B-B14F-4D97-AF65-F5344CB8AC3E}">
        <p14:creationId xmlns:p14="http://schemas.microsoft.com/office/powerpoint/2010/main" val="96905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1DDBB23-2528-4ED2-95F9-8AE4394F7C5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AED30-4D56-44F7-8DB1-344A157F833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Data Collection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B6F7D7-01A7-47EF-A247-D166AF2A9FC1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15368-1F47-4C4A-B05E-E78E53BAFA2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Tool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36AEA-2CE5-4DDE-946F-06764FC8DDC9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3238500" cy="2333625"/>
          </a:xfrm>
          <a:prstGeom prst="rect">
            <a:avLst/>
          </a:prstGeom>
          <a:solidFill>
            <a:srgbClr val="F4F4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Calculation accuracy checklist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Scenario completion time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Observed input or navigation errors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17DC8-205E-4D3C-AAB3-2C9D3F9EBACE}"/>
              </a:ext>
            </a:extLst>
          </p:cNvPr>
          <p:cNvSpPr>
            <a:spLocks noGrp="1"/>
          </p:cNvSpPr>
          <p:nvPr/>
        </p:nvSpPr>
        <p:spPr>
          <a:xfrm>
            <a:off x="4324350" y="17335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User experience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5F4FBC-2638-4184-AEC9-583B5E2F78DA}"/>
              </a:ext>
            </a:extLst>
          </p:cNvPr>
          <p:cNvSpPr>
            <a:spLocks noGrp="1"/>
          </p:cNvSpPr>
          <p:nvPr/>
        </p:nvSpPr>
        <p:spPr>
          <a:xfrm>
            <a:off x="4324350" y="2343150"/>
            <a:ext cx="3238500" cy="2333625"/>
          </a:xfrm>
          <a:prstGeom prst="rect">
            <a:avLst/>
          </a:prstGeom>
          <a:solidFill>
            <a:srgbClr val="FFF1EA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System Usability Scale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Confidence rating before / after use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Open-ended feedback prompts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8D843-EE9E-4000-9214-327847A97FFA}"/>
              </a:ext>
            </a:extLst>
          </p:cNvPr>
          <p:cNvSpPr>
            <a:spLocks noGrp="1"/>
          </p:cNvSpPr>
          <p:nvPr/>
        </p:nvSpPr>
        <p:spPr>
          <a:xfrm>
            <a:off x="8039100" y="17335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Workload and simulation fit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319CF6-FC03-40BA-AF82-EF84536A5FDC}"/>
              </a:ext>
            </a:extLst>
          </p:cNvPr>
          <p:cNvSpPr>
            <a:spLocks noGrp="1"/>
          </p:cNvSpPr>
          <p:nvPr/>
        </p:nvSpPr>
        <p:spPr>
          <a:xfrm>
            <a:off x="8039100" y="2343150"/>
            <a:ext cx="3238500" cy="2333625"/>
          </a:xfrm>
          <a:prstGeom prst="rect">
            <a:avLst/>
          </a:prstGeom>
          <a:solidFill>
            <a:srgbClr val="F4F4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NASA-TLX or brief workload rating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Mobile usability notes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Instructor / preceptor feedback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18E6D-70CD-468A-A414-35198BF6BA17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Data sources align with the project question: accuracy, workflow efficiency, usability, cognitive load, and learner confidence.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5005D-34DB-4687-8054-4D362446EB78}"/>
              </a:ext>
            </a:extLst>
          </p:cNvPr>
          <p:cNvSpPr>
            <a:spLocks noGrp="1"/>
          </p:cNvSpPr>
          <p:nvPr/>
        </p:nvSpPr>
        <p:spPr>
          <a:xfrm>
            <a:off x="9667875" y="633412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5</a:t>
            </a:r>
          </a:p>
        </p:txBody>
      </p:sp>
    </p:spTree>
    <p:extLst>
      <p:ext uri="{BB962C8B-B14F-4D97-AF65-F5344CB8AC3E}">
        <p14:creationId xmlns:p14="http://schemas.microsoft.com/office/powerpoint/2010/main" val="11766464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DocSecurity>0</DocSecurity>
  <PresentationFormat>Widescreen</PresentationFormat>
  <Paragraphs>161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Lias, Sydney</cp:lastModifiedBy>
  <cp:revision>1</cp:revision>
  <dcterms:created xsi:type="dcterms:W3CDTF">2026-07-31T00:15:07Z</dcterms:created>
  <dcterms:modified xsi:type="dcterms:W3CDTF">2026-07-31T00:20:42Z</dcterms:modified>
</cp:coreProperties>
</file>