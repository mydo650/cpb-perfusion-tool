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8c4e5655b442d4" /><Relationship Type="http://schemas.openxmlformats.org/officeDocument/2006/relationships/extended-properties" Target="/docProps/app.xml" Id="R1073332c39794c4d" /><Relationship Type="http://schemas.openxmlformats.org/officeDocument/2006/relationships/officeDocument" Target="/ppt/presentation.xml" Id="R4f4dc1cf970b44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f68a8c7f74df5"/>
  </p:sldMasterIdLst>
  <p:notesMasterIdLst>
    <p:notesMasterId xmlns:r="http://schemas.openxmlformats.org/officeDocument/2006/relationships" r:id="Rfc56c992bedc4743"/>
  </p:notesMasterIdLst>
  <p:sldIdLst>
    <p:sldId xmlns:r="http://schemas.openxmlformats.org/officeDocument/2006/relationships" id="256" r:id="Rec8f73995b1c4121"/>
    <p:sldId xmlns:r="http://schemas.openxmlformats.org/officeDocument/2006/relationships" id="257" r:id="Rfe26bb83f164438d"/>
    <p:sldId xmlns:r="http://schemas.openxmlformats.org/officeDocument/2006/relationships" id="258" r:id="R9eb461502659450c"/>
    <p:sldId xmlns:r="http://schemas.openxmlformats.org/officeDocument/2006/relationships" id="259" r:id="R326c282f691241e8"/>
    <p:sldId xmlns:r="http://schemas.openxmlformats.org/officeDocument/2006/relationships" id="260" r:id="R9247270655124d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0406c59f884f6c" /><Relationship Type="http://schemas.openxmlformats.org/officeDocument/2006/relationships/slideMaster" Target="/ppt/slideMasters/slideMaster1.xml" Id="R093f68a8c7f74df5" /><Relationship Type="http://schemas.openxmlformats.org/officeDocument/2006/relationships/notesMaster" Target="/ppt/notesMasters/notesMaster1.xml" Id="Rfc56c992bedc4743" /><Relationship Type="http://schemas.openxmlformats.org/officeDocument/2006/relationships/presProps" Target="/ppt/presProps.xml" Id="R7586eb6a727842dd" /><Relationship Type="http://schemas.openxmlformats.org/officeDocument/2006/relationships/tableStyles" Target="/ppt/tableStyles.xml" Id="R83d16cf27e3e497d" /><Relationship Type="http://schemas.openxmlformats.org/officeDocument/2006/relationships/slide" Target="/ppt/slides/slide1.xml" Id="Rec8f73995b1c4121" /><Relationship Type="http://schemas.openxmlformats.org/officeDocument/2006/relationships/slide" Target="/ppt/slides/slide2.xml" Id="Rfe26bb83f164438d" /><Relationship Type="http://schemas.openxmlformats.org/officeDocument/2006/relationships/slide" Target="/ppt/slides/slide3.xml" Id="R9eb461502659450c" /><Relationship Type="http://schemas.openxmlformats.org/officeDocument/2006/relationships/slide" Target="/ppt/slides/slide4.xml" Id="R326c282f691241e8" /><Relationship Type="http://schemas.openxmlformats.org/officeDocument/2006/relationships/slide" Target="/ppt/slides/slide5.xml" Id="R9247270655124d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40b79c273f47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179a28a64c4599" /><Relationship Type="http://schemas.openxmlformats.org/officeDocument/2006/relationships/notesMaster" Target="/ppt/notesMasters/notesMaster1.xml" Id="R416dcbc2083f4a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80b0db5c7e42ba" /><Relationship Type="http://schemas.openxmlformats.org/officeDocument/2006/relationships/notesMaster" Target="/ppt/notesMasters/notesMaster1.xml" Id="R6877e68b80b045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1bdc095f684786" /><Relationship Type="http://schemas.openxmlformats.org/officeDocument/2006/relationships/notesMaster" Target="/ppt/notesMasters/notesMaster1.xml" Id="R7813f0bf395643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7f313d8cfd4228" /><Relationship Type="http://schemas.openxmlformats.org/officeDocument/2006/relationships/notesMaster" Target="/ppt/notesMasters/notesMaster1.xml" Id="R18378cd91abf45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23d951a05f4dcd" /><Relationship Type="http://schemas.openxmlformats.org/officeDocument/2006/relationships/notesMaster" Target="/ppt/notesMasters/notesMaster1.xml" Id="R0e793bd6efc640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d565f1c5a4a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787bf9ef9e44aa" /><Relationship Type="http://schemas.openxmlformats.org/officeDocument/2006/relationships/slideLayout" Target="/ppt/slideLayouts/slideLayout1.xml" Id="R525170017d1d49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5170017d1d49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0148609ac4223" /><Relationship Type="http://schemas.openxmlformats.org/officeDocument/2006/relationships/notesSlide" Target="/ppt/notesSlides/notesSlide1.xml" Id="R2b6eca3c711146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96e32777a42ae" /><Relationship Type="http://schemas.openxmlformats.org/officeDocument/2006/relationships/notesSlide" Target="/ppt/notesSlides/notesSlide2.xml" Id="R40b9e054709f47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fe2d80d6440f1" /><Relationship Type="http://schemas.openxmlformats.org/officeDocument/2006/relationships/notesSlide" Target="/ppt/notesSlides/notesSlide3.xml" Id="R79d5ac7fda5944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a5dc506d24904" /><Relationship Type="http://schemas.openxmlformats.org/officeDocument/2006/relationships/notesSlide" Target="/ppt/notesSlides/notesSlide4.xml" Id="R6907739f7a5146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62ad13dbd4d20" /><Relationship Type="http://schemas.openxmlformats.org/officeDocument/2006/relationships/notesSlide" Target="/ppt/notesSlides/notesSlide5.xml" Id="R85fb028e7a5544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3ED5F2-4A18-4A25-BCAA-7E955B8A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83D51-5F70-48F0-913D-BCE7F0E7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PRISMA Flow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EAD20-79A3-43C2-96B9-6C09B809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E91EF-6C3E-44AE-8216-177DF492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Records identified through database and web searches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9D1BC-D21B-498A-8C95-CD781726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Duplicates removed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8C891-9612-4BD0-AA53-CA7C9412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Records screened by title / abstract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6D130-34DE-453D-A49F-7506B860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Records excluded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367AB-C72E-4038-8B7C-22D8CAED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Full-text records assessed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 =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6ABD1-8880-418F-9F98-F87921CB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9625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Full-text records excluded</a:t>
            </a:r>
          </a:p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n = 7</a:t>
            </a:r>
          </a:p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Reasons: not CPB-specific, limited relevance, not education/usability focused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D0E09-F67A-4857-92EA-E93A6769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Studies and guidelines included in synthesis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n =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D69AC-D906-4841-AA37-9976C237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526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628D7-939F-4BE6-8ED2-40750E37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051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145B2-933D-432D-BFAB-0A4DF82A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62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F6CD1-B3A9-4E7C-B4C0-B3E5E3E8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576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C99C5-308B-416C-9B1A-FC3CAC4B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149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CB0E2-535C-4174-B7E1-DC26458F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40067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E6436-4AC3-4677-8537-FC9C70E9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Search strategy summarized for the Capstone evidence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9271B-8BF2-44A6-9677-86A0AAC0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341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1</a:t>
            </a:r>
          </a:p>
        </p:txBody>
      </p:sp>
    </p:spTree>
    <p:extLst>
      <p:ext uri="{BB962C8B-B14F-4D97-AF65-F5344CB8AC3E}">
        <p14:creationId xmlns:p14="http://schemas.microsoft.com/office/powerpoint/2010/main" val="1306606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F89DE1-3753-41C7-8DB0-1DC5D997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3F396-1610-40CC-8A86-4881B273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19BBA-ADE1-4B29-89B4-DFAC013A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76BF4-DD98-4D36-9AAE-8B9B1652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447C7-A475-4A25-8C9B-92161323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67640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Representative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153A0-2914-4A19-817B-2C1FEE4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7640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Use in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4391E-F962-4B44-B91C-D6C37D90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Perfusion standards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8CB7C-00FC-4533-AE81-68519DDB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4315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AmSECT; Shore-Lesserson et al.; Tibi et 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3166D-FBAD-48BA-B8FF-1009DA00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Protocol framing, safety language, anticoagulation and blood management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F19A4-3490-4E71-A529-60389F2F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Goal-directed perfusion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64A65-F870-477F-9EF5-CBA5FB1B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0990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Mukaida et al.; Ranucci et al.; Gao et al.; Newland &amp; Baker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15C5C-FF11-401C-A8A0-3CEDF58A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Supports DO2i, BSA, flow, hemoglobin, and AKI-risk education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08E71-7419-408A-82D8-7E1345B2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Prime / hemodilution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3C629-7399-440C-B434-C73BAF33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67665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Asopa &amp; Elahi; Ranucci et 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8352A-4175-4A63-8AC8-D8C08BAD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Supports prime planning, hematocrit dilution, and transfusion discussion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B1090-475A-4AFB-9BBE-BAB91DE5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Simulation education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12246-A89B-4679-A6E3-E466241A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4340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Searles et al.; Sistino et al.; Babar et 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FE9D1-70D9-4788-8C59-6DDE23AD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4340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Supports simulation as the setting for tool 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2F484-E96E-4668-B285-9D2A301A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2524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Usability and workload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6485C-7210-4BBE-9997-BA3FA3A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010150"/>
            <a:ext cx="385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Hyzy et al.; Said et al.; Hutson et al.; Kennedy-Metz et al.; Avrunin et al.; Dias et 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555B4-4566-4971-981E-9D4BD478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0150"/>
            <a:ext cx="4343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Supports SUS, NASA-TLX, and cognitive-load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58507-9D16-474B-85B3-F1AB3807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Master appraisal list includes JHEBP level and quality ratings in the written appendix.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908CE-D368-4531-AC8B-795DFC62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341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2</a:t>
            </a:r>
          </a:p>
        </p:txBody>
      </p:sp>
    </p:spTree>
    <p:extLst>
      <p:ext uri="{BB962C8B-B14F-4D97-AF65-F5344CB8AC3E}">
        <p14:creationId xmlns:p14="http://schemas.microsoft.com/office/powerpoint/2010/main" val="396143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A339D5-4E6D-439A-BE61-4CC831CB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4B046-0790-4F2B-9464-7E34C208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Timeline / Gantt 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CD232-C1AC-4CE2-A77A-82EBBC52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B7C55-6D04-4B96-8199-E6ABB610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F3C02-FC67-48C6-BBB7-94BDDDA4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4668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Specific date range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D91E1-54FB-46DD-828D-77998890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466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Jul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32F52-D10B-4796-9660-37D10AEC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66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Aug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2C587-B1E7-4DDD-A397-A2482AC2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466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DE2E9-2F8F-416E-8AAB-BC8B0E4C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466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69890-D258-4539-82A0-61DD7A4D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1466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Nov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C9CB8-8E66-48A5-9C76-C6A56BEA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85925"/>
            <a:ext cx="0" cy="391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02420-BE79-454D-AFD9-62BC4003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760" y="1685925"/>
            <a:ext cx="0" cy="391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5BF39-EC00-4648-BC4A-3BD039CF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758" y="1685925"/>
            <a:ext cx="0" cy="391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06C2F-C348-49D2-8983-D3218348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755" y="1685925"/>
            <a:ext cx="0" cy="391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06802-CDDF-4CB1-AD47-A0751BF3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53" y="1685925"/>
            <a:ext cx="0" cy="391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2BC7B-B41B-4D89-858A-CF53DEE9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685925"/>
            <a:ext cx="0" cy="391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5A97C-FA85-48FB-BDDB-8CB2F245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62125"/>
            <a:ext cx="11296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9FE39-442C-46B7-B69B-2B54EB66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Finalize research question and project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52F56-76DA-484F-8A94-282CC654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July 13-19,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B350F-2423-4BD5-80EA-B7EC56B4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9955" y="1847850"/>
            <a:ext cx="221806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D5332-D578-4477-B51D-1FD27D5D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11296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B58CB-B736-4576-9D0F-6F9622B4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621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Finalize IRB application, consent form, and recruitment materials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4B4FC-BD0C-4F69-BC4E-182E4CD5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62175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July 20-August 23,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4CFD40-E024-424F-B19B-8A865E73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28" y="2200275"/>
            <a:ext cx="1256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18C7A-C273-43CD-9664-F783447B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66975"/>
            <a:ext cx="11296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87C2BF-462B-4273-83BC-909C1C25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146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Complete literature review and evidence 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FBEF1E-7797-470B-B42F-DA3D5949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146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July 20-August 9,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4B551-0389-4F61-85A1-227A5164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728" y="2552700"/>
            <a:ext cx="739353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DB5AB-C03A-4A0B-9CAE-CC437019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19400"/>
            <a:ext cx="11296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BD9015-9E62-4D35-81C2-095C80F8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6702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Validate formulas and assumptions with references/stakeholders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D03512-B0CB-4478-B0C9-7DC9BCF0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67025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August 10-23,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19AB9B-8368-4093-81FE-4B73EAE6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49" y="2905125"/>
            <a:ext cx="48058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789486-4734-402D-8777-6DF836A5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71825"/>
            <a:ext cx="11296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086BBF-FAE4-4F6A-A097-960705DF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1945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Develop standardized simulation case and participant instructions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B83076-99B6-486B-8B83-2A13CC62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194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August 10-31,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790D09-5E0D-4274-9C95-B33A656D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049" y="3257550"/>
            <a:ext cx="776321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A8350F-CB72-44AE-A18C-BD63C3D2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24250"/>
            <a:ext cx="11296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8C310E-2DEF-4C0F-BBCA-09A1167E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718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Refine web-based tool interface and mobile workflow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82D135-7B81-4F2E-A688-163D03A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71875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August 24-September 13, 2026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65CB64-D37A-43F3-A9E9-EE24BAA3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596" y="3609975"/>
            <a:ext cx="739353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84714A-A2C5-4D77-918E-BC3090A6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6675"/>
            <a:ext cx="11296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F1E9F9-E9A1-46A9-B466-59AD1C0D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243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Conduct simulation/usability testing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C69E6E-3B87-498F-9290-2A11C355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243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September 1-November 15, 2026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D90967-D769-4DBE-B136-E63BFB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337" y="3962400"/>
            <a:ext cx="277257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BAB351-BC2D-432A-97BE-4E8B2DD0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11296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2D7AE5-A7FB-495F-8594-87E86D53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7672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Analyze quantitative and qualitative feedback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C0DC05-CACF-451C-9E19-D631A011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76725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September 1-November 15, 2026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94721F-E9B5-49E0-909C-C01498E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337" y="4314825"/>
            <a:ext cx="277257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0A5102-2EF3-473F-8FBC-7E136A82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81525"/>
            <a:ext cx="11296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FF52E6-72EC-436A-AE7D-89584DA2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Recruit participants after IRB approval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569D34-C860-4EDF-A439-4D103C03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291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September 21-October 15, 2026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F291D8-0BEA-47CF-8881-2BF058A8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691" y="4667250"/>
            <a:ext cx="88722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5044D2-675B-4182-A658-26A261FF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11296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97DDC3-CC5A-42C3-A30C-97598389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1575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Revise tool based on findings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5F3A5C-369D-4778-99F2-CC0D0C88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81575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October 1-November 15, 2026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405A46-7541-498A-AE46-045B965E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367" y="5019675"/>
            <a:ext cx="166354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D77BA6-ACB2-402F-8E7F-C30BC4DB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86375"/>
            <a:ext cx="11296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250C2C-BAD0-47DC-9F82-1000EA54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Complete final paper, presentation, and dissemination plan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F66B73-4C91-4C3D-B0B2-DDF3919D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340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Capstone presentation due date, 2026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D0FE72-2050-4D8A-9FC1-6D3C1030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879" y="5372100"/>
            <a:ext cx="147871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E10B4B-781D-4232-9DEC-596C4BC1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Note: the final paper, presentation, and dissemination plan close on the assigned Capstone presentation due date in 2026.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15A3C12-08DC-4C2D-B67E-3DE840DC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341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3</a:t>
            </a:r>
          </a:p>
        </p:txBody>
      </p:sp>
    </p:spTree>
    <p:extLst>
      <p:ext uri="{BB962C8B-B14F-4D97-AF65-F5344CB8AC3E}">
        <p14:creationId xmlns:p14="http://schemas.microsoft.com/office/powerpoint/2010/main" val="810444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C66861-C742-4453-91A8-67B04948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802C0-A266-4EDE-A90A-59D84332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IRB Determination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44A7E-4A22-455F-A710-48D699F5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DDA73-3004-4E90-8FD1-454B1057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Anticipated determination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7C67D-7FE3-4DF3-BBAF-780A227E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857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Educational quality improvement / evidence-based practice project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No protected health information collected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No clinical intervention or patient assignment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6CCAC-2444-4FD6-998B-0B98321C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Required documentation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E4D43-6A4B-4CEA-BCFE-91E2ABB0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857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Submit school or institutional IRB screening form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Maintain faculty approval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Use de-identified usability and confidence feedback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Store responses securely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30FDA-7FBD-4379-9A62-ACD058EC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76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Final wording should be updated to match the official IRB or program determination once received.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327D6-1A3C-49EC-A5D0-1B12813A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341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4</a:t>
            </a:r>
          </a:p>
        </p:txBody>
      </p:sp>
    </p:spTree>
    <p:extLst>
      <p:ext uri="{BB962C8B-B14F-4D97-AF65-F5344CB8AC3E}">
        <p14:creationId xmlns:p14="http://schemas.microsoft.com/office/powerpoint/2010/main" val="494468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7A234-B69E-4D9C-B822-424E121F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Appendix 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400E4-7DB1-4DE5-8DB1-302C6543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Data Collection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1907D-C5FB-4A22-8628-A74FB868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54B31-8904-4EB5-9622-F73B7666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Tool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94A3B-C199-461C-8B50-6237CF5F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Calculation accuracy checklist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Scenario completion time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Observed input or navigation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DB77F-9184-4AD6-B1A4-D3DAB9C7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33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User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C8817-B05C-4715-8FA5-3011195F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System Usability Scale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Confidence rating before / after use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Open-ended feedback prompts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7DE03-768A-4348-B430-8A4DB1AB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33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Workload and simulation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0E472-EF96-4D26-9863-F3CF155D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238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NASA-TLX or brief workload rating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Mobile usability notes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Instructor / preceptor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C5082-ABC7-49EB-80D7-9C904CC4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Data sources align with the project question: accuracy, workflow efficiency, usability, cognitive load, and learner confidence.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84D34-C321-4E19-8574-45ABC39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3412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CPB Perfusion Tool Appendix | 5</a:t>
            </a:r>
          </a:p>
        </p:txBody>
      </p:sp>
    </p:spTree>
    <p:extLst>
      <p:ext uri="{BB962C8B-B14F-4D97-AF65-F5344CB8AC3E}">
        <p14:creationId xmlns:p14="http://schemas.microsoft.com/office/powerpoint/2010/main" val="403498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2026-07-30T23:29:47.2210000Z</dcterms:created>
  <dcterms:modified xsi:type="dcterms:W3CDTF">2026-07-30T23:29:47.2220000Z</dcterms:modified>
</coreProperties>
</file>