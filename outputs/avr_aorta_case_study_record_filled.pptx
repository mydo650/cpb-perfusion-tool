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93/eurheartj/ehab395" TargetMode="External"/><Relationship Id="rId2" Type="http://schemas.openxmlformats.org/officeDocument/2006/relationships/hyperlink" Target="https://doi.org/10.1016/j.jacc.2022.08.004" TargetMode="External"/><Relationship Id="rId1" Type="http://schemas.openxmlformats.org/officeDocument/2006/relationships/slideLayout" Target="../slideLayouts/slideLayout1.xml"/><Relationship Id="rId4" Type="http://schemas.openxmlformats.org/officeDocument/2006/relationships/hyperlink" Target="https://doi.org/10.1093/ejcts/ezae35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AB70579-B679-4A9A-9EB0-6294AD4205AD}"/>
              </a:ext>
            </a:extLst>
          </p:cNvPr>
          <p:cNvSpPr>
            <a:spLocks noGrp="1"/>
          </p:cNvSpPr>
          <p:nvPr/>
        </p:nvSpPr>
        <p:spPr>
          <a:xfrm>
            <a:off x="0" y="0"/>
            <a:ext cx="171450" cy="6858000"/>
          </a:xfrm>
          <a:prstGeom prst="rect">
            <a:avLst/>
          </a:prstGeom>
          <a:solidFill>
            <a:srgbClr val="A33B3B"/>
          </a:solidFill>
          <a:ln w="0">
            <a:noFill/>
            <a:prstDash val="solid"/>
          </a:ln>
        </p:spPr>
        <p:txBody>
          <a:bodyPr/>
          <a:lstStyle/>
          <a:p>
            <a:endParaRPr lang="en-US"/>
          </a:p>
        </p:txBody>
      </p:sp>
      <p:sp>
        <p:nvSpPr>
          <p:cNvPr id="3" name="text">
            <a:extLst>
              <a:ext uri="{FF2B5EF4-FFF2-40B4-BE49-F238E27FC236}">
                <a16:creationId xmlns:a16="http://schemas.microsoft.com/office/drawing/2014/main" id="{05B1AC29-4834-4542-B34D-DFDB5284E368}"/>
              </a:ext>
            </a:extLst>
          </p:cNvPr>
          <p:cNvSpPr>
            <a:spLocks noGrp="1"/>
          </p:cNvSpPr>
          <p:nvPr/>
        </p:nvSpPr>
        <p:spPr>
          <a:xfrm>
            <a:off x="1040991" y="1717265"/>
            <a:ext cx="10287000" cy="2140360"/>
          </a:xfrm>
          <a:prstGeom prst="rect">
            <a:avLst/>
          </a:prstGeom>
          <a:noFill/>
          <a:ln w="0">
            <a:noFill/>
            <a:prstDash val="solid"/>
          </a:ln>
        </p:spPr>
        <p:txBody>
          <a:bodyPr anchor="t"/>
          <a:lstStyle/>
          <a:p>
            <a:pPr algn="ctr">
              <a:buNone/>
              <a:defRPr sz="4050" b="1">
                <a:solidFill>
                  <a:srgbClr val="FFFFFF"/>
                </a:solidFill>
              </a:defRPr>
            </a:pPr>
            <a:r>
              <a:rPr sz="4200" b="1" dirty="0">
                <a:solidFill>
                  <a:srgbClr val="FFFFFF"/>
                </a:solidFill>
              </a:rPr>
              <a:t>AVR with </a:t>
            </a:r>
            <a:r>
              <a:rPr lang="en-US" sz="4200" b="1" dirty="0">
                <a:solidFill>
                  <a:srgbClr val="FFFFFF"/>
                </a:solidFill>
              </a:rPr>
              <a:t>A</a:t>
            </a:r>
            <a:r>
              <a:rPr sz="4200" b="1" dirty="0">
                <a:solidFill>
                  <a:srgbClr val="FFFFFF"/>
                </a:solidFill>
              </a:rPr>
              <a:t>scending </a:t>
            </a:r>
            <a:r>
              <a:rPr lang="en-US" sz="4200" b="1" dirty="0">
                <a:solidFill>
                  <a:srgbClr val="FFFFFF"/>
                </a:solidFill>
              </a:rPr>
              <a:t>A</a:t>
            </a:r>
            <a:r>
              <a:rPr sz="4200" b="1" dirty="0">
                <a:solidFill>
                  <a:srgbClr val="FFFFFF"/>
                </a:solidFill>
              </a:rPr>
              <a:t>ortic </a:t>
            </a:r>
            <a:r>
              <a:rPr lang="en-US" sz="4200" b="1" dirty="0">
                <a:solidFill>
                  <a:srgbClr val="FFFFFF"/>
                </a:solidFill>
              </a:rPr>
              <a:t>and Arch R</a:t>
            </a:r>
            <a:r>
              <a:rPr sz="4200" b="1" dirty="0">
                <a:solidFill>
                  <a:srgbClr val="FFFFFF"/>
                </a:solidFill>
              </a:rPr>
              <a:t>eplacement</a:t>
            </a:r>
            <a:r>
              <a:rPr lang="en-US" sz="4200" b="1" dirty="0">
                <a:solidFill>
                  <a:srgbClr val="FFFFFF"/>
                </a:solidFill>
              </a:rPr>
              <a:t> under Circulatory Arrest</a:t>
            </a:r>
            <a:endParaRPr sz="4200" b="1" dirty="0">
              <a:solidFill>
                <a:srgbClr val="FFFFFF"/>
              </a:solidFill>
            </a:endParaRPr>
          </a:p>
        </p:txBody>
      </p:sp>
      <p:sp>
        <p:nvSpPr>
          <p:cNvPr id="4" name="text">
            <a:extLst>
              <a:ext uri="{FF2B5EF4-FFF2-40B4-BE49-F238E27FC236}">
                <a16:creationId xmlns:a16="http://schemas.microsoft.com/office/drawing/2014/main" id="{C8B78A7E-0EF6-4513-AE83-0F86457B1527}"/>
              </a:ext>
            </a:extLst>
          </p:cNvPr>
          <p:cNvSpPr>
            <a:spLocks noGrp="1"/>
          </p:cNvSpPr>
          <p:nvPr/>
        </p:nvSpPr>
        <p:spPr>
          <a:xfrm>
            <a:off x="1428750" y="3429000"/>
            <a:ext cx="9334500" cy="857250"/>
          </a:xfrm>
          <a:prstGeom prst="rect">
            <a:avLst/>
          </a:prstGeom>
          <a:noFill/>
          <a:ln w="0">
            <a:noFill/>
            <a:prstDash val="solid"/>
          </a:ln>
        </p:spPr>
        <p:txBody>
          <a:bodyPr anchor="t"/>
          <a:lstStyle/>
          <a:p>
            <a:pPr algn="ctr">
              <a:buNone/>
              <a:defRPr sz="1950" b="0">
                <a:solidFill>
                  <a:srgbClr val="D8E8EE"/>
                </a:solidFill>
              </a:defRPr>
            </a:pPr>
            <a:r>
              <a:rPr lang="en-US" sz="1950" dirty="0">
                <a:solidFill>
                  <a:srgbClr val="D8E8EE"/>
                </a:solidFill>
              </a:rPr>
              <a:t>Sydney Lias</a:t>
            </a:r>
          </a:p>
          <a:p>
            <a:pPr algn="ctr">
              <a:buNone/>
              <a:defRPr sz="1950" b="0">
                <a:solidFill>
                  <a:srgbClr val="D8E8EE"/>
                </a:solidFill>
              </a:defRPr>
            </a:pPr>
            <a:r>
              <a:rPr lang="en-US" sz="1950" dirty="0">
                <a:solidFill>
                  <a:srgbClr val="D8E8EE"/>
                </a:solidFill>
              </a:rPr>
              <a:t>CVP 611 Clinical Applications II</a:t>
            </a:r>
          </a:p>
          <a:p>
            <a:pPr algn="ctr">
              <a:buNone/>
              <a:defRPr sz="1950" b="0">
                <a:solidFill>
                  <a:srgbClr val="D8E8EE"/>
                </a:solidFill>
              </a:defRPr>
            </a:pPr>
            <a:r>
              <a:rPr lang="en-US" sz="1950" b="0" dirty="0">
                <a:solidFill>
                  <a:srgbClr val="D8E8EE"/>
                </a:solidFill>
              </a:rPr>
              <a:t>7/15/2026</a:t>
            </a:r>
            <a:endParaRPr sz="1950" b="0" dirty="0">
              <a:solidFill>
                <a:srgbClr val="D8E8EE"/>
              </a:solidFill>
            </a:endParaRPr>
          </a:p>
        </p:txBody>
      </p:sp>
    </p:spTree>
    <p:extLst>
      <p:ext uri="{BB962C8B-B14F-4D97-AF65-F5344CB8AC3E}">
        <p14:creationId xmlns:p14="http://schemas.microsoft.com/office/powerpoint/2010/main" val="942112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8E734D0D-EF3C-47D2-9545-282AB1A8BF57}"/>
              </a:ext>
            </a:extLst>
          </p:cNvPr>
          <p:cNvSpPr>
            <a:spLocks noGrp="1"/>
          </p:cNvSpPr>
          <p:nvPr/>
        </p:nvSpPr>
        <p:spPr>
          <a:xfrm>
            <a:off x="457200" y="323850"/>
            <a:ext cx="11277600" cy="590550"/>
          </a:xfrm>
          <a:prstGeom prst="rect">
            <a:avLst/>
          </a:prstGeom>
          <a:noFill/>
          <a:ln w="0">
            <a:noFill/>
            <a:prstDash val="solid"/>
          </a:ln>
        </p:spPr>
        <p:txBody>
          <a:bodyPr anchor="t"/>
          <a:lstStyle/>
          <a:p>
            <a:pPr algn="ctr">
              <a:buNone/>
              <a:defRPr sz="2850" b="1">
                <a:solidFill>
                  <a:srgbClr val="123047"/>
                </a:solidFill>
              </a:defRPr>
            </a:pPr>
            <a:r>
              <a:rPr sz="4000" b="1" dirty="0">
                <a:solidFill>
                  <a:srgbClr val="123047"/>
                </a:solidFill>
              </a:rPr>
              <a:t>Abstract</a:t>
            </a:r>
          </a:p>
        </p:txBody>
      </p:sp>
      <p:sp>
        <p:nvSpPr>
          <p:cNvPr id="3" name="Rectangle: Rounded Corners 2">
            <a:extLst>
              <a:ext uri="{FF2B5EF4-FFF2-40B4-BE49-F238E27FC236}">
                <a16:creationId xmlns:a16="http://schemas.microsoft.com/office/drawing/2014/main" id="{95940E04-3210-44A4-B83E-60D78ABC5C8F}"/>
              </a:ext>
            </a:extLst>
          </p:cNvPr>
          <p:cNvSpPr>
            <a:spLocks noGrp="1"/>
          </p:cNvSpPr>
          <p:nvPr/>
        </p:nvSpPr>
        <p:spPr>
          <a:xfrm>
            <a:off x="457200" y="1638300"/>
            <a:ext cx="5334000" cy="4000500"/>
          </a:xfrm>
          <a:prstGeom prst="roundRect">
            <a:avLst>
              <a:gd name="adj" fmla="val 2857"/>
            </a:avLst>
          </a:prstGeom>
          <a:solidFill>
            <a:srgbClr val="EEF4F6"/>
          </a:solidFill>
          <a:ln w="0">
            <a:noFill/>
            <a:prstDash val="solid"/>
          </a:ln>
        </p:spPr>
        <p:txBody>
          <a:bodyPr/>
          <a:lstStyle/>
          <a:p>
            <a:endParaRPr lang="en-US"/>
          </a:p>
        </p:txBody>
      </p:sp>
      <p:sp>
        <p:nvSpPr>
          <p:cNvPr id="4" name="text">
            <a:extLst>
              <a:ext uri="{FF2B5EF4-FFF2-40B4-BE49-F238E27FC236}">
                <a16:creationId xmlns:a16="http://schemas.microsoft.com/office/drawing/2014/main" id="{E4DF1871-A806-409E-ACC1-69E866EEFCA8}"/>
              </a:ext>
            </a:extLst>
          </p:cNvPr>
          <p:cNvSpPr>
            <a:spLocks noGrp="1"/>
          </p:cNvSpPr>
          <p:nvPr/>
        </p:nvSpPr>
        <p:spPr>
          <a:xfrm>
            <a:off x="742950" y="1952625"/>
            <a:ext cx="1714500" cy="304800"/>
          </a:xfrm>
          <a:prstGeom prst="rect">
            <a:avLst/>
          </a:prstGeom>
          <a:noFill/>
          <a:ln w="0">
            <a:noFill/>
            <a:prstDash val="solid"/>
          </a:ln>
        </p:spPr>
        <p:txBody>
          <a:bodyPr anchor="t"/>
          <a:lstStyle/>
          <a:p>
            <a:pPr algn="l">
              <a:buNone/>
              <a:defRPr sz="1800" b="1">
                <a:solidFill>
                  <a:srgbClr val="A33B3B"/>
                </a:solidFill>
              </a:defRPr>
            </a:pPr>
            <a:r>
              <a:rPr sz="1800" b="1">
                <a:solidFill>
                  <a:srgbClr val="A33B3B"/>
                </a:solidFill>
              </a:rPr>
              <a:t>Case</a:t>
            </a:r>
          </a:p>
        </p:txBody>
      </p:sp>
      <p:sp>
        <p:nvSpPr>
          <p:cNvPr id="5" name="text">
            <a:extLst>
              <a:ext uri="{FF2B5EF4-FFF2-40B4-BE49-F238E27FC236}">
                <a16:creationId xmlns:a16="http://schemas.microsoft.com/office/drawing/2014/main" id="{6D95EC93-4FA8-41ED-AC8A-A9B4538D209C}"/>
              </a:ext>
            </a:extLst>
          </p:cNvPr>
          <p:cNvSpPr>
            <a:spLocks noGrp="1"/>
          </p:cNvSpPr>
          <p:nvPr/>
        </p:nvSpPr>
        <p:spPr>
          <a:xfrm>
            <a:off x="742950" y="2419350"/>
            <a:ext cx="4572000" cy="2381250"/>
          </a:xfrm>
          <a:prstGeom prst="rect">
            <a:avLst/>
          </a:prstGeom>
          <a:noFill/>
          <a:ln w="0">
            <a:noFill/>
            <a:prstDash val="solid"/>
          </a:ln>
        </p:spPr>
        <p:txBody>
          <a:bodyPr anchor="t"/>
          <a:lstStyle/>
          <a:p>
            <a:pPr algn="l">
              <a:buNone/>
              <a:defRPr sz="1800" b="0">
                <a:solidFill>
                  <a:srgbClr val="172026"/>
                </a:solidFill>
              </a:defRPr>
            </a:pPr>
            <a:r>
              <a:rPr sz="1800" b="0">
                <a:solidFill>
                  <a:srgbClr val="172026"/>
                </a:solidFill>
              </a:rPr>
              <a:t>Combined mechanical aortic valve replacement, ascending aortic grafting and subaortic membrane resection. Femoral and axillary cannulation enabled CPB cooling to 28 °C before the chest incision.</a:t>
            </a:r>
          </a:p>
        </p:txBody>
      </p:sp>
      <p:sp>
        <p:nvSpPr>
          <p:cNvPr id="6" name="Rectangle: Rounded Corners 5">
            <a:extLst>
              <a:ext uri="{FF2B5EF4-FFF2-40B4-BE49-F238E27FC236}">
                <a16:creationId xmlns:a16="http://schemas.microsoft.com/office/drawing/2014/main" id="{AFC2E4B8-04FD-4C17-999E-B5F53D457EA4}"/>
              </a:ext>
            </a:extLst>
          </p:cNvPr>
          <p:cNvSpPr>
            <a:spLocks noGrp="1"/>
          </p:cNvSpPr>
          <p:nvPr/>
        </p:nvSpPr>
        <p:spPr>
          <a:xfrm>
            <a:off x="5848350" y="1628775"/>
            <a:ext cx="5600700" cy="4000500"/>
          </a:xfrm>
          <a:prstGeom prst="roundRect">
            <a:avLst>
              <a:gd name="adj" fmla="val 2857"/>
            </a:avLst>
          </a:prstGeom>
          <a:solidFill>
            <a:srgbClr val="F7F3EB"/>
          </a:solidFill>
          <a:ln w="0">
            <a:noFill/>
            <a:prstDash val="solid"/>
          </a:ln>
        </p:spPr>
        <p:txBody>
          <a:bodyPr/>
          <a:lstStyle/>
          <a:p>
            <a:endParaRPr lang="en-US"/>
          </a:p>
        </p:txBody>
      </p:sp>
      <p:sp>
        <p:nvSpPr>
          <p:cNvPr id="7" name="text">
            <a:extLst>
              <a:ext uri="{FF2B5EF4-FFF2-40B4-BE49-F238E27FC236}">
                <a16:creationId xmlns:a16="http://schemas.microsoft.com/office/drawing/2014/main" id="{F46A4855-317E-4D8E-823C-60D6B5B56950}"/>
              </a:ext>
            </a:extLst>
          </p:cNvPr>
          <p:cNvSpPr>
            <a:spLocks noGrp="1"/>
          </p:cNvSpPr>
          <p:nvPr/>
        </p:nvSpPr>
        <p:spPr>
          <a:xfrm>
            <a:off x="6438900" y="1952625"/>
            <a:ext cx="1714500" cy="304800"/>
          </a:xfrm>
          <a:prstGeom prst="rect">
            <a:avLst/>
          </a:prstGeom>
          <a:noFill/>
          <a:ln w="0">
            <a:noFill/>
            <a:prstDash val="solid"/>
          </a:ln>
        </p:spPr>
        <p:txBody>
          <a:bodyPr anchor="t"/>
          <a:lstStyle/>
          <a:p>
            <a:pPr algn="l">
              <a:buNone/>
              <a:defRPr sz="1800" b="1">
                <a:solidFill>
                  <a:srgbClr val="C69C4B"/>
                </a:solidFill>
              </a:defRPr>
            </a:pPr>
            <a:r>
              <a:rPr sz="1800" b="1">
                <a:solidFill>
                  <a:srgbClr val="C69C4B"/>
                </a:solidFill>
              </a:rPr>
              <a:t>Result</a:t>
            </a:r>
          </a:p>
        </p:txBody>
      </p:sp>
      <p:sp>
        <p:nvSpPr>
          <p:cNvPr id="8" name="text">
            <a:extLst>
              <a:ext uri="{FF2B5EF4-FFF2-40B4-BE49-F238E27FC236}">
                <a16:creationId xmlns:a16="http://schemas.microsoft.com/office/drawing/2014/main" id="{C191845F-253F-498B-B07B-694047F0512A}"/>
              </a:ext>
            </a:extLst>
          </p:cNvPr>
          <p:cNvSpPr>
            <a:spLocks noGrp="1"/>
          </p:cNvSpPr>
          <p:nvPr/>
        </p:nvSpPr>
        <p:spPr>
          <a:xfrm>
            <a:off x="6438900" y="2419350"/>
            <a:ext cx="4762500" cy="2095500"/>
          </a:xfrm>
          <a:prstGeom prst="rect">
            <a:avLst/>
          </a:prstGeom>
          <a:noFill/>
          <a:ln w="0">
            <a:noFill/>
            <a:prstDash val="solid"/>
          </a:ln>
        </p:spPr>
        <p:txBody>
          <a:bodyPr anchor="t"/>
          <a:lstStyle/>
          <a:p>
            <a:pPr algn="l">
              <a:buNone/>
              <a:defRPr sz="1800" b="0">
                <a:solidFill>
                  <a:srgbClr val="172026"/>
                </a:solidFill>
              </a:defRPr>
            </a:pPr>
            <a:r>
              <a:rPr sz="1800" b="0" dirty="0">
                <a:solidFill>
                  <a:srgbClr val="172026"/>
                </a:solidFill>
              </a:rPr>
              <a:t>Reported separation from bypass was successful. CPB time was 100 minutes, aortic cross-clamp time 55 minutes and circulatory arrest time </a:t>
            </a:r>
            <a:r>
              <a:rPr lang="en-US" dirty="0">
                <a:solidFill>
                  <a:srgbClr val="172026"/>
                </a:solidFill>
              </a:rPr>
              <a:t>12</a:t>
            </a:r>
            <a:r>
              <a:rPr sz="1800" b="0" dirty="0">
                <a:solidFill>
                  <a:srgbClr val="172026"/>
                </a:solidFill>
              </a:rPr>
              <a:t> minutes.</a:t>
            </a:r>
          </a:p>
        </p:txBody>
      </p:sp>
      <p:sp>
        <p:nvSpPr>
          <p:cNvPr id="9" name="text">
            <a:extLst>
              <a:ext uri="{FF2B5EF4-FFF2-40B4-BE49-F238E27FC236}">
                <a16:creationId xmlns:a16="http://schemas.microsoft.com/office/drawing/2014/main" id="{AA849D7B-1CC6-4757-B805-D5FEEC9D603B}"/>
              </a:ext>
            </a:extLst>
          </p:cNvPr>
          <p:cNvSpPr>
            <a:spLocks noGrp="1"/>
          </p:cNvSpPr>
          <p:nvPr/>
        </p:nvSpPr>
        <p:spPr>
          <a:xfrm>
            <a:off x="6350410" y="3836424"/>
            <a:ext cx="1619250" cy="266700"/>
          </a:xfrm>
          <a:prstGeom prst="rect">
            <a:avLst/>
          </a:prstGeom>
          <a:noFill/>
          <a:ln w="0">
            <a:noFill/>
            <a:prstDash val="solid"/>
          </a:ln>
        </p:spPr>
        <p:txBody>
          <a:bodyPr anchor="t"/>
          <a:lstStyle/>
          <a:p>
            <a:pPr algn="l">
              <a:buNone/>
              <a:defRPr sz="1425" b="1">
                <a:solidFill>
                  <a:srgbClr val="123047"/>
                </a:solidFill>
              </a:defRPr>
            </a:pPr>
            <a:r>
              <a:rPr sz="1425" b="1" dirty="0">
                <a:solidFill>
                  <a:srgbClr val="123047"/>
                </a:solidFill>
              </a:rPr>
              <a:t>Central lesson</a:t>
            </a:r>
          </a:p>
        </p:txBody>
      </p:sp>
      <p:sp>
        <p:nvSpPr>
          <p:cNvPr id="10" name="text">
            <a:extLst>
              <a:ext uri="{FF2B5EF4-FFF2-40B4-BE49-F238E27FC236}">
                <a16:creationId xmlns:a16="http://schemas.microsoft.com/office/drawing/2014/main" id="{196C91D9-E83B-4A6B-AA82-92B0D40B043B}"/>
              </a:ext>
            </a:extLst>
          </p:cNvPr>
          <p:cNvSpPr>
            <a:spLocks noGrp="1"/>
          </p:cNvSpPr>
          <p:nvPr/>
        </p:nvSpPr>
        <p:spPr>
          <a:xfrm>
            <a:off x="6315075" y="4207899"/>
            <a:ext cx="4667250" cy="476250"/>
          </a:xfrm>
          <a:prstGeom prst="rect">
            <a:avLst/>
          </a:prstGeom>
          <a:noFill/>
          <a:ln w="0">
            <a:noFill/>
            <a:prstDash val="solid"/>
          </a:ln>
        </p:spPr>
        <p:txBody>
          <a:bodyPr anchor="t"/>
          <a:lstStyle/>
          <a:p>
            <a:pPr algn="l">
              <a:buNone/>
              <a:defRPr sz="1500" b="0">
                <a:solidFill>
                  <a:srgbClr val="56636B"/>
                </a:solidFill>
              </a:defRPr>
            </a:pPr>
            <a:r>
              <a:rPr sz="1500" b="0" dirty="0">
                <a:solidFill>
                  <a:srgbClr val="56636B"/>
                </a:solidFill>
              </a:rPr>
              <a:t>Peripheral access created a controlled path to </a:t>
            </a:r>
            <a:r>
              <a:rPr lang="en-US" sz="1500" b="0" dirty="0">
                <a:solidFill>
                  <a:srgbClr val="56636B"/>
                </a:solidFill>
              </a:rPr>
              <a:t>opening the chest by </a:t>
            </a:r>
            <a:r>
              <a:rPr sz="1500" b="0" dirty="0">
                <a:solidFill>
                  <a:srgbClr val="56636B"/>
                </a:solidFill>
              </a:rPr>
              <a:t>cooling, cerebral protection and definitive repair.</a:t>
            </a:r>
          </a:p>
        </p:txBody>
      </p:sp>
      <p:sp>
        <p:nvSpPr>
          <p:cNvPr id="11" name="source">
            <a:extLst>
              <a:ext uri="{FF2B5EF4-FFF2-40B4-BE49-F238E27FC236}">
                <a16:creationId xmlns:a16="http://schemas.microsoft.com/office/drawing/2014/main" id="{AF4A190A-AD68-40DC-B18A-ADCF7EADC5EA}"/>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2" name="slide-number">
            <a:extLst>
              <a:ext uri="{FF2B5EF4-FFF2-40B4-BE49-F238E27FC236}">
                <a16:creationId xmlns:a16="http://schemas.microsoft.com/office/drawing/2014/main" id="{AD763E1F-D4BF-4D3D-949B-6297D3497250}"/>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2</a:t>
            </a:r>
          </a:p>
        </p:txBody>
      </p:sp>
    </p:spTree>
    <p:extLst>
      <p:ext uri="{BB962C8B-B14F-4D97-AF65-F5344CB8AC3E}">
        <p14:creationId xmlns:p14="http://schemas.microsoft.com/office/powerpoint/2010/main" val="1112309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title">
            <a:extLst>
              <a:ext uri="{FF2B5EF4-FFF2-40B4-BE49-F238E27FC236}">
                <a16:creationId xmlns:a16="http://schemas.microsoft.com/office/drawing/2014/main" id="{6575E804-E202-4D5D-B8BD-2E019E4ED36D}"/>
              </a:ext>
            </a:extLst>
          </p:cNvPr>
          <p:cNvSpPr>
            <a:spLocks noGrp="1"/>
          </p:cNvSpPr>
          <p:nvPr/>
        </p:nvSpPr>
        <p:spPr>
          <a:xfrm>
            <a:off x="457200" y="323850"/>
            <a:ext cx="11277600" cy="590550"/>
          </a:xfrm>
          <a:prstGeom prst="rect">
            <a:avLst/>
          </a:prstGeom>
          <a:noFill/>
          <a:ln w="0">
            <a:noFill/>
            <a:prstDash val="solid"/>
          </a:ln>
        </p:spPr>
        <p:txBody>
          <a:bodyPr anchor="t"/>
          <a:lstStyle/>
          <a:p>
            <a:pPr algn="ctr">
              <a:buNone/>
              <a:defRPr sz="2850" b="1">
                <a:solidFill>
                  <a:srgbClr val="123047"/>
                </a:solidFill>
              </a:defRPr>
            </a:pPr>
            <a:r>
              <a:rPr lang="en-US" sz="2850" b="1" dirty="0">
                <a:solidFill>
                  <a:srgbClr val="123047"/>
                </a:solidFill>
              </a:rPr>
              <a:t>Background of Patient</a:t>
            </a:r>
            <a:endParaRPr sz="2850" b="1" dirty="0">
              <a:solidFill>
                <a:srgbClr val="123047"/>
              </a:solidFill>
            </a:endParaRPr>
          </a:p>
        </p:txBody>
      </p:sp>
      <p:sp>
        <p:nvSpPr>
          <p:cNvPr id="2" name="Rectangle: Rounded Corners 1">
            <a:extLst>
              <a:ext uri="{FF2B5EF4-FFF2-40B4-BE49-F238E27FC236}">
                <a16:creationId xmlns:a16="http://schemas.microsoft.com/office/drawing/2014/main" id="{05C5B0D4-3F2F-4E6B-908A-6790733228FF}"/>
              </a:ext>
            </a:extLst>
          </p:cNvPr>
          <p:cNvSpPr>
            <a:spLocks noGrp="1"/>
          </p:cNvSpPr>
          <p:nvPr/>
        </p:nvSpPr>
        <p:spPr>
          <a:xfrm>
            <a:off x="1476375" y="1147302"/>
            <a:ext cx="9620249" cy="4630993"/>
          </a:xfrm>
          <a:prstGeom prst="roundRect">
            <a:avLst>
              <a:gd name="adj" fmla="val 2778"/>
            </a:avLst>
          </a:prstGeom>
          <a:solidFill>
            <a:srgbClr val="EEF4F6"/>
          </a:solidFill>
          <a:ln w="0">
            <a:noFill/>
            <a:prstDash val="solid"/>
          </a:ln>
        </p:spPr>
        <p:txBody>
          <a:bodyPr/>
          <a:lstStyle/>
          <a:p>
            <a:r>
              <a:rPr lang="en-US" sz="2500" dirty="0"/>
              <a:t>The patient is a 55-year-old woman with a complex congenital and surgical cardiac history, including prior ventricular septal defect (VSD) repair, aortic valve repair, septal myectomy, and subaortic membrane resection. She later developed recurrent subaortic membrane formation, severe torrential aortic insufficiency, and a 5-cm ascending aortic aneurysm. She presented with worsening shortness of breath and fatigue, prompting evaluation for redo cardiac surgery. Preoperative imaging demonstrated preserved left ventricular systolic function, a heavily calcified bicuspid aortic valve, ascending aorta stuck to the back of the sternum, and no obstructive coronary artery disease.</a:t>
            </a:r>
          </a:p>
        </p:txBody>
      </p:sp>
      <p:sp>
        <p:nvSpPr>
          <p:cNvPr id="17" name="text">
            <a:extLst>
              <a:ext uri="{FF2B5EF4-FFF2-40B4-BE49-F238E27FC236}">
                <a16:creationId xmlns:a16="http://schemas.microsoft.com/office/drawing/2014/main" id="{CA91DB67-2BED-49C9-9900-813CA7B5BBB7}"/>
              </a:ext>
            </a:extLst>
          </p:cNvPr>
          <p:cNvSpPr>
            <a:spLocks noGrp="1"/>
          </p:cNvSpPr>
          <p:nvPr/>
        </p:nvSpPr>
        <p:spPr>
          <a:xfrm>
            <a:off x="6286500" y="1885950"/>
            <a:ext cx="4857750" cy="342900"/>
          </a:xfrm>
          <a:prstGeom prst="rect">
            <a:avLst/>
          </a:prstGeom>
          <a:noFill/>
          <a:ln w="0">
            <a:noFill/>
            <a:prstDash val="solid"/>
          </a:ln>
        </p:spPr>
        <p:txBody>
          <a:bodyPr anchor="t"/>
          <a:lstStyle/>
          <a:p>
            <a:pPr algn="l">
              <a:buNone/>
              <a:defRPr sz="1800" b="1">
                <a:solidFill>
                  <a:srgbClr val="A33B3B"/>
                </a:solidFill>
              </a:defRPr>
            </a:pPr>
            <a:endParaRPr sz="1800" b="1" dirty="0">
              <a:solidFill>
                <a:srgbClr val="A33B3B"/>
              </a:solidFill>
            </a:endParaRPr>
          </a:p>
        </p:txBody>
      </p:sp>
      <p:sp>
        <p:nvSpPr>
          <p:cNvPr id="30" name="source">
            <a:extLst>
              <a:ext uri="{FF2B5EF4-FFF2-40B4-BE49-F238E27FC236}">
                <a16:creationId xmlns:a16="http://schemas.microsoft.com/office/drawing/2014/main" id="{66F38FF8-1167-45EF-8144-19213E2B2E65}"/>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31" name="slide-number">
            <a:extLst>
              <a:ext uri="{FF2B5EF4-FFF2-40B4-BE49-F238E27FC236}">
                <a16:creationId xmlns:a16="http://schemas.microsoft.com/office/drawing/2014/main" id="{2CC4E328-EE3B-4F91-9FD9-98C066A97508}"/>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3</a:t>
            </a:r>
          </a:p>
        </p:txBody>
      </p:sp>
    </p:spTree>
    <p:extLst>
      <p:ext uri="{BB962C8B-B14F-4D97-AF65-F5344CB8AC3E}">
        <p14:creationId xmlns:p14="http://schemas.microsoft.com/office/powerpoint/2010/main" val="352235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CC49060A-34BC-449C-9A2F-F6F15584018D}"/>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Three lesions were addressed through one arrested-heart strategy</a:t>
            </a:r>
          </a:p>
        </p:txBody>
      </p:sp>
      <p:sp>
        <p:nvSpPr>
          <p:cNvPr id="2" name="Rectangle: Rounded Corners 1">
            <a:extLst>
              <a:ext uri="{FF2B5EF4-FFF2-40B4-BE49-F238E27FC236}">
                <a16:creationId xmlns:a16="http://schemas.microsoft.com/office/drawing/2014/main" id="{22B99B54-EFA6-4C8A-93D7-3213EFED066F}"/>
              </a:ext>
            </a:extLst>
          </p:cNvPr>
          <p:cNvSpPr>
            <a:spLocks noGrp="1"/>
          </p:cNvSpPr>
          <p:nvPr/>
        </p:nvSpPr>
        <p:spPr>
          <a:xfrm>
            <a:off x="457200" y="1685925"/>
            <a:ext cx="3562350" cy="3857625"/>
          </a:xfrm>
          <a:prstGeom prst="roundRect">
            <a:avLst>
              <a:gd name="adj" fmla="val 3209"/>
            </a:avLst>
          </a:prstGeom>
          <a:solidFill>
            <a:srgbClr val="EEF4F6"/>
          </a:solidFill>
          <a:ln w="0">
            <a:noFill/>
            <a:prstDash val="solid"/>
          </a:ln>
        </p:spPr>
        <p:txBody>
          <a:bodyPr/>
          <a:lstStyle/>
          <a:p>
            <a:endParaRPr lang="en-US"/>
          </a:p>
        </p:txBody>
      </p:sp>
      <p:sp>
        <p:nvSpPr>
          <p:cNvPr id="3" name="text">
            <a:extLst>
              <a:ext uri="{FF2B5EF4-FFF2-40B4-BE49-F238E27FC236}">
                <a16:creationId xmlns:a16="http://schemas.microsoft.com/office/drawing/2014/main" id="{9D1DBE41-4CC1-4461-B6B2-18817E27496F}"/>
              </a:ext>
            </a:extLst>
          </p:cNvPr>
          <p:cNvSpPr>
            <a:spLocks noGrp="1"/>
          </p:cNvSpPr>
          <p:nvPr/>
        </p:nvSpPr>
        <p:spPr>
          <a:xfrm>
            <a:off x="723900" y="1943100"/>
            <a:ext cx="666750" cy="419100"/>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01</a:t>
            </a:r>
          </a:p>
        </p:txBody>
      </p:sp>
      <p:sp>
        <p:nvSpPr>
          <p:cNvPr id="4" name="text">
            <a:extLst>
              <a:ext uri="{FF2B5EF4-FFF2-40B4-BE49-F238E27FC236}">
                <a16:creationId xmlns:a16="http://schemas.microsoft.com/office/drawing/2014/main" id="{FFF9DAED-124D-4E92-B8E3-7915F472A243}"/>
              </a:ext>
            </a:extLst>
          </p:cNvPr>
          <p:cNvSpPr>
            <a:spLocks noGrp="1"/>
          </p:cNvSpPr>
          <p:nvPr/>
        </p:nvSpPr>
        <p:spPr>
          <a:xfrm>
            <a:off x="723900" y="2505075"/>
            <a:ext cx="2952750" cy="5905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Aortic valve</a:t>
            </a:r>
          </a:p>
        </p:txBody>
      </p:sp>
      <p:sp>
        <p:nvSpPr>
          <p:cNvPr id="5" name="text">
            <a:extLst>
              <a:ext uri="{FF2B5EF4-FFF2-40B4-BE49-F238E27FC236}">
                <a16:creationId xmlns:a16="http://schemas.microsoft.com/office/drawing/2014/main" id="{4C5E1409-8CF8-4824-A02C-DCBF75BE2577}"/>
              </a:ext>
            </a:extLst>
          </p:cNvPr>
          <p:cNvSpPr>
            <a:spLocks noGrp="1"/>
          </p:cNvSpPr>
          <p:nvPr/>
        </p:nvSpPr>
        <p:spPr>
          <a:xfrm>
            <a:off x="723900" y="3248025"/>
            <a:ext cx="2952750" cy="18097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Mechanical AVR restores competent valvular outflow. Mechanical prostheses generally require lifelong </a:t>
            </a:r>
            <a:r>
              <a:rPr lang="en-US" sz="1500" dirty="0">
                <a:solidFill>
                  <a:srgbClr val="172026"/>
                </a:solidFill>
              </a:rPr>
              <a:t>Warfarin for</a:t>
            </a:r>
            <a:r>
              <a:rPr sz="1500" b="0" dirty="0">
                <a:solidFill>
                  <a:srgbClr val="172026"/>
                </a:solidFill>
              </a:rPr>
              <a:t> anticoagulation.</a:t>
            </a:r>
          </a:p>
        </p:txBody>
      </p:sp>
      <p:sp>
        <p:nvSpPr>
          <p:cNvPr id="6" name="Rectangle: Rounded Corners 5">
            <a:extLst>
              <a:ext uri="{FF2B5EF4-FFF2-40B4-BE49-F238E27FC236}">
                <a16:creationId xmlns:a16="http://schemas.microsoft.com/office/drawing/2014/main" id="{59FFB29C-1E55-4AD9-90BA-9AB87C12D79B}"/>
              </a:ext>
            </a:extLst>
          </p:cNvPr>
          <p:cNvSpPr>
            <a:spLocks noGrp="1"/>
          </p:cNvSpPr>
          <p:nvPr/>
        </p:nvSpPr>
        <p:spPr>
          <a:xfrm>
            <a:off x="4314825" y="1685925"/>
            <a:ext cx="3562350" cy="3857625"/>
          </a:xfrm>
          <a:prstGeom prst="roundRect">
            <a:avLst>
              <a:gd name="adj" fmla="val 3209"/>
            </a:avLst>
          </a:prstGeom>
          <a:solidFill>
            <a:srgbClr val="F7F3EB"/>
          </a:solidFill>
          <a:ln w="0">
            <a:noFill/>
            <a:prstDash val="solid"/>
          </a:ln>
        </p:spPr>
        <p:txBody>
          <a:bodyPr/>
          <a:lstStyle/>
          <a:p>
            <a:endParaRPr lang="en-US"/>
          </a:p>
        </p:txBody>
      </p:sp>
      <p:sp>
        <p:nvSpPr>
          <p:cNvPr id="7" name="text">
            <a:extLst>
              <a:ext uri="{FF2B5EF4-FFF2-40B4-BE49-F238E27FC236}">
                <a16:creationId xmlns:a16="http://schemas.microsoft.com/office/drawing/2014/main" id="{6719B7C0-1D29-46D0-A930-8AF55DE6CAE2}"/>
              </a:ext>
            </a:extLst>
          </p:cNvPr>
          <p:cNvSpPr>
            <a:spLocks noGrp="1"/>
          </p:cNvSpPr>
          <p:nvPr/>
        </p:nvSpPr>
        <p:spPr>
          <a:xfrm>
            <a:off x="4581525" y="1943100"/>
            <a:ext cx="666750" cy="419100"/>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02</a:t>
            </a:r>
          </a:p>
        </p:txBody>
      </p:sp>
      <p:sp>
        <p:nvSpPr>
          <p:cNvPr id="8" name="text">
            <a:extLst>
              <a:ext uri="{FF2B5EF4-FFF2-40B4-BE49-F238E27FC236}">
                <a16:creationId xmlns:a16="http://schemas.microsoft.com/office/drawing/2014/main" id="{173B6428-A414-49CA-90A8-C9ABB0E2B78E}"/>
              </a:ext>
            </a:extLst>
          </p:cNvPr>
          <p:cNvSpPr>
            <a:spLocks noGrp="1"/>
          </p:cNvSpPr>
          <p:nvPr/>
        </p:nvSpPr>
        <p:spPr>
          <a:xfrm>
            <a:off x="4581525" y="2505075"/>
            <a:ext cx="2952750" cy="5905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Ascending aorta</a:t>
            </a:r>
          </a:p>
        </p:txBody>
      </p:sp>
      <p:sp>
        <p:nvSpPr>
          <p:cNvPr id="9" name="text">
            <a:extLst>
              <a:ext uri="{FF2B5EF4-FFF2-40B4-BE49-F238E27FC236}">
                <a16:creationId xmlns:a16="http://schemas.microsoft.com/office/drawing/2014/main" id="{0BB85EE6-1C2F-438E-93E9-7C259A5F3D15}"/>
              </a:ext>
            </a:extLst>
          </p:cNvPr>
          <p:cNvSpPr>
            <a:spLocks noGrp="1"/>
          </p:cNvSpPr>
          <p:nvPr/>
        </p:nvSpPr>
        <p:spPr>
          <a:xfrm>
            <a:off x="4581525" y="3248025"/>
            <a:ext cx="2952750" cy="18097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The diseased ascending segment is excised and replaced with a vascular graft</a:t>
            </a:r>
            <a:r>
              <a:rPr lang="en-US" sz="1500" dirty="0">
                <a:solidFill>
                  <a:srgbClr val="172026"/>
                </a:solidFill>
              </a:rPr>
              <a:t> along with the repair of the  base of the subclavian</a:t>
            </a:r>
            <a:endParaRPr sz="1500" b="0" dirty="0">
              <a:solidFill>
                <a:srgbClr val="172026"/>
              </a:solidFill>
            </a:endParaRPr>
          </a:p>
        </p:txBody>
      </p:sp>
      <p:sp>
        <p:nvSpPr>
          <p:cNvPr id="10" name="Rectangle: Rounded Corners 9">
            <a:extLst>
              <a:ext uri="{FF2B5EF4-FFF2-40B4-BE49-F238E27FC236}">
                <a16:creationId xmlns:a16="http://schemas.microsoft.com/office/drawing/2014/main" id="{C2855E6C-8526-44E0-A02E-95394491380B}"/>
              </a:ext>
            </a:extLst>
          </p:cNvPr>
          <p:cNvSpPr>
            <a:spLocks noGrp="1"/>
          </p:cNvSpPr>
          <p:nvPr/>
        </p:nvSpPr>
        <p:spPr>
          <a:xfrm>
            <a:off x="8172450" y="1685925"/>
            <a:ext cx="3562350" cy="3857625"/>
          </a:xfrm>
          <a:prstGeom prst="roundRect">
            <a:avLst>
              <a:gd name="adj" fmla="val 3209"/>
            </a:avLst>
          </a:prstGeom>
          <a:solidFill>
            <a:srgbClr val="F1F0F4"/>
          </a:solidFill>
          <a:ln w="0">
            <a:noFill/>
            <a:prstDash val="solid"/>
          </a:ln>
        </p:spPr>
        <p:txBody>
          <a:bodyPr/>
          <a:lstStyle/>
          <a:p>
            <a:endParaRPr lang="en-US"/>
          </a:p>
        </p:txBody>
      </p:sp>
      <p:sp>
        <p:nvSpPr>
          <p:cNvPr id="11" name="text">
            <a:extLst>
              <a:ext uri="{FF2B5EF4-FFF2-40B4-BE49-F238E27FC236}">
                <a16:creationId xmlns:a16="http://schemas.microsoft.com/office/drawing/2014/main" id="{D014E66B-A68B-40BD-834E-ED14BCB7BF49}"/>
              </a:ext>
            </a:extLst>
          </p:cNvPr>
          <p:cNvSpPr>
            <a:spLocks noGrp="1"/>
          </p:cNvSpPr>
          <p:nvPr/>
        </p:nvSpPr>
        <p:spPr>
          <a:xfrm>
            <a:off x="8439150" y="1943100"/>
            <a:ext cx="666750" cy="419100"/>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03</a:t>
            </a:r>
          </a:p>
        </p:txBody>
      </p:sp>
      <p:sp>
        <p:nvSpPr>
          <p:cNvPr id="12" name="text">
            <a:extLst>
              <a:ext uri="{FF2B5EF4-FFF2-40B4-BE49-F238E27FC236}">
                <a16:creationId xmlns:a16="http://schemas.microsoft.com/office/drawing/2014/main" id="{48313A36-0C84-433B-992E-1C027CFB0C11}"/>
              </a:ext>
            </a:extLst>
          </p:cNvPr>
          <p:cNvSpPr>
            <a:spLocks noGrp="1"/>
          </p:cNvSpPr>
          <p:nvPr/>
        </p:nvSpPr>
        <p:spPr>
          <a:xfrm>
            <a:off x="8439150" y="2505075"/>
            <a:ext cx="2952750" cy="5905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Subaortic membrane</a:t>
            </a:r>
          </a:p>
        </p:txBody>
      </p:sp>
      <p:sp>
        <p:nvSpPr>
          <p:cNvPr id="13" name="text">
            <a:extLst>
              <a:ext uri="{FF2B5EF4-FFF2-40B4-BE49-F238E27FC236}">
                <a16:creationId xmlns:a16="http://schemas.microsoft.com/office/drawing/2014/main" id="{4F3C3885-E524-44C2-A224-AB5D7A448619}"/>
              </a:ext>
            </a:extLst>
          </p:cNvPr>
          <p:cNvSpPr>
            <a:spLocks noGrp="1"/>
          </p:cNvSpPr>
          <p:nvPr/>
        </p:nvSpPr>
        <p:spPr>
          <a:xfrm>
            <a:off x="8439150" y="3248025"/>
            <a:ext cx="2952750" cy="18097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A fixed fibrous ridge below the valve is removed through the aortic route to relieve LV outflow tract obstruction; recurrence surveillance remains important</a:t>
            </a:r>
            <a:r>
              <a:rPr lang="en-US" sz="1500" b="0" dirty="0">
                <a:solidFill>
                  <a:srgbClr val="172026"/>
                </a:solidFill>
              </a:rPr>
              <a:t> as this can reoccur</a:t>
            </a:r>
            <a:r>
              <a:rPr sz="1500" b="0" dirty="0">
                <a:solidFill>
                  <a:srgbClr val="172026"/>
                </a:solidFill>
              </a:rPr>
              <a:t>.</a:t>
            </a:r>
          </a:p>
        </p:txBody>
      </p:sp>
      <p:sp>
        <p:nvSpPr>
          <p:cNvPr id="14" name="source">
            <a:extLst>
              <a:ext uri="{FF2B5EF4-FFF2-40B4-BE49-F238E27FC236}">
                <a16:creationId xmlns:a16="http://schemas.microsoft.com/office/drawing/2014/main" id="{D7D86B99-9527-4E77-BE22-10F4A3630ACD}"/>
              </a:ext>
            </a:extLst>
          </p:cNvPr>
          <p:cNvSpPr>
            <a:spLocks noGrp="1"/>
          </p:cNvSpPr>
          <p:nvPr/>
        </p:nvSpPr>
        <p:spPr>
          <a:xfrm>
            <a:off x="457200" y="6419850"/>
            <a:ext cx="10287000" cy="209550"/>
          </a:xfrm>
          <a:prstGeom prst="rect">
            <a:avLst/>
          </a:prstGeom>
          <a:noFill/>
          <a:ln w="0">
            <a:noFill/>
            <a:prstDash val="solid"/>
          </a:ln>
        </p:spPr>
        <p:txBody>
          <a:bodyPr anchor="t"/>
          <a:lstStyle/>
          <a:p>
            <a:pPr algn="l">
              <a:buNone/>
              <a:defRPr sz="750" b="0">
                <a:solidFill>
                  <a:srgbClr val="56636B"/>
                </a:solidFill>
              </a:defRPr>
            </a:pPr>
            <a:r>
              <a:rPr sz="750" b="0">
                <a:solidFill>
                  <a:srgbClr val="56636B"/>
                </a:solidFill>
              </a:rPr>
              <a:t>Background: 2021 ESC/EACTS valve guideline; 2022 ACC/AHA aortic guideline; subaortic stenosis literature.</a:t>
            </a:r>
          </a:p>
        </p:txBody>
      </p:sp>
      <p:sp>
        <p:nvSpPr>
          <p:cNvPr id="15" name="slide-number">
            <a:extLst>
              <a:ext uri="{FF2B5EF4-FFF2-40B4-BE49-F238E27FC236}">
                <a16:creationId xmlns:a16="http://schemas.microsoft.com/office/drawing/2014/main" id="{329845D2-6712-48FB-AEEF-0725F9BEDFE4}"/>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4</a:t>
            </a:r>
          </a:p>
        </p:txBody>
      </p:sp>
    </p:spTree>
    <p:extLst>
      <p:ext uri="{BB962C8B-B14F-4D97-AF65-F5344CB8AC3E}">
        <p14:creationId xmlns:p14="http://schemas.microsoft.com/office/powerpoint/2010/main" val="881649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itle">
            <a:extLst>
              <a:ext uri="{FF2B5EF4-FFF2-40B4-BE49-F238E27FC236}">
                <a16:creationId xmlns:a16="http://schemas.microsoft.com/office/drawing/2014/main" id="{0107319B-5C7C-4315-9A2D-07605ECBD78C}"/>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Circulatory arrest trades operative access for time-limited ischemic risk</a:t>
            </a:r>
          </a:p>
        </p:txBody>
      </p:sp>
      <p:sp>
        <p:nvSpPr>
          <p:cNvPr id="2" name="text">
            <a:extLst>
              <a:ext uri="{FF2B5EF4-FFF2-40B4-BE49-F238E27FC236}">
                <a16:creationId xmlns:a16="http://schemas.microsoft.com/office/drawing/2014/main" id="{0C93A6B1-2519-4BCA-B772-39BAB6998668}"/>
              </a:ext>
            </a:extLst>
          </p:cNvPr>
          <p:cNvSpPr>
            <a:spLocks noGrp="1"/>
          </p:cNvSpPr>
          <p:nvPr/>
        </p:nvSpPr>
        <p:spPr>
          <a:xfrm>
            <a:off x="457200" y="1638300"/>
            <a:ext cx="5334000" cy="1476375"/>
          </a:xfrm>
          <a:prstGeom prst="rect">
            <a:avLst/>
          </a:prstGeom>
          <a:noFill/>
          <a:ln w="0">
            <a:noFill/>
            <a:prstDash val="solid"/>
          </a:ln>
        </p:spPr>
        <p:txBody>
          <a:bodyPr anchor="t"/>
          <a:lstStyle/>
          <a:p>
            <a:pPr algn="l">
              <a:buNone/>
              <a:defRPr sz="1875" b="0">
                <a:solidFill>
                  <a:srgbClr val="172026"/>
                </a:solidFill>
              </a:defRPr>
            </a:pPr>
            <a:r>
              <a:rPr sz="1875" b="0">
                <a:solidFill>
                  <a:srgbClr val="172026"/>
                </a:solidFill>
              </a:rPr>
              <a:t>Stopping systemic flow creates a bloodless field for open distal aortic reconstruction. Protection depends on lowering metabolic demand and maintaining cerebral perfusion whenever anatomy permits.</a:t>
            </a:r>
          </a:p>
        </p:txBody>
      </p:sp>
      <p:sp>
        <p:nvSpPr>
          <p:cNvPr id="3" name="Rectangle: Rounded Corners 2">
            <a:extLst>
              <a:ext uri="{FF2B5EF4-FFF2-40B4-BE49-F238E27FC236}">
                <a16:creationId xmlns:a16="http://schemas.microsoft.com/office/drawing/2014/main" id="{DC786A0C-16CD-4C2D-BE19-318F17559C6A}"/>
              </a:ext>
            </a:extLst>
          </p:cNvPr>
          <p:cNvSpPr>
            <a:spLocks noGrp="1"/>
          </p:cNvSpPr>
          <p:nvPr/>
        </p:nvSpPr>
        <p:spPr>
          <a:xfrm>
            <a:off x="457200" y="3514725"/>
            <a:ext cx="5334000" cy="1600200"/>
          </a:xfrm>
          <a:prstGeom prst="roundRect">
            <a:avLst>
              <a:gd name="adj" fmla="val 7143"/>
            </a:avLst>
          </a:prstGeom>
          <a:solidFill>
            <a:srgbClr val="123047"/>
          </a:solidFill>
          <a:ln w="0">
            <a:noFill/>
            <a:prstDash val="solid"/>
          </a:ln>
        </p:spPr>
        <p:txBody>
          <a:bodyPr/>
          <a:lstStyle/>
          <a:p>
            <a:endParaRPr lang="en-US"/>
          </a:p>
        </p:txBody>
      </p:sp>
      <p:sp>
        <p:nvSpPr>
          <p:cNvPr id="4" name="text">
            <a:extLst>
              <a:ext uri="{FF2B5EF4-FFF2-40B4-BE49-F238E27FC236}">
                <a16:creationId xmlns:a16="http://schemas.microsoft.com/office/drawing/2014/main" id="{8ACAB431-071D-4C94-9718-1A3E5E5B5627}"/>
              </a:ext>
            </a:extLst>
          </p:cNvPr>
          <p:cNvSpPr>
            <a:spLocks noGrp="1"/>
          </p:cNvSpPr>
          <p:nvPr/>
        </p:nvSpPr>
        <p:spPr>
          <a:xfrm>
            <a:off x="742950" y="3762375"/>
            <a:ext cx="1619250" cy="762000"/>
          </a:xfrm>
          <a:prstGeom prst="rect">
            <a:avLst/>
          </a:prstGeom>
          <a:noFill/>
          <a:ln w="0">
            <a:noFill/>
            <a:prstDash val="solid"/>
          </a:ln>
        </p:spPr>
        <p:txBody>
          <a:bodyPr anchor="t"/>
          <a:lstStyle/>
          <a:p>
            <a:pPr algn="l">
              <a:buNone/>
              <a:defRPr sz="4200" b="1">
                <a:solidFill>
                  <a:srgbClr val="FFFFFF"/>
                </a:solidFill>
              </a:defRPr>
            </a:pPr>
            <a:r>
              <a:rPr sz="4200" b="1">
                <a:solidFill>
                  <a:srgbClr val="FFFFFF"/>
                </a:solidFill>
              </a:rPr>
              <a:t>28 °C</a:t>
            </a:r>
          </a:p>
        </p:txBody>
      </p:sp>
      <p:sp>
        <p:nvSpPr>
          <p:cNvPr id="5" name="text">
            <a:extLst>
              <a:ext uri="{FF2B5EF4-FFF2-40B4-BE49-F238E27FC236}">
                <a16:creationId xmlns:a16="http://schemas.microsoft.com/office/drawing/2014/main" id="{AFE017B4-AD60-426D-8378-ED1ACC529F05}"/>
              </a:ext>
            </a:extLst>
          </p:cNvPr>
          <p:cNvSpPr>
            <a:spLocks noGrp="1"/>
          </p:cNvSpPr>
          <p:nvPr/>
        </p:nvSpPr>
        <p:spPr>
          <a:xfrm>
            <a:off x="2362200" y="3857625"/>
            <a:ext cx="3000375" cy="666750"/>
          </a:xfrm>
          <a:prstGeom prst="rect">
            <a:avLst/>
          </a:prstGeom>
          <a:noFill/>
          <a:ln w="0">
            <a:noFill/>
            <a:prstDash val="solid"/>
          </a:ln>
        </p:spPr>
        <p:txBody>
          <a:bodyPr anchor="t"/>
          <a:lstStyle/>
          <a:p>
            <a:pPr algn="l">
              <a:buNone/>
              <a:defRPr sz="1650" b="0">
                <a:solidFill>
                  <a:srgbClr val="D8E8EE"/>
                </a:solidFill>
              </a:defRPr>
            </a:pPr>
            <a:r>
              <a:rPr sz="1650" b="0">
                <a:solidFill>
                  <a:srgbClr val="D8E8EE"/>
                </a:solidFill>
              </a:rPr>
              <a:t>moderate hypothermia target reported in this case</a:t>
            </a:r>
          </a:p>
        </p:txBody>
      </p:sp>
      <p:sp>
        <p:nvSpPr>
          <p:cNvPr id="6" name="Rectangle: Rounded Corners 5">
            <a:extLst>
              <a:ext uri="{FF2B5EF4-FFF2-40B4-BE49-F238E27FC236}">
                <a16:creationId xmlns:a16="http://schemas.microsoft.com/office/drawing/2014/main" id="{2AA49FDB-6875-4CF7-A54B-E55C5F05706D}"/>
              </a:ext>
            </a:extLst>
          </p:cNvPr>
          <p:cNvSpPr>
            <a:spLocks noGrp="1"/>
          </p:cNvSpPr>
          <p:nvPr/>
        </p:nvSpPr>
        <p:spPr>
          <a:xfrm>
            <a:off x="6267450" y="1638300"/>
            <a:ext cx="5467350" cy="3476625"/>
          </a:xfrm>
          <a:prstGeom prst="roundRect">
            <a:avLst>
              <a:gd name="adj" fmla="val 3288"/>
            </a:avLst>
          </a:prstGeom>
          <a:solidFill>
            <a:srgbClr val="EEF4F6"/>
          </a:solidFill>
          <a:ln w="0">
            <a:noFill/>
            <a:prstDash val="solid"/>
          </a:ln>
        </p:spPr>
        <p:txBody>
          <a:bodyPr/>
          <a:lstStyle/>
          <a:p>
            <a:endParaRPr lang="en-US"/>
          </a:p>
        </p:txBody>
      </p:sp>
      <p:sp>
        <p:nvSpPr>
          <p:cNvPr id="7" name="text">
            <a:extLst>
              <a:ext uri="{FF2B5EF4-FFF2-40B4-BE49-F238E27FC236}">
                <a16:creationId xmlns:a16="http://schemas.microsoft.com/office/drawing/2014/main" id="{AED238CA-D53C-4655-8B02-051608AF7E38}"/>
              </a:ext>
            </a:extLst>
          </p:cNvPr>
          <p:cNvSpPr>
            <a:spLocks noGrp="1"/>
          </p:cNvSpPr>
          <p:nvPr/>
        </p:nvSpPr>
        <p:spPr>
          <a:xfrm>
            <a:off x="6572250" y="1952625"/>
            <a:ext cx="4572000" cy="323850"/>
          </a:xfrm>
          <a:prstGeom prst="rect">
            <a:avLst/>
          </a:prstGeom>
          <a:noFill/>
          <a:ln w="0">
            <a:noFill/>
            <a:prstDash val="solid"/>
          </a:ln>
        </p:spPr>
        <p:txBody>
          <a:bodyPr anchor="t"/>
          <a:lstStyle/>
          <a:p>
            <a:pPr algn="l">
              <a:buNone/>
              <a:defRPr sz="1800" b="1">
                <a:solidFill>
                  <a:srgbClr val="123047"/>
                </a:solidFill>
              </a:defRPr>
            </a:pPr>
            <a:r>
              <a:rPr sz="1800" b="1">
                <a:solidFill>
                  <a:srgbClr val="123047"/>
                </a:solidFill>
              </a:rPr>
              <a:t>Protection stack</a:t>
            </a:r>
          </a:p>
        </p:txBody>
      </p:sp>
      <p:sp>
        <p:nvSpPr>
          <p:cNvPr id="8" name="Rectangle 7">
            <a:extLst>
              <a:ext uri="{FF2B5EF4-FFF2-40B4-BE49-F238E27FC236}">
                <a16:creationId xmlns:a16="http://schemas.microsoft.com/office/drawing/2014/main" id="{3B5ABBFD-912A-45D6-93F0-4B10444DB84F}"/>
              </a:ext>
            </a:extLst>
          </p:cNvPr>
          <p:cNvSpPr>
            <a:spLocks noGrp="1"/>
          </p:cNvSpPr>
          <p:nvPr/>
        </p:nvSpPr>
        <p:spPr>
          <a:xfrm>
            <a:off x="6572250" y="2628900"/>
            <a:ext cx="95250" cy="95250"/>
          </a:xfrm>
          <a:prstGeom prst="rect">
            <a:avLst/>
          </a:prstGeom>
          <a:solidFill>
            <a:srgbClr val="A33B3B"/>
          </a:solidFill>
          <a:ln w="0">
            <a:noFill/>
            <a:prstDash val="solid"/>
          </a:ln>
        </p:spPr>
        <p:txBody>
          <a:bodyPr/>
          <a:lstStyle/>
          <a:p>
            <a:endParaRPr lang="en-US"/>
          </a:p>
        </p:txBody>
      </p:sp>
      <p:sp>
        <p:nvSpPr>
          <p:cNvPr id="9" name="text">
            <a:extLst>
              <a:ext uri="{FF2B5EF4-FFF2-40B4-BE49-F238E27FC236}">
                <a16:creationId xmlns:a16="http://schemas.microsoft.com/office/drawing/2014/main" id="{09369A92-AD97-4651-9F65-B7A902671997}"/>
              </a:ext>
            </a:extLst>
          </p:cNvPr>
          <p:cNvSpPr>
            <a:spLocks noGrp="1"/>
          </p:cNvSpPr>
          <p:nvPr/>
        </p:nvSpPr>
        <p:spPr>
          <a:xfrm>
            <a:off x="6781800" y="2552700"/>
            <a:ext cx="4267200" cy="552450"/>
          </a:xfrm>
          <a:prstGeom prst="rect">
            <a:avLst/>
          </a:prstGeom>
          <a:noFill/>
          <a:ln w="0">
            <a:noFill/>
            <a:prstDash val="solid"/>
          </a:ln>
        </p:spPr>
        <p:txBody>
          <a:bodyPr anchor="t"/>
          <a:lstStyle/>
          <a:p>
            <a:pPr algn="l">
              <a:buNone/>
              <a:defRPr sz="1575" b="0">
                <a:solidFill>
                  <a:srgbClr val="172026"/>
                </a:solidFill>
              </a:defRPr>
            </a:pPr>
            <a:r>
              <a:rPr sz="1575" b="0">
                <a:solidFill>
                  <a:srgbClr val="172026"/>
                </a:solidFill>
              </a:rPr>
              <a:t>Systemic cooling before arrest</a:t>
            </a:r>
          </a:p>
        </p:txBody>
      </p:sp>
      <p:sp>
        <p:nvSpPr>
          <p:cNvPr id="10" name="Rectangle 9">
            <a:extLst>
              <a:ext uri="{FF2B5EF4-FFF2-40B4-BE49-F238E27FC236}">
                <a16:creationId xmlns:a16="http://schemas.microsoft.com/office/drawing/2014/main" id="{795D5E6D-D7FD-42A6-8D6A-53FACDC0E806}"/>
              </a:ext>
            </a:extLst>
          </p:cNvPr>
          <p:cNvSpPr>
            <a:spLocks noGrp="1"/>
          </p:cNvSpPr>
          <p:nvPr/>
        </p:nvSpPr>
        <p:spPr>
          <a:xfrm>
            <a:off x="6572250" y="3228975"/>
            <a:ext cx="95250" cy="95250"/>
          </a:xfrm>
          <a:prstGeom prst="rect">
            <a:avLst/>
          </a:prstGeom>
          <a:solidFill>
            <a:srgbClr val="A33B3B"/>
          </a:solidFill>
          <a:ln w="0">
            <a:noFill/>
            <a:prstDash val="solid"/>
          </a:ln>
        </p:spPr>
        <p:txBody>
          <a:bodyPr/>
          <a:lstStyle/>
          <a:p>
            <a:endParaRPr lang="en-US"/>
          </a:p>
        </p:txBody>
      </p:sp>
      <p:sp>
        <p:nvSpPr>
          <p:cNvPr id="11" name="text">
            <a:extLst>
              <a:ext uri="{FF2B5EF4-FFF2-40B4-BE49-F238E27FC236}">
                <a16:creationId xmlns:a16="http://schemas.microsoft.com/office/drawing/2014/main" id="{F5F3825C-0351-4D4F-BAF9-1ECF17C6A0B8}"/>
              </a:ext>
            </a:extLst>
          </p:cNvPr>
          <p:cNvSpPr>
            <a:spLocks noGrp="1"/>
          </p:cNvSpPr>
          <p:nvPr/>
        </p:nvSpPr>
        <p:spPr>
          <a:xfrm>
            <a:off x="6781800" y="3152775"/>
            <a:ext cx="4267200" cy="552450"/>
          </a:xfrm>
          <a:prstGeom prst="rect">
            <a:avLst/>
          </a:prstGeom>
          <a:noFill/>
          <a:ln w="0">
            <a:noFill/>
            <a:prstDash val="solid"/>
          </a:ln>
        </p:spPr>
        <p:txBody>
          <a:bodyPr anchor="t"/>
          <a:lstStyle/>
          <a:p>
            <a:pPr algn="l">
              <a:buNone/>
              <a:defRPr sz="1575" b="0">
                <a:solidFill>
                  <a:srgbClr val="172026"/>
                </a:solidFill>
              </a:defRPr>
            </a:pPr>
            <a:r>
              <a:rPr sz="1575" b="0">
                <a:solidFill>
                  <a:srgbClr val="172026"/>
                </a:solidFill>
              </a:rPr>
              <a:t>Antegrade cerebral perfusion (ACP)</a:t>
            </a:r>
          </a:p>
        </p:txBody>
      </p:sp>
      <p:sp>
        <p:nvSpPr>
          <p:cNvPr id="12" name="Rectangle 11">
            <a:extLst>
              <a:ext uri="{FF2B5EF4-FFF2-40B4-BE49-F238E27FC236}">
                <a16:creationId xmlns:a16="http://schemas.microsoft.com/office/drawing/2014/main" id="{AD94733B-E02C-4F8F-88E1-3DDFFABB0AB9}"/>
              </a:ext>
            </a:extLst>
          </p:cNvPr>
          <p:cNvSpPr>
            <a:spLocks noGrp="1"/>
          </p:cNvSpPr>
          <p:nvPr/>
        </p:nvSpPr>
        <p:spPr>
          <a:xfrm>
            <a:off x="6572250" y="3829050"/>
            <a:ext cx="95250" cy="95250"/>
          </a:xfrm>
          <a:prstGeom prst="rect">
            <a:avLst/>
          </a:prstGeom>
          <a:solidFill>
            <a:srgbClr val="A33B3B"/>
          </a:solidFill>
          <a:ln w="0">
            <a:noFill/>
            <a:prstDash val="solid"/>
          </a:ln>
        </p:spPr>
        <p:txBody>
          <a:bodyPr/>
          <a:lstStyle/>
          <a:p>
            <a:endParaRPr lang="en-US"/>
          </a:p>
        </p:txBody>
      </p:sp>
      <p:sp>
        <p:nvSpPr>
          <p:cNvPr id="13" name="text">
            <a:extLst>
              <a:ext uri="{FF2B5EF4-FFF2-40B4-BE49-F238E27FC236}">
                <a16:creationId xmlns:a16="http://schemas.microsoft.com/office/drawing/2014/main" id="{453789B9-EFEB-45D2-B538-AC4C2C0ECD28}"/>
              </a:ext>
            </a:extLst>
          </p:cNvPr>
          <p:cNvSpPr>
            <a:spLocks noGrp="1"/>
          </p:cNvSpPr>
          <p:nvPr/>
        </p:nvSpPr>
        <p:spPr>
          <a:xfrm>
            <a:off x="6781800" y="3752850"/>
            <a:ext cx="4267200" cy="552450"/>
          </a:xfrm>
          <a:prstGeom prst="rect">
            <a:avLst/>
          </a:prstGeom>
          <a:noFill/>
          <a:ln w="0">
            <a:noFill/>
            <a:prstDash val="solid"/>
          </a:ln>
        </p:spPr>
        <p:txBody>
          <a:bodyPr anchor="t"/>
          <a:lstStyle/>
          <a:p>
            <a:pPr algn="l">
              <a:buNone/>
              <a:defRPr sz="1575" b="0">
                <a:solidFill>
                  <a:srgbClr val="172026"/>
                </a:solidFill>
              </a:defRPr>
            </a:pPr>
            <a:r>
              <a:rPr sz="1575" b="0">
                <a:solidFill>
                  <a:srgbClr val="172026"/>
                </a:solidFill>
              </a:rPr>
              <a:t>Neuromonitoring and pressure/flow targets per protocol</a:t>
            </a:r>
          </a:p>
        </p:txBody>
      </p:sp>
      <p:sp>
        <p:nvSpPr>
          <p:cNvPr id="14" name="Rectangle 13">
            <a:extLst>
              <a:ext uri="{FF2B5EF4-FFF2-40B4-BE49-F238E27FC236}">
                <a16:creationId xmlns:a16="http://schemas.microsoft.com/office/drawing/2014/main" id="{83938FC4-16B6-4A8E-8F83-149A0F491719}"/>
              </a:ext>
            </a:extLst>
          </p:cNvPr>
          <p:cNvSpPr>
            <a:spLocks noGrp="1"/>
          </p:cNvSpPr>
          <p:nvPr/>
        </p:nvSpPr>
        <p:spPr>
          <a:xfrm>
            <a:off x="6572250" y="4429125"/>
            <a:ext cx="95250" cy="95250"/>
          </a:xfrm>
          <a:prstGeom prst="rect">
            <a:avLst/>
          </a:prstGeom>
          <a:solidFill>
            <a:srgbClr val="A33B3B"/>
          </a:solidFill>
          <a:ln w="0">
            <a:noFill/>
            <a:prstDash val="solid"/>
          </a:ln>
        </p:spPr>
        <p:txBody>
          <a:bodyPr/>
          <a:lstStyle/>
          <a:p>
            <a:endParaRPr lang="en-US"/>
          </a:p>
        </p:txBody>
      </p:sp>
      <p:sp>
        <p:nvSpPr>
          <p:cNvPr id="15" name="text">
            <a:extLst>
              <a:ext uri="{FF2B5EF4-FFF2-40B4-BE49-F238E27FC236}">
                <a16:creationId xmlns:a16="http://schemas.microsoft.com/office/drawing/2014/main" id="{C954F394-511A-4349-9BD6-3E2A88456675}"/>
              </a:ext>
            </a:extLst>
          </p:cNvPr>
          <p:cNvSpPr>
            <a:spLocks noGrp="1"/>
          </p:cNvSpPr>
          <p:nvPr/>
        </p:nvSpPr>
        <p:spPr>
          <a:xfrm>
            <a:off x="6781800" y="4352925"/>
            <a:ext cx="4267200" cy="552450"/>
          </a:xfrm>
          <a:prstGeom prst="rect">
            <a:avLst/>
          </a:prstGeom>
          <a:noFill/>
          <a:ln w="0">
            <a:noFill/>
            <a:prstDash val="solid"/>
          </a:ln>
        </p:spPr>
        <p:txBody>
          <a:bodyPr anchor="t"/>
          <a:lstStyle/>
          <a:p>
            <a:pPr algn="l">
              <a:buNone/>
              <a:defRPr sz="1575" b="0">
                <a:solidFill>
                  <a:srgbClr val="172026"/>
                </a:solidFill>
              </a:defRPr>
            </a:pPr>
            <a:r>
              <a:rPr sz="1575" b="0">
                <a:solidFill>
                  <a:srgbClr val="172026"/>
                </a:solidFill>
              </a:rPr>
              <a:t>Shortest feasible no-flow intervals</a:t>
            </a:r>
          </a:p>
        </p:txBody>
      </p:sp>
      <p:sp>
        <p:nvSpPr>
          <p:cNvPr id="16" name="source">
            <a:extLst>
              <a:ext uri="{FF2B5EF4-FFF2-40B4-BE49-F238E27FC236}">
                <a16:creationId xmlns:a16="http://schemas.microsoft.com/office/drawing/2014/main" id="{E4A67974-23AC-48C3-9C16-46AD21BC404D}"/>
              </a:ext>
            </a:extLst>
          </p:cNvPr>
          <p:cNvSpPr>
            <a:spLocks noGrp="1"/>
          </p:cNvSpPr>
          <p:nvPr/>
        </p:nvSpPr>
        <p:spPr>
          <a:xfrm>
            <a:off x="457200" y="6419850"/>
            <a:ext cx="10287000" cy="209550"/>
          </a:xfrm>
          <a:prstGeom prst="rect">
            <a:avLst/>
          </a:prstGeom>
          <a:noFill/>
          <a:ln w="0">
            <a:noFill/>
            <a:prstDash val="solid"/>
          </a:ln>
        </p:spPr>
        <p:txBody>
          <a:bodyPr anchor="t"/>
          <a:lstStyle/>
          <a:p>
            <a:pPr algn="l">
              <a:buNone/>
              <a:defRPr sz="750" b="0">
                <a:solidFill>
                  <a:srgbClr val="56636B"/>
                </a:solidFill>
              </a:defRPr>
            </a:pPr>
            <a:r>
              <a:rPr sz="750" b="0">
                <a:solidFill>
                  <a:srgbClr val="56636B"/>
                </a:solidFill>
              </a:rPr>
              <a:t>Guideline context: 2022 ACC/AHA Aortic Disease; 2024 EACTS/EACTAIC/EBCP CPB.</a:t>
            </a:r>
          </a:p>
        </p:txBody>
      </p:sp>
      <p:sp>
        <p:nvSpPr>
          <p:cNvPr id="17" name="slide-number">
            <a:extLst>
              <a:ext uri="{FF2B5EF4-FFF2-40B4-BE49-F238E27FC236}">
                <a16:creationId xmlns:a16="http://schemas.microsoft.com/office/drawing/2014/main" id="{B7DCFDC9-7F7B-4B99-A8CE-9DA0A684D989}"/>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5</a:t>
            </a:r>
          </a:p>
        </p:txBody>
      </p:sp>
    </p:spTree>
    <p:extLst>
      <p:ext uri="{BB962C8B-B14F-4D97-AF65-F5344CB8AC3E}">
        <p14:creationId xmlns:p14="http://schemas.microsoft.com/office/powerpoint/2010/main" val="143354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977AE512-311D-4EAD-9EB2-60C463667679}"/>
              </a:ext>
            </a:extLst>
          </p:cNvPr>
          <p:cNvSpPr>
            <a:spLocks noGrp="1"/>
          </p:cNvSpPr>
          <p:nvPr/>
        </p:nvSpPr>
        <p:spPr>
          <a:xfrm>
            <a:off x="666750" y="323850"/>
            <a:ext cx="11068050" cy="590550"/>
          </a:xfrm>
          <a:prstGeom prst="rect">
            <a:avLst/>
          </a:prstGeom>
          <a:noFill/>
          <a:ln w="0">
            <a:noFill/>
            <a:prstDash val="solid"/>
          </a:ln>
        </p:spPr>
        <p:txBody>
          <a:bodyPr anchor="t"/>
          <a:lstStyle/>
          <a:p>
            <a:pPr algn="ctr">
              <a:buNone/>
              <a:defRPr sz="2850" b="1">
                <a:solidFill>
                  <a:srgbClr val="123047"/>
                </a:solidFill>
              </a:defRPr>
            </a:pPr>
            <a:r>
              <a:rPr sz="2850" b="1" dirty="0">
                <a:solidFill>
                  <a:srgbClr val="123047"/>
                </a:solidFill>
              </a:rPr>
              <a:t>Femoral access supported systemic CPB; </a:t>
            </a:r>
            <a:r>
              <a:rPr lang="en-US" sz="2850" b="1" dirty="0">
                <a:solidFill>
                  <a:srgbClr val="123047"/>
                </a:solidFill>
              </a:rPr>
              <a:t>A</a:t>
            </a:r>
            <a:r>
              <a:rPr sz="2850" b="1" dirty="0">
                <a:solidFill>
                  <a:srgbClr val="123047"/>
                </a:solidFill>
              </a:rPr>
              <a:t>xillary access enabled antegrade brain flow</a:t>
            </a:r>
          </a:p>
        </p:txBody>
      </p:sp>
      <p:sp>
        <p:nvSpPr>
          <p:cNvPr id="2" name="Straight Connector 1">
            <a:extLst>
              <a:ext uri="{FF2B5EF4-FFF2-40B4-BE49-F238E27FC236}">
                <a16:creationId xmlns:a16="http://schemas.microsoft.com/office/drawing/2014/main" id="{22EA0B33-1693-4105-BF29-BD6E9BB1898E}"/>
              </a:ext>
            </a:extLst>
          </p:cNvPr>
          <p:cNvSpPr>
            <a:spLocks noGrp="1"/>
          </p:cNvSpPr>
          <p:nvPr/>
        </p:nvSpPr>
        <p:spPr>
          <a:xfrm>
            <a:off x="2857500" y="3286125"/>
            <a:ext cx="6477000" cy="0"/>
          </a:xfrm>
          <a:prstGeom prst="line">
            <a:avLst/>
          </a:prstGeom>
          <a:ln w="47625">
            <a:solidFill>
              <a:srgbClr val="72B6C9"/>
            </a:solidFill>
            <a:prstDash val="solid"/>
          </a:ln>
        </p:spPr>
        <p:txBody>
          <a:bodyPr/>
          <a:lstStyle/>
          <a:p>
            <a:endParaRPr lang="en-US"/>
          </a:p>
        </p:txBody>
      </p:sp>
      <p:sp>
        <p:nvSpPr>
          <p:cNvPr id="3" name="Rectangle: Rounded Corners 2">
            <a:extLst>
              <a:ext uri="{FF2B5EF4-FFF2-40B4-BE49-F238E27FC236}">
                <a16:creationId xmlns:a16="http://schemas.microsoft.com/office/drawing/2014/main" id="{500FF08F-6B70-4931-8F63-C8E3C781E99D}"/>
              </a:ext>
            </a:extLst>
          </p:cNvPr>
          <p:cNvSpPr>
            <a:spLocks noGrp="1"/>
          </p:cNvSpPr>
          <p:nvPr/>
        </p:nvSpPr>
        <p:spPr>
          <a:xfrm>
            <a:off x="666750" y="2000249"/>
            <a:ext cx="3333750" cy="3210847"/>
          </a:xfrm>
          <a:prstGeom prst="roundRect">
            <a:avLst>
              <a:gd name="adj" fmla="val 4000"/>
            </a:avLst>
          </a:prstGeom>
          <a:solidFill>
            <a:srgbClr val="EEF4F6"/>
          </a:solidFill>
          <a:ln w="0">
            <a:noFill/>
            <a:prstDash val="solid"/>
          </a:ln>
        </p:spPr>
        <p:txBody>
          <a:bodyPr/>
          <a:lstStyle/>
          <a:p>
            <a:endParaRPr lang="en-US"/>
          </a:p>
        </p:txBody>
      </p:sp>
      <p:sp>
        <p:nvSpPr>
          <p:cNvPr id="4" name="text">
            <a:extLst>
              <a:ext uri="{FF2B5EF4-FFF2-40B4-BE49-F238E27FC236}">
                <a16:creationId xmlns:a16="http://schemas.microsoft.com/office/drawing/2014/main" id="{04194724-7E5C-407F-BDA7-25D3814AF5E3}"/>
              </a:ext>
            </a:extLst>
          </p:cNvPr>
          <p:cNvSpPr>
            <a:spLocks noGrp="1"/>
          </p:cNvSpPr>
          <p:nvPr/>
        </p:nvSpPr>
        <p:spPr>
          <a:xfrm>
            <a:off x="952500" y="2314575"/>
            <a:ext cx="2667000" cy="381000"/>
          </a:xfrm>
          <a:prstGeom prst="rect">
            <a:avLst/>
          </a:prstGeom>
          <a:noFill/>
          <a:ln w="0">
            <a:noFill/>
            <a:prstDash val="solid"/>
          </a:ln>
        </p:spPr>
        <p:txBody>
          <a:bodyPr anchor="t"/>
          <a:lstStyle/>
          <a:p>
            <a:pPr algn="l">
              <a:buNone/>
              <a:defRPr sz="2100" b="1">
                <a:solidFill>
                  <a:srgbClr val="123047"/>
                </a:solidFill>
              </a:defRPr>
            </a:pPr>
            <a:r>
              <a:rPr sz="2100" b="1">
                <a:solidFill>
                  <a:srgbClr val="123047"/>
                </a:solidFill>
              </a:rPr>
              <a:t>Femoral cannulation</a:t>
            </a:r>
          </a:p>
        </p:txBody>
      </p:sp>
      <p:sp>
        <p:nvSpPr>
          <p:cNvPr id="5" name="text">
            <a:extLst>
              <a:ext uri="{FF2B5EF4-FFF2-40B4-BE49-F238E27FC236}">
                <a16:creationId xmlns:a16="http://schemas.microsoft.com/office/drawing/2014/main" id="{370B6562-F6E3-4C5D-9C88-D5E8C2058BD6}"/>
              </a:ext>
            </a:extLst>
          </p:cNvPr>
          <p:cNvSpPr>
            <a:spLocks noGrp="1"/>
          </p:cNvSpPr>
          <p:nvPr/>
        </p:nvSpPr>
        <p:spPr>
          <a:xfrm>
            <a:off x="952500" y="2924175"/>
            <a:ext cx="2667000" cy="1238250"/>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Rapid peripheral route for venous drainage </a:t>
            </a:r>
            <a:r>
              <a:rPr lang="en-US" sz="1575" dirty="0">
                <a:solidFill>
                  <a:srgbClr val="172026"/>
                </a:solidFill>
              </a:rPr>
              <a:t>using a 25F Medtronic </a:t>
            </a:r>
            <a:r>
              <a:rPr lang="en-US" sz="1575" dirty="0" err="1">
                <a:solidFill>
                  <a:srgbClr val="172026"/>
                </a:solidFill>
              </a:rPr>
              <a:t>Biomedicaus</a:t>
            </a:r>
            <a:r>
              <a:rPr lang="en-US" sz="1575" dirty="0">
                <a:solidFill>
                  <a:srgbClr val="172026"/>
                </a:solidFill>
              </a:rPr>
              <a:t> cannula. </a:t>
            </a:r>
            <a:endParaRPr sz="1575" b="0" dirty="0">
              <a:solidFill>
                <a:srgbClr val="172026"/>
              </a:solidFill>
            </a:endParaRPr>
          </a:p>
        </p:txBody>
      </p:sp>
      <p:sp>
        <p:nvSpPr>
          <p:cNvPr id="6" name="text">
            <a:extLst>
              <a:ext uri="{FF2B5EF4-FFF2-40B4-BE49-F238E27FC236}">
                <a16:creationId xmlns:a16="http://schemas.microsoft.com/office/drawing/2014/main" id="{E29A7767-08BD-4189-819B-14B3D8098A1D}"/>
              </a:ext>
            </a:extLst>
          </p:cNvPr>
          <p:cNvSpPr>
            <a:spLocks noGrp="1"/>
          </p:cNvSpPr>
          <p:nvPr/>
        </p:nvSpPr>
        <p:spPr>
          <a:xfrm>
            <a:off x="952500" y="4343400"/>
            <a:ext cx="2381250" cy="266700"/>
          </a:xfrm>
          <a:prstGeom prst="rect">
            <a:avLst/>
          </a:prstGeom>
          <a:noFill/>
          <a:ln w="0">
            <a:noFill/>
            <a:prstDash val="solid"/>
          </a:ln>
        </p:spPr>
        <p:txBody>
          <a:bodyPr anchor="t"/>
          <a:lstStyle/>
          <a:p>
            <a:pPr algn="l">
              <a:buNone/>
              <a:defRPr sz="1350" b="1">
                <a:solidFill>
                  <a:srgbClr val="A33B3B"/>
                </a:solidFill>
              </a:defRPr>
            </a:pPr>
            <a:r>
              <a:rPr sz="1350" b="1">
                <a:solidFill>
                  <a:srgbClr val="A33B3B"/>
                </a:solidFill>
              </a:rPr>
              <a:t>Primary role in this case</a:t>
            </a:r>
          </a:p>
        </p:txBody>
      </p:sp>
      <p:sp>
        <p:nvSpPr>
          <p:cNvPr id="7" name="text">
            <a:extLst>
              <a:ext uri="{FF2B5EF4-FFF2-40B4-BE49-F238E27FC236}">
                <a16:creationId xmlns:a16="http://schemas.microsoft.com/office/drawing/2014/main" id="{9F963ED5-CEE1-4320-8DA1-48AE7EA15AE0}"/>
              </a:ext>
            </a:extLst>
          </p:cNvPr>
          <p:cNvSpPr>
            <a:spLocks noGrp="1"/>
          </p:cNvSpPr>
          <p:nvPr/>
        </p:nvSpPr>
        <p:spPr>
          <a:xfrm>
            <a:off x="952500" y="4648200"/>
            <a:ext cx="2571750" cy="285750"/>
          </a:xfrm>
          <a:prstGeom prst="rect">
            <a:avLst/>
          </a:prstGeom>
          <a:noFill/>
          <a:ln w="0">
            <a:noFill/>
            <a:prstDash val="solid"/>
          </a:ln>
        </p:spPr>
        <p:txBody>
          <a:bodyPr anchor="t"/>
          <a:lstStyle/>
          <a:p>
            <a:pPr algn="l">
              <a:buNone/>
              <a:defRPr sz="1500" b="1">
                <a:solidFill>
                  <a:srgbClr val="172026"/>
                </a:solidFill>
              </a:defRPr>
            </a:pPr>
            <a:r>
              <a:rPr sz="1500" b="1">
                <a:solidFill>
                  <a:srgbClr val="172026"/>
                </a:solidFill>
              </a:rPr>
              <a:t>Whole-body bypass and cooling</a:t>
            </a:r>
          </a:p>
        </p:txBody>
      </p:sp>
      <p:sp>
        <p:nvSpPr>
          <p:cNvPr id="8" name="Rectangle: Rounded Corners 7">
            <a:extLst>
              <a:ext uri="{FF2B5EF4-FFF2-40B4-BE49-F238E27FC236}">
                <a16:creationId xmlns:a16="http://schemas.microsoft.com/office/drawing/2014/main" id="{5CF2BA40-79F8-4835-B93B-DC3665467460}"/>
              </a:ext>
            </a:extLst>
          </p:cNvPr>
          <p:cNvSpPr>
            <a:spLocks noGrp="1"/>
          </p:cNvSpPr>
          <p:nvPr/>
        </p:nvSpPr>
        <p:spPr>
          <a:xfrm>
            <a:off x="7905750" y="2000249"/>
            <a:ext cx="3460340" cy="3309169"/>
          </a:xfrm>
          <a:prstGeom prst="roundRect">
            <a:avLst>
              <a:gd name="adj" fmla="val 4000"/>
            </a:avLst>
          </a:prstGeom>
          <a:solidFill>
            <a:srgbClr val="F7F3EB"/>
          </a:solidFill>
          <a:ln w="0">
            <a:noFill/>
            <a:prstDash val="solid"/>
          </a:ln>
        </p:spPr>
        <p:txBody>
          <a:bodyPr/>
          <a:lstStyle/>
          <a:p>
            <a:endParaRPr lang="en-US"/>
          </a:p>
        </p:txBody>
      </p:sp>
      <p:sp>
        <p:nvSpPr>
          <p:cNvPr id="9" name="text">
            <a:extLst>
              <a:ext uri="{FF2B5EF4-FFF2-40B4-BE49-F238E27FC236}">
                <a16:creationId xmlns:a16="http://schemas.microsoft.com/office/drawing/2014/main" id="{91DE0A2F-2041-406E-A143-EB386B020A99}"/>
              </a:ext>
            </a:extLst>
          </p:cNvPr>
          <p:cNvSpPr>
            <a:spLocks noGrp="1"/>
          </p:cNvSpPr>
          <p:nvPr/>
        </p:nvSpPr>
        <p:spPr>
          <a:xfrm>
            <a:off x="8191500" y="2314575"/>
            <a:ext cx="2667000" cy="381000"/>
          </a:xfrm>
          <a:prstGeom prst="rect">
            <a:avLst/>
          </a:prstGeom>
          <a:noFill/>
          <a:ln w="0">
            <a:noFill/>
            <a:prstDash val="solid"/>
          </a:ln>
        </p:spPr>
        <p:txBody>
          <a:bodyPr anchor="t"/>
          <a:lstStyle/>
          <a:p>
            <a:pPr algn="l">
              <a:buNone/>
              <a:defRPr sz="2100" b="1">
                <a:solidFill>
                  <a:srgbClr val="123047"/>
                </a:solidFill>
              </a:defRPr>
            </a:pPr>
            <a:r>
              <a:rPr sz="2100" b="1">
                <a:solidFill>
                  <a:srgbClr val="123047"/>
                </a:solidFill>
              </a:rPr>
              <a:t>Axillary cannulation</a:t>
            </a:r>
          </a:p>
        </p:txBody>
      </p:sp>
      <p:sp>
        <p:nvSpPr>
          <p:cNvPr id="10" name="text">
            <a:extLst>
              <a:ext uri="{FF2B5EF4-FFF2-40B4-BE49-F238E27FC236}">
                <a16:creationId xmlns:a16="http://schemas.microsoft.com/office/drawing/2014/main" id="{D07CE173-0594-4398-9B3C-BB250B8CF340}"/>
              </a:ext>
            </a:extLst>
          </p:cNvPr>
          <p:cNvSpPr>
            <a:spLocks noGrp="1"/>
          </p:cNvSpPr>
          <p:nvPr/>
        </p:nvSpPr>
        <p:spPr>
          <a:xfrm>
            <a:off x="8191500" y="2924175"/>
            <a:ext cx="2667000" cy="1238250"/>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Antegrade arterial access that can continue directed cerebral perfusion when distal systemic flow is stopped</a:t>
            </a:r>
            <a:r>
              <a:rPr lang="en-US" sz="1575" b="0" dirty="0">
                <a:solidFill>
                  <a:srgbClr val="172026"/>
                </a:solidFill>
              </a:rPr>
              <a:t> using a 8mm </a:t>
            </a:r>
            <a:r>
              <a:rPr lang="en-US" sz="1575" b="0" dirty="0" err="1">
                <a:solidFill>
                  <a:srgbClr val="172026"/>
                </a:solidFill>
              </a:rPr>
              <a:t>dacron</a:t>
            </a:r>
            <a:r>
              <a:rPr lang="en-US" sz="1575" b="0" dirty="0">
                <a:solidFill>
                  <a:srgbClr val="172026"/>
                </a:solidFill>
              </a:rPr>
              <a:t> graft connected to a 3/8 tubing</a:t>
            </a:r>
            <a:r>
              <a:rPr sz="1575" b="0" dirty="0">
                <a:solidFill>
                  <a:srgbClr val="172026"/>
                </a:solidFill>
              </a:rPr>
              <a:t>.</a:t>
            </a:r>
          </a:p>
        </p:txBody>
      </p:sp>
      <p:sp>
        <p:nvSpPr>
          <p:cNvPr id="11" name="text">
            <a:extLst>
              <a:ext uri="{FF2B5EF4-FFF2-40B4-BE49-F238E27FC236}">
                <a16:creationId xmlns:a16="http://schemas.microsoft.com/office/drawing/2014/main" id="{22DBB16B-16AE-4D17-B07B-CC7E8ED8A869}"/>
              </a:ext>
            </a:extLst>
          </p:cNvPr>
          <p:cNvSpPr>
            <a:spLocks noGrp="1"/>
          </p:cNvSpPr>
          <p:nvPr/>
        </p:nvSpPr>
        <p:spPr>
          <a:xfrm>
            <a:off x="8191500" y="4438652"/>
            <a:ext cx="2381250" cy="266700"/>
          </a:xfrm>
          <a:prstGeom prst="rect">
            <a:avLst/>
          </a:prstGeom>
          <a:noFill/>
          <a:ln w="0">
            <a:noFill/>
            <a:prstDash val="solid"/>
          </a:ln>
        </p:spPr>
        <p:txBody>
          <a:bodyPr anchor="t"/>
          <a:lstStyle/>
          <a:p>
            <a:pPr algn="l">
              <a:buNone/>
              <a:defRPr sz="1350" b="1">
                <a:solidFill>
                  <a:srgbClr val="A33B3B"/>
                </a:solidFill>
              </a:defRPr>
            </a:pPr>
            <a:r>
              <a:rPr sz="1350" b="1" dirty="0">
                <a:solidFill>
                  <a:srgbClr val="A33B3B"/>
                </a:solidFill>
              </a:rPr>
              <a:t>Primary role in this case</a:t>
            </a:r>
          </a:p>
        </p:txBody>
      </p:sp>
      <p:sp>
        <p:nvSpPr>
          <p:cNvPr id="12" name="text">
            <a:extLst>
              <a:ext uri="{FF2B5EF4-FFF2-40B4-BE49-F238E27FC236}">
                <a16:creationId xmlns:a16="http://schemas.microsoft.com/office/drawing/2014/main" id="{126F0959-653B-4CEB-A819-BAB583FAE6BF}"/>
              </a:ext>
            </a:extLst>
          </p:cNvPr>
          <p:cNvSpPr>
            <a:spLocks noGrp="1"/>
          </p:cNvSpPr>
          <p:nvPr/>
        </p:nvSpPr>
        <p:spPr>
          <a:xfrm>
            <a:off x="8191500" y="4648200"/>
            <a:ext cx="2667000" cy="285750"/>
          </a:xfrm>
          <a:prstGeom prst="rect">
            <a:avLst/>
          </a:prstGeom>
          <a:noFill/>
          <a:ln w="0">
            <a:noFill/>
            <a:prstDash val="solid"/>
          </a:ln>
        </p:spPr>
        <p:txBody>
          <a:bodyPr anchor="t"/>
          <a:lstStyle/>
          <a:p>
            <a:pPr algn="l">
              <a:buNone/>
              <a:defRPr sz="1500" b="1">
                <a:solidFill>
                  <a:srgbClr val="172026"/>
                </a:solidFill>
              </a:defRPr>
            </a:pPr>
            <a:r>
              <a:rPr lang="en-US" sz="1500" b="1" dirty="0">
                <a:solidFill>
                  <a:srgbClr val="172026"/>
                </a:solidFill>
              </a:rPr>
              <a:t>Whole – body bypass and </a:t>
            </a:r>
            <a:r>
              <a:rPr sz="1500" b="1" dirty="0">
                <a:solidFill>
                  <a:srgbClr val="172026"/>
                </a:solidFill>
              </a:rPr>
              <a:t>ACP during aortic reconstruction</a:t>
            </a:r>
          </a:p>
        </p:txBody>
      </p:sp>
      <p:sp>
        <p:nvSpPr>
          <p:cNvPr id="13" name="text">
            <a:extLst>
              <a:ext uri="{FF2B5EF4-FFF2-40B4-BE49-F238E27FC236}">
                <a16:creationId xmlns:a16="http://schemas.microsoft.com/office/drawing/2014/main" id="{878B6910-E512-48F3-A7FE-D71F90F8B6EB}"/>
              </a:ext>
            </a:extLst>
          </p:cNvPr>
          <p:cNvSpPr>
            <a:spLocks noGrp="1"/>
          </p:cNvSpPr>
          <p:nvPr/>
        </p:nvSpPr>
        <p:spPr>
          <a:xfrm>
            <a:off x="4648200" y="3000375"/>
            <a:ext cx="2857500" cy="361950"/>
          </a:xfrm>
          <a:prstGeom prst="rect">
            <a:avLst/>
          </a:prstGeom>
          <a:noFill/>
          <a:ln w="0">
            <a:noFill/>
            <a:prstDash val="solid"/>
          </a:ln>
        </p:spPr>
        <p:txBody>
          <a:bodyPr anchor="t"/>
          <a:lstStyle/>
          <a:p>
            <a:pPr algn="ctr">
              <a:buNone/>
              <a:defRPr sz="1650" b="1">
                <a:solidFill>
                  <a:srgbClr val="2D6F8E"/>
                </a:solidFill>
              </a:defRPr>
            </a:pPr>
            <a:r>
              <a:rPr sz="1650" b="1">
                <a:solidFill>
                  <a:srgbClr val="2D6F8E"/>
                </a:solidFill>
              </a:rPr>
              <a:t>dual arterial strategy</a:t>
            </a:r>
          </a:p>
        </p:txBody>
      </p:sp>
      <p:sp>
        <p:nvSpPr>
          <p:cNvPr id="15" name="slide-number">
            <a:extLst>
              <a:ext uri="{FF2B5EF4-FFF2-40B4-BE49-F238E27FC236}">
                <a16:creationId xmlns:a16="http://schemas.microsoft.com/office/drawing/2014/main" id="{E0DFBAAE-08EC-458C-A7EA-2CFCBF4B1137}"/>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6</a:t>
            </a:r>
          </a:p>
        </p:txBody>
      </p:sp>
    </p:spTree>
    <p:extLst>
      <p:ext uri="{BB962C8B-B14F-4D97-AF65-F5344CB8AC3E}">
        <p14:creationId xmlns:p14="http://schemas.microsoft.com/office/powerpoint/2010/main" val="724083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071C1D86-5518-4210-9F8D-6D3A79F9CF80}"/>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Bypass and cooling were established before the sternotomy</a:t>
            </a:r>
          </a:p>
        </p:txBody>
      </p:sp>
      <p:sp>
        <p:nvSpPr>
          <p:cNvPr id="2" name="Rectangle: Rounded Corners 1">
            <a:extLst>
              <a:ext uri="{FF2B5EF4-FFF2-40B4-BE49-F238E27FC236}">
                <a16:creationId xmlns:a16="http://schemas.microsoft.com/office/drawing/2014/main" id="{7B6D588A-00F7-4457-8086-2BA3DFA15660}"/>
              </a:ext>
            </a:extLst>
          </p:cNvPr>
          <p:cNvSpPr>
            <a:spLocks noGrp="1"/>
          </p:cNvSpPr>
          <p:nvPr/>
        </p:nvSpPr>
        <p:spPr>
          <a:xfrm>
            <a:off x="457200" y="1809750"/>
            <a:ext cx="2571750" cy="3143250"/>
          </a:xfrm>
          <a:prstGeom prst="roundRect">
            <a:avLst>
              <a:gd name="adj" fmla="val 4444"/>
            </a:avLst>
          </a:prstGeom>
          <a:solidFill>
            <a:srgbClr val="EEF4F6"/>
          </a:solidFill>
          <a:ln w="0">
            <a:noFill/>
            <a:prstDash val="solid"/>
          </a:ln>
        </p:spPr>
        <p:txBody>
          <a:bodyPr/>
          <a:lstStyle/>
          <a:p>
            <a:endParaRPr lang="en-US"/>
          </a:p>
        </p:txBody>
      </p:sp>
      <p:sp>
        <p:nvSpPr>
          <p:cNvPr id="3" name="text">
            <a:extLst>
              <a:ext uri="{FF2B5EF4-FFF2-40B4-BE49-F238E27FC236}">
                <a16:creationId xmlns:a16="http://schemas.microsoft.com/office/drawing/2014/main" id="{AEFA9559-B130-4783-B903-66AF923150E7}"/>
              </a:ext>
            </a:extLst>
          </p:cNvPr>
          <p:cNvSpPr>
            <a:spLocks noGrp="1"/>
          </p:cNvSpPr>
          <p:nvPr/>
        </p:nvSpPr>
        <p:spPr>
          <a:xfrm>
            <a:off x="685800" y="2066925"/>
            <a:ext cx="476250" cy="514350"/>
          </a:xfrm>
          <a:prstGeom prst="rect">
            <a:avLst/>
          </a:prstGeom>
          <a:noFill/>
          <a:ln w="0">
            <a:noFill/>
            <a:prstDash val="solid"/>
          </a:ln>
        </p:spPr>
        <p:txBody>
          <a:bodyPr anchor="t"/>
          <a:lstStyle/>
          <a:p>
            <a:pPr algn="l">
              <a:buNone/>
              <a:defRPr sz="2550" b="1">
                <a:solidFill>
                  <a:srgbClr val="A33B3B"/>
                </a:solidFill>
              </a:defRPr>
            </a:pPr>
            <a:r>
              <a:rPr sz="2550" b="1">
                <a:solidFill>
                  <a:srgbClr val="A33B3B"/>
                </a:solidFill>
              </a:rPr>
              <a:t>1</a:t>
            </a:r>
          </a:p>
        </p:txBody>
      </p:sp>
      <p:sp>
        <p:nvSpPr>
          <p:cNvPr id="4" name="text">
            <a:extLst>
              <a:ext uri="{FF2B5EF4-FFF2-40B4-BE49-F238E27FC236}">
                <a16:creationId xmlns:a16="http://schemas.microsoft.com/office/drawing/2014/main" id="{A496D014-8B9D-4DC5-A4FF-BF22D3489594}"/>
              </a:ext>
            </a:extLst>
          </p:cNvPr>
          <p:cNvSpPr>
            <a:spLocks noGrp="1"/>
          </p:cNvSpPr>
          <p:nvPr/>
        </p:nvSpPr>
        <p:spPr>
          <a:xfrm>
            <a:off x="685800" y="2714625"/>
            <a:ext cx="2095500" cy="361950"/>
          </a:xfrm>
          <a:prstGeom prst="rect">
            <a:avLst/>
          </a:prstGeom>
          <a:noFill/>
          <a:ln w="0">
            <a:noFill/>
            <a:prstDash val="solid"/>
          </a:ln>
        </p:spPr>
        <p:txBody>
          <a:bodyPr anchor="t"/>
          <a:lstStyle/>
          <a:p>
            <a:pPr algn="l">
              <a:buNone/>
              <a:defRPr sz="1875" b="1">
                <a:solidFill>
                  <a:srgbClr val="123047"/>
                </a:solidFill>
              </a:defRPr>
            </a:pPr>
            <a:r>
              <a:rPr sz="1875" b="1">
                <a:solidFill>
                  <a:srgbClr val="123047"/>
                </a:solidFill>
              </a:rPr>
              <a:t>Cannulate</a:t>
            </a:r>
          </a:p>
        </p:txBody>
      </p:sp>
      <p:sp>
        <p:nvSpPr>
          <p:cNvPr id="5" name="text">
            <a:extLst>
              <a:ext uri="{FF2B5EF4-FFF2-40B4-BE49-F238E27FC236}">
                <a16:creationId xmlns:a16="http://schemas.microsoft.com/office/drawing/2014/main" id="{25F13D10-887D-4F40-ACA2-DA82652D8F4E}"/>
              </a:ext>
            </a:extLst>
          </p:cNvPr>
          <p:cNvSpPr>
            <a:spLocks noGrp="1"/>
          </p:cNvSpPr>
          <p:nvPr/>
        </p:nvSpPr>
        <p:spPr>
          <a:xfrm>
            <a:off x="685800" y="3257550"/>
            <a:ext cx="2095500" cy="1190625"/>
          </a:xfrm>
          <a:prstGeom prst="rect">
            <a:avLst/>
          </a:prstGeom>
          <a:noFill/>
          <a:ln w="0">
            <a:noFill/>
            <a:prstDash val="solid"/>
          </a:ln>
        </p:spPr>
        <p:txBody>
          <a:bodyPr anchor="t"/>
          <a:lstStyle/>
          <a:p>
            <a:pPr algn="l">
              <a:buNone/>
              <a:defRPr sz="1425" b="0">
                <a:solidFill>
                  <a:srgbClr val="172026"/>
                </a:solidFill>
              </a:defRPr>
            </a:pPr>
            <a:r>
              <a:rPr sz="1425" b="0" dirty="0">
                <a:solidFill>
                  <a:srgbClr val="172026"/>
                </a:solidFill>
              </a:rPr>
              <a:t>Femoral and axillary access established before chest incision.</a:t>
            </a:r>
          </a:p>
        </p:txBody>
      </p:sp>
      <p:sp>
        <p:nvSpPr>
          <p:cNvPr id="6" name="Rectangle: Rounded Corners 5">
            <a:extLst>
              <a:ext uri="{FF2B5EF4-FFF2-40B4-BE49-F238E27FC236}">
                <a16:creationId xmlns:a16="http://schemas.microsoft.com/office/drawing/2014/main" id="{D2183670-0ED0-4150-9B89-BB0E1459D258}"/>
              </a:ext>
            </a:extLst>
          </p:cNvPr>
          <p:cNvSpPr>
            <a:spLocks noGrp="1"/>
          </p:cNvSpPr>
          <p:nvPr/>
        </p:nvSpPr>
        <p:spPr>
          <a:xfrm>
            <a:off x="3314700" y="1809750"/>
            <a:ext cx="2571750" cy="3143250"/>
          </a:xfrm>
          <a:prstGeom prst="roundRect">
            <a:avLst>
              <a:gd name="adj" fmla="val 4444"/>
            </a:avLst>
          </a:prstGeom>
          <a:solidFill>
            <a:srgbClr val="F7F3EB"/>
          </a:solidFill>
          <a:ln w="0">
            <a:noFill/>
            <a:prstDash val="solid"/>
          </a:ln>
        </p:spPr>
        <p:txBody>
          <a:bodyPr/>
          <a:lstStyle/>
          <a:p>
            <a:endParaRPr lang="en-US"/>
          </a:p>
        </p:txBody>
      </p:sp>
      <p:sp>
        <p:nvSpPr>
          <p:cNvPr id="7" name="text">
            <a:extLst>
              <a:ext uri="{FF2B5EF4-FFF2-40B4-BE49-F238E27FC236}">
                <a16:creationId xmlns:a16="http://schemas.microsoft.com/office/drawing/2014/main" id="{FE8264FC-13F6-4356-9369-D9333D557F2B}"/>
              </a:ext>
            </a:extLst>
          </p:cNvPr>
          <p:cNvSpPr>
            <a:spLocks noGrp="1"/>
          </p:cNvSpPr>
          <p:nvPr/>
        </p:nvSpPr>
        <p:spPr>
          <a:xfrm>
            <a:off x="3543300" y="2066925"/>
            <a:ext cx="476250" cy="514350"/>
          </a:xfrm>
          <a:prstGeom prst="rect">
            <a:avLst/>
          </a:prstGeom>
          <a:noFill/>
          <a:ln w="0">
            <a:noFill/>
            <a:prstDash val="solid"/>
          </a:ln>
        </p:spPr>
        <p:txBody>
          <a:bodyPr anchor="t"/>
          <a:lstStyle/>
          <a:p>
            <a:pPr algn="l">
              <a:buNone/>
              <a:defRPr sz="2550" b="1">
                <a:solidFill>
                  <a:srgbClr val="A33B3B"/>
                </a:solidFill>
              </a:defRPr>
            </a:pPr>
            <a:r>
              <a:rPr sz="2550" b="1">
                <a:solidFill>
                  <a:srgbClr val="A33B3B"/>
                </a:solidFill>
              </a:rPr>
              <a:t>2</a:t>
            </a:r>
          </a:p>
        </p:txBody>
      </p:sp>
      <p:sp>
        <p:nvSpPr>
          <p:cNvPr id="8" name="text">
            <a:extLst>
              <a:ext uri="{FF2B5EF4-FFF2-40B4-BE49-F238E27FC236}">
                <a16:creationId xmlns:a16="http://schemas.microsoft.com/office/drawing/2014/main" id="{9E9872B5-370D-49FA-AE06-8CD9F2BF9F19}"/>
              </a:ext>
            </a:extLst>
          </p:cNvPr>
          <p:cNvSpPr>
            <a:spLocks noGrp="1"/>
          </p:cNvSpPr>
          <p:nvPr/>
        </p:nvSpPr>
        <p:spPr>
          <a:xfrm>
            <a:off x="3543300" y="2714625"/>
            <a:ext cx="2095500" cy="361950"/>
          </a:xfrm>
          <a:prstGeom prst="rect">
            <a:avLst/>
          </a:prstGeom>
          <a:noFill/>
          <a:ln w="0">
            <a:noFill/>
            <a:prstDash val="solid"/>
          </a:ln>
        </p:spPr>
        <p:txBody>
          <a:bodyPr anchor="t"/>
          <a:lstStyle/>
          <a:p>
            <a:pPr algn="l">
              <a:buNone/>
              <a:defRPr sz="1875" b="1">
                <a:solidFill>
                  <a:srgbClr val="123047"/>
                </a:solidFill>
              </a:defRPr>
            </a:pPr>
            <a:r>
              <a:rPr sz="1875" b="1">
                <a:solidFill>
                  <a:srgbClr val="123047"/>
                </a:solidFill>
              </a:rPr>
              <a:t>Anticoagulate</a:t>
            </a:r>
          </a:p>
        </p:txBody>
      </p:sp>
      <p:sp>
        <p:nvSpPr>
          <p:cNvPr id="9" name="text">
            <a:extLst>
              <a:ext uri="{FF2B5EF4-FFF2-40B4-BE49-F238E27FC236}">
                <a16:creationId xmlns:a16="http://schemas.microsoft.com/office/drawing/2014/main" id="{8F368EFD-A443-4C37-ABD3-C16985C7DE02}"/>
              </a:ext>
            </a:extLst>
          </p:cNvPr>
          <p:cNvSpPr>
            <a:spLocks noGrp="1"/>
          </p:cNvSpPr>
          <p:nvPr/>
        </p:nvSpPr>
        <p:spPr>
          <a:xfrm>
            <a:off x="3543300" y="3257550"/>
            <a:ext cx="2095500" cy="1190625"/>
          </a:xfrm>
          <a:prstGeom prst="rect">
            <a:avLst/>
          </a:prstGeom>
          <a:noFill/>
          <a:ln w="0">
            <a:noFill/>
            <a:prstDash val="solid"/>
          </a:ln>
        </p:spPr>
        <p:txBody>
          <a:bodyPr anchor="t"/>
          <a:lstStyle/>
          <a:p>
            <a:pPr algn="l">
              <a:buNone/>
              <a:defRPr sz="1425" b="0">
                <a:solidFill>
                  <a:srgbClr val="172026"/>
                </a:solidFill>
              </a:defRPr>
            </a:pPr>
            <a:r>
              <a:rPr sz="1425" b="0" dirty="0">
                <a:solidFill>
                  <a:srgbClr val="172026"/>
                </a:solidFill>
              </a:rPr>
              <a:t>Systemic heparinization before CPB</a:t>
            </a:r>
            <a:r>
              <a:rPr lang="en-US" sz="1425" b="0" dirty="0">
                <a:solidFill>
                  <a:srgbClr val="172026"/>
                </a:solidFill>
              </a:rPr>
              <a:t> using 47,000 units of Heparin and 10,000 in prime: ACT reached 1005</a:t>
            </a:r>
            <a:r>
              <a:rPr sz="1425" b="0" dirty="0">
                <a:solidFill>
                  <a:srgbClr val="172026"/>
                </a:solidFill>
              </a:rPr>
              <a:t>.</a:t>
            </a:r>
          </a:p>
        </p:txBody>
      </p:sp>
      <p:sp>
        <p:nvSpPr>
          <p:cNvPr id="10" name="Rectangle: Rounded Corners 9">
            <a:extLst>
              <a:ext uri="{FF2B5EF4-FFF2-40B4-BE49-F238E27FC236}">
                <a16:creationId xmlns:a16="http://schemas.microsoft.com/office/drawing/2014/main" id="{7A22E6B5-0E17-4AEB-A3A7-0251450884AF}"/>
              </a:ext>
            </a:extLst>
          </p:cNvPr>
          <p:cNvSpPr>
            <a:spLocks noGrp="1"/>
          </p:cNvSpPr>
          <p:nvPr/>
        </p:nvSpPr>
        <p:spPr>
          <a:xfrm>
            <a:off x="6172200" y="1809750"/>
            <a:ext cx="2571750" cy="3143250"/>
          </a:xfrm>
          <a:prstGeom prst="roundRect">
            <a:avLst>
              <a:gd name="adj" fmla="val 4444"/>
            </a:avLst>
          </a:prstGeom>
          <a:solidFill>
            <a:srgbClr val="EEF4F6"/>
          </a:solidFill>
          <a:ln w="0">
            <a:noFill/>
            <a:prstDash val="solid"/>
          </a:ln>
        </p:spPr>
        <p:txBody>
          <a:bodyPr/>
          <a:lstStyle/>
          <a:p>
            <a:endParaRPr lang="en-US"/>
          </a:p>
        </p:txBody>
      </p:sp>
      <p:sp>
        <p:nvSpPr>
          <p:cNvPr id="11" name="text">
            <a:extLst>
              <a:ext uri="{FF2B5EF4-FFF2-40B4-BE49-F238E27FC236}">
                <a16:creationId xmlns:a16="http://schemas.microsoft.com/office/drawing/2014/main" id="{5838E359-C134-4DF1-9F1E-75DE37A70D11}"/>
              </a:ext>
            </a:extLst>
          </p:cNvPr>
          <p:cNvSpPr>
            <a:spLocks noGrp="1"/>
          </p:cNvSpPr>
          <p:nvPr/>
        </p:nvSpPr>
        <p:spPr>
          <a:xfrm>
            <a:off x="6400800" y="2066925"/>
            <a:ext cx="476250" cy="514350"/>
          </a:xfrm>
          <a:prstGeom prst="rect">
            <a:avLst/>
          </a:prstGeom>
          <a:noFill/>
          <a:ln w="0">
            <a:noFill/>
            <a:prstDash val="solid"/>
          </a:ln>
        </p:spPr>
        <p:txBody>
          <a:bodyPr anchor="t"/>
          <a:lstStyle/>
          <a:p>
            <a:pPr algn="l">
              <a:buNone/>
              <a:defRPr sz="2550" b="1">
                <a:solidFill>
                  <a:srgbClr val="A33B3B"/>
                </a:solidFill>
              </a:defRPr>
            </a:pPr>
            <a:r>
              <a:rPr sz="2550" b="1">
                <a:solidFill>
                  <a:srgbClr val="A33B3B"/>
                </a:solidFill>
              </a:rPr>
              <a:t>3</a:t>
            </a:r>
          </a:p>
        </p:txBody>
      </p:sp>
      <p:sp>
        <p:nvSpPr>
          <p:cNvPr id="12" name="text">
            <a:extLst>
              <a:ext uri="{FF2B5EF4-FFF2-40B4-BE49-F238E27FC236}">
                <a16:creationId xmlns:a16="http://schemas.microsoft.com/office/drawing/2014/main" id="{331A49F5-CA85-44BC-9BB3-414AF8C352B1}"/>
              </a:ext>
            </a:extLst>
          </p:cNvPr>
          <p:cNvSpPr>
            <a:spLocks noGrp="1"/>
          </p:cNvSpPr>
          <p:nvPr/>
        </p:nvSpPr>
        <p:spPr>
          <a:xfrm>
            <a:off x="6400800" y="2714625"/>
            <a:ext cx="2095500" cy="361950"/>
          </a:xfrm>
          <a:prstGeom prst="rect">
            <a:avLst/>
          </a:prstGeom>
          <a:noFill/>
          <a:ln w="0">
            <a:noFill/>
            <a:prstDash val="solid"/>
          </a:ln>
        </p:spPr>
        <p:txBody>
          <a:bodyPr anchor="t"/>
          <a:lstStyle/>
          <a:p>
            <a:pPr algn="l">
              <a:buNone/>
              <a:defRPr sz="1875" b="1">
                <a:solidFill>
                  <a:srgbClr val="123047"/>
                </a:solidFill>
              </a:defRPr>
            </a:pPr>
            <a:r>
              <a:rPr sz="1875" b="1">
                <a:solidFill>
                  <a:srgbClr val="123047"/>
                </a:solidFill>
              </a:rPr>
              <a:t>Initiate CPB</a:t>
            </a:r>
          </a:p>
        </p:txBody>
      </p:sp>
      <p:sp>
        <p:nvSpPr>
          <p:cNvPr id="13" name="text">
            <a:extLst>
              <a:ext uri="{FF2B5EF4-FFF2-40B4-BE49-F238E27FC236}">
                <a16:creationId xmlns:a16="http://schemas.microsoft.com/office/drawing/2014/main" id="{DA57D7CF-6244-4BE2-9970-03E53C817E0B}"/>
              </a:ext>
            </a:extLst>
          </p:cNvPr>
          <p:cNvSpPr>
            <a:spLocks noGrp="1"/>
          </p:cNvSpPr>
          <p:nvPr/>
        </p:nvSpPr>
        <p:spPr>
          <a:xfrm>
            <a:off x="6400800" y="3257550"/>
            <a:ext cx="2095500" cy="1190625"/>
          </a:xfrm>
          <a:prstGeom prst="rect">
            <a:avLst/>
          </a:prstGeom>
          <a:noFill/>
          <a:ln w="0">
            <a:noFill/>
            <a:prstDash val="solid"/>
          </a:ln>
        </p:spPr>
        <p:txBody>
          <a:bodyPr anchor="t"/>
          <a:lstStyle/>
          <a:p>
            <a:pPr algn="l">
              <a:buNone/>
              <a:defRPr sz="1425" b="0">
                <a:solidFill>
                  <a:srgbClr val="172026"/>
                </a:solidFill>
              </a:defRPr>
            </a:pPr>
            <a:r>
              <a:rPr lang="en-US" sz="1425" dirty="0">
                <a:solidFill>
                  <a:srgbClr val="172026"/>
                </a:solidFill>
              </a:rPr>
              <a:t>R</a:t>
            </a:r>
            <a:r>
              <a:rPr sz="1425" b="0" dirty="0">
                <a:solidFill>
                  <a:srgbClr val="172026"/>
                </a:solidFill>
              </a:rPr>
              <a:t>eported full flow of </a:t>
            </a:r>
            <a:r>
              <a:rPr lang="en-US" sz="1425" dirty="0">
                <a:solidFill>
                  <a:srgbClr val="172026"/>
                </a:solidFill>
              </a:rPr>
              <a:t>3.4</a:t>
            </a:r>
            <a:r>
              <a:rPr sz="1425" b="0" dirty="0">
                <a:solidFill>
                  <a:srgbClr val="172026"/>
                </a:solidFill>
              </a:rPr>
              <a:t> L/min</a:t>
            </a:r>
            <a:r>
              <a:rPr lang="en-US" sz="1425" b="0" dirty="0">
                <a:solidFill>
                  <a:srgbClr val="172026"/>
                </a:solidFill>
              </a:rPr>
              <a:t> during the initiations with a BSA of 1.87 m2</a:t>
            </a:r>
            <a:r>
              <a:rPr sz="1425" b="0" dirty="0">
                <a:solidFill>
                  <a:srgbClr val="172026"/>
                </a:solidFill>
              </a:rPr>
              <a:t>.</a:t>
            </a:r>
          </a:p>
        </p:txBody>
      </p:sp>
      <p:sp>
        <p:nvSpPr>
          <p:cNvPr id="14" name="Rectangle: Rounded Corners 13">
            <a:extLst>
              <a:ext uri="{FF2B5EF4-FFF2-40B4-BE49-F238E27FC236}">
                <a16:creationId xmlns:a16="http://schemas.microsoft.com/office/drawing/2014/main" id="{BF5381B5-642F-4796-91AC-144DF7347654}"/>
              </a:ext>
            </a:extLst>
          </p:cNvPr>
          <p:cNvSpPr>
            <a:spLocks noGrp="1"/>
          </p:cNvSpPr>
          <p:nvPr/>
        </p:nvSpPr>
        <p:spPr>
          <a:xfrm>
            <a:off x="9029700" y="1809750"/>
            <a:ext cx="2571750" cy="3143250"/>
          </a:xfrm>
          <a:prstGeom prst="roundRect">
            <a:avLst>
              <a:gd name="adj" fmla="val 4444"/>
            </a:avLst>
          </a:prstGeom>
          <a:solidFill>
            <a:srgbClr val="F7F3EB"/>
          </a:solidFill>
          <a:ln w="0">
            <a:noFill/>
            <a:prstDash val="solid"/>
          </a:ln>
        </p:spPr>
        <p:txBody>
          <a:bodyPr/>
          <a:lstStyle/>
          <a:p>
            <a:endParaRPr lang="en-US"/>
          </a:p>
        </p:txBody>
      </p:sp>
      <p:sp>
        <p:nvSpPr>
          <p:cNvPr id="15" name="text">
            <a:extLst>
              <a:ext uri="{FF2B5EF4-FFF2-40B4-BE49-F238E27FC236}">
                <a16:creationId xmlns:a16="http://schemas.microsoft.com/office/drawing/2014/main" id="{79E8B28F-7D06-4231-847E-30C91B1F4430}"/>
              </a:ext>
            </a:extLst>
          </p:cNvPr>
          <p:cNvSpPr>
            <a:spLocks noGrp="1"/>
          </p:cNvSpPr>
          <p:nvPr/>
        </p:nvSpPr>
        <p:spPr>
          <a:xfrm>
            <a:off x="9258300" y="2066925"/>
            <a:ext cx="476250" cy="514350"/>
          </a:xfrm>
          <a:prstGeom prst="rect">
            <a:avLst/>
          </a:prstGeom>
          <a:noFill/>
          <a:ln w="0">
            <a:noFill/>
            <a:prstDash val="solid"/>
          </a:ln>
        </p:spPr>
        <p:txBody>
          <a:bodyPr anchor="t"/>
          <a:lstStyle/>
          <a:p>
            <a:pPr algn="l">
              <a:buNone/>
              <a:defRPr sz="2550" b="1">
                <a:solidFill>
                  <a:srgbClr val="A33B3B"/>
                </a:solidFill>
              </a:defRPr>
            </a:pPr>
            <a:r>
              <a:rPr sz="2550" b="1">
                <a:solidFill>
                  <a:srgbClr val="A33B3B"/>
                </a:solidFill>
              </a:rPr>
              <a:t>4</a:t>
            </a:r>
          </a:p>
        </p:txBody>
      </p:sp>
      <p:sp>
        <p:nvSpPr>
          <p:cNvPr id="16" name="text">
            <a:extLst>
              <a:ext uri="{FF2B5EF4-FFF2-40B4-BE49-F238E27FC236}">
                <a16:creationId xmlns:a16="http://schemas.microsoft.com/office/drawing/2014/main" id="{91B15077-66D9-4B83-BE06-EFEDC765DC9C}"/>
              </a:ext>
            </a:extLst>
          </p:cNvPr>
          <p:cNvSpPr>
            <a:spLocks noGrp="1"/>
          </p:cNvSpPr>
          <p:nvPr/>
        </p:nvSpPr>
        <p:spPr>
          <a:xfrm>
            <a:off x="9258300" y="2714625"/>
            <a:ext cx="2095500" cy="361950"/>
          </a:xfrm>
          <a:prstGeom prst="rect">
            <a:avLst/>
          </a:prstGeom>
          <a:noFill/>
          <a:ln w="0">
            <a:noFill/>
            <a:prstDash val="solid"/>
          </a:ln>
        </p:spPr>
        <p:txBody>
          <a:bodyPr anchor="t"/>
          <a:lstStyle/>
          <a:p>
            <a:pPr algn="l">
              <a:buNone/>
              <a:defRPr sz="1875" b="1">
                <a:solidFill>
                  <a:srgbClr val="123047"/>
                </a:solidFill>
              </a:defRPr>
            </a:pPr>
            <a:r>
              <a:rPr sz="1875" b="1">
                <a:solidFill>
                  <a:srgbClr val="123047"/>
                </a:solidFill>
              </a:rPr>
              <a:t>Cool</a:t>
            </a:r>
          </a:p>
        </p:txBody>
      </p:sp>
      <p:sp>
        <p:nvSpPr>
          <p:cNvPr id="17" name="text">
            <a:extLst>
              <a:ext uri="{FF2B5EF4-FFF2-40B4-BE49-F238E27FC236}">
                <a16:creationId xmlns:a16="http://schemas.microsoft.com/office/drawing/2014/main" id="{CFD76F2E-C70B-424A-845D-A64A99873192}"/>
              </a:ext>
            </a:extLst>
          </p:cNvPr>
          <p:cNvSpPr>
            <a:spLocks noGrp="1"/>
          </p:cNvSpPr>
          <p:nvPr/>
        </p:nvSpPr>
        <p:spPr>
          <a:xfrm>
            <a:off x="9258300" y="3257550"/>
            <a:ext cx="2095500" cy="1190625"/>
          </a:xfrm>
          <a:prstGeom prst="rect">
            <a:avLst/>
          </a:prstGeom>
          <a:noFill/>
          <a:ln w="0">
            <a:noFill/>
            <a:prstDash val="solid"/>
          </a:ln>
        </p:spPr>
        <p:txBody>
          <a:bodyPr anchor="t"/>
          <a:lstStyle/>
          <a:p>
            <a:pPr algn="l">
              <a:buNone/>
              <a:defRPr sz="1425" b="0">
                <a:solidFill>
                  <a:srgbClr val="172026"/>
                </a:solidFill>
              </a:defRPr>
            </a:pPr>
            <a:r>
              <a:rPr sz="1425" b="0" dirty="0">
                <a:solidFill>
                  <a:srgbClr val="172026"/>
                </a:solidFill>
              </a:rPr>
              <a:t>Core temperature reduced </a:t>
            </a:r>
            <a:r>
              <a:rPr lang="en-US" sz="1425" b="0" dirty="0">
                <a:solidFill>
                  <a:srgbClr val="172026"/>
                </a:solidFill>
              </a:rPr>
              <a:t>on the initiation of bypass </a:t>
            </a:r>
            <a:r>
              <a:rPr sz="1425" b="0" dirty="0">
                <a:solidFill>
                  <a:srgbClr val="172026"/>
                </a:solidFill>
              </a:rPr>
              <a:t>to 28 °C </a:t>
            </a:r>
            <a:r>
              <a:rPr lang="en-US" sz="1425" b="0" dirty="0">
                <a:solidFill>
                  <a:srgbClr val="172026"/>
                </a:solidFill>
              </a:rPr>
              <a:t>core temperature </a:t>
            </a:r>
            <a:r>
              <a:rPr sz="1425" b="0" dirty="0">
                <a:solidFill>
                  <a:srgbClr val="172026"/>
                </a:solidFill>
              </a:rPr>
              <a:t>before skin incision.</a:t>
            </a:r>
          </a:p>
        </p:txBody>
      </p:sp>
      <p:sp>
        <p:nvSpPr>
          <p:cNvPr id="20" name="slide-number">
            <a:extLst>
              <a:ext uri="{FF2B5EF4-FFF2-40B4-BE49-F238E27FC236}">
                <a16:creationId xmlns:a16="http://schemas.microsoft.com/office/drawing/2014/main" id="{35B39F9E-7928-4361-83F1-59271489BD27}"/>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7</a:t>
            </a:r>
          </a:p>
        </p:txBody>
      </p:sp>
    </p:spTree>
    <p:extLst>
      <p:ext uri="{BB962C8B-B14F-4D97-AF65-F5344CB8AC3E}">
        <p14:creationId xmlns:p14="http://schemas.microsoft.com/office/powerpoint/2010/main" val="76606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412EA6A4-DBDC-4992-B686-2751AD2C845E}"/>
              </a:ext>
            </a:extLst>
          </p:cNvPr>
          <p:cNvSpPr>
            <a:spLocks noGrp="1"/>
          </p:cNvSpPr>
          <p:nvPr/>
        </p:nvSpPr>
        <p:spPr>
          <a:xfrm>
            <a:off x="457200" y="323850"/>
            <a:ext cx="11277600" cy="590550"/>
          </a:xfrm>
          <a:prstGeom prst="rect">
            <a:avLst/>
          </a:prstGeom>
          <a:noFill/>
          <a:ln w="0">
            <a:noFill/>
            <a:prstDash val="solid"/>
          </a:ln>
        </p:spPr>
        <p:txBody>
          <a:bodyPr anchor="t"/>
          <a:lstStyle/>
          <a:p>
            <a:pPr algn="ctr">
              <a:buNone/>
              <a:defRPr sz="2850" b="1">
                <a:solidFill>
                  <a:srgbClr val="123047"/>
                </a:solidFill>
              </a:defRPr>
            </a:pPr>
            <a:r>
              <a:rPr sz="2850" b="1" dirty="0">
                <a:solidFill>
                  <a:srgbClr val="123047"/>
                </a:solidFill>
              </a:rPr>
              <a:t>Sternotomy converted the plan from controlled cooling to active blood conservation</a:t>
            </a:r>
          </a:p>
        </p:txBody>
      </p:sp>
      <p:sp>
        <p:nvSpPr>
          <p:cNvPr id="2" name="Rectangle: Rounded Corners 1">
            <a:extLst>
              <a:ext uri="{FF2B5EF4-FFF2-40B4-BE49-F238E27FC236}">
                <a16:creationId xmlns:a16="http://schemas.microsoft.com/office/drawing/2014/main" id="{EC75D066-F256-4C51-B1B0-6D396ED06F83}"/>
              </a:ext>
            </a:extLst>
          </p:cNvPr>
          <p:cNvSpPr>
            <a:spLocks noGrp="1"/>
          </p:cNvSpPr>
          <p:nvPr/>
        </p:nvSpPr>
        <p:spPr>
          <a:xfrm>
            <a:off x="457200" y="1714500"/>
            <a:ext cx="4953000" cy="3543300"/>
          </a:xfrm>
          <a:prstGeom prst="roundRect">
            <a:avLst>
              <a:gd name="adj" fmla="val 3226"/>
            </a:avLst>
          </a:prstGeom>
          <a:solidFill>
            <a:srgbClr val="F7F3EB"/>
          </a:solidFill>
          <a:ln w="0">
            <a:noFill/>
            <a:prstDash val="solid"/>
          </a:ln>
        </p:spPr>
        <p:txBody>
          <a:bodyPr/>
          <a:lstStyle/>
          <a:p>
            <a:endParaRPr lang="en-US"/>
          </a:p>
        </p:txBody>
      </p:sp>
      <p:sp>
        <p:nvSpPr>
          <p:cNvPr id="3" name="text">
            <a:extLst>
              <a:ext uri="{FF2B5EF4-FFF2-40B4-BE49-F238E27FC236}">
                <a16:creationId xmlns:a16="http://schemas.microsoft.com/office/drawing/2014/main" id="{EA36CC2F-2A30-48BD-81F3-DEE24F18834D}"/>
              </a:ext>
            </a:extLst>
          </p:cNvPr>
          <p:cNvSpPr>
            <a:spLocks noGrp="1"/>
          </p:cNvSpPr>
          <p:nvPr/>
        </p:nvSpPr>
        <p:spPr>
          <a:xfrm>
            <a:off x="742950" y="2000250"/>
            <a:ext cx="1143000" cy="285750"/>
          </a:xfrm>
          <a:prstGeom prst="rect">
            <a:avLst/>
          </a:prstGeom>
          <a:noFill/>
          <a:ln w="0">
            <a:noFill/>
            <a:prstDash val="solid"/>
          </a:ln>
        </p:spPr>
        <p:txBody>
          <a:bodyPr anchor="t"/>
          <a:lstStyle/>
          <a:p>
            <a:pPr algn="l">
              <a:buNone/>
              <a:defRPr sz="1650" b="1">
                <a:solidFill>
                  <a:srgbClr val="A33B3B"/>
                </a:solidFill>
              </a:defRPr>
            </a:pPr>
            <a:r>
              <a:rPr sz="1650" b="1">
                <a:solidFill>
                  <a:srgbClr val="A33B3B"/>
                </a:solidFill>
              </a:rPr>
              <a:t>Trigger</a:t>
            </a:r>
          </a:p>
        </p:txBody>
      </p:sp>
      <p:sp>
        <p:nvSpPr>
          <p:cNvPr id="4" name="text">
            <a:extLst>
              <a:ext uri="{FF2B5EF4-FFF2-40B4-BE49-F238E27FC236}">
                <a16:creationId xmlns:a16="http://schemas.microsoft.com/office/drawing/2014/main" id="{7010EB00-04D1-40D2-83F5-164A8E5AE020}"/>
              </a:ext>
            </a:extLst>
          </p:cNvPr>
          <p:cNvSpPr>
            <a:spLocks noGrp="1"/>
          </p:cNvSpPr>
          <p:nvPr/>
        </p:nvSpPr>
        <p:spPr>
          <a:xfrm>
            <a:off x="742950" y="2505075"/>
            <a:ext cx="4095750" cy="1047750"/>
          </a:xfrm>
          <a:prstGeom prst="rect">
            <a:avLst/>
          </a:prstGeom>
          <a:noFill/>
          <a:ln w="0">
            <a:noFill/>
            <a:prstDash val="solid"/>
          </a:ln>
        </p:spPr>
        <p:txBody>
          <a:bodyPr anchor="t"/>
          <a:lstStyle/>
          <a:p>
            <a:pPr algn="l">
              <a:buNone/>
              <a:defRPr sz="2025" b="1">
                <a:solidFill>
                  <a:srgbClr val="172026"/>
                </a:solidFill>
              </a:defRPr>
            </a:pPr>
            <a:r>
              <a:rPr sz="2025" b="1" dirty="0">
                <a:solidFill>
                  <a:srgbClr val="172026"/>
                </a:solidFill>
              </a:rPr>
              <a:t>After skin incision and median sternotomy, bleeding increased once the chest was opened.</a:t>
            </a:r>
          </a:p>
        </p:txBody>
      </p:sp>
      <p:sp>
        <p:nvSpPr>
          <p:cNvPr id="5" name="text">
            <a:extLst>
              <a:ext uri="{FF2B5EF4-FFF2-40B4-BE49-F238E27FC236}">
                <a16:creationId xmlns:a16="http://schemas.microsoft.com/office/drawing/2014/main" id="{132119AC-6B6A-4872-B175-6EE7E805A88B}"/>
              </a:ext>
            </a:extLst>
          </p:cNvPr>
          <p:cNvSpPr>
            <a:spLocks noGrp="1"/>
          </p:cNvSpPr>
          <p:nvPr/>
        </p:nvSpPr>
        <p:spPr>
          <a:xfrm>
            <a:off x="742950" y="3895725"/>
            <a:ext cx="4095750" cy="762000"/>
          </a:xfrm>
          <a:prstGeom prst="rect">
            <a:avLst/>
          </a:prstGeom>
          <a:noFill/>
          <a:ln w="0">
            <a:noFill/>
            <a:prstDash val="solid"/>
          </a:ln>
        </p:spPr>
        <p:txBody>
          <a:bodyPr anchor="t"/>
          <a:lstStyle/>
          <a:p>
            <a:pPr algn="l">
              <a:buNone/>
              <a:defRPr sz="1425" b="0">
                <a:solidFill>
                  <a:srgbClr val="56636B"/>
                </a:solidFill>
              </a:defRPr>
            </a:pPr>
            <a:endParaRPr sz="1425" b="0" dirty="0">
              <a:solidFill>
                <a:srgbClr val="56636B"/>
              </a:solidFill>
            </a:endParaRPr>
          </a:p>
        </p:txBody>
      </p:sp>
      <p:sp>
        <p:nvSpPr>
          <p:cNvPr id="6" name="Rectangle: Rounded Corners 5">
            <a:extLst>
              <a:ext uri="{FF2B5EF4-FFF2-40B4-BE49-F238E27FC236}">
                <a16:creationId xmlns:a16="http://schemas.microsoft.com/office/drawing/2014/main" id="{60E7F717-0665-41C9-85AD-F5E0BB661636}"/>
              </a:ext>
            </a:extLst>
          </p:cNvPr>
          <p:cNvSpPr>
            <a:spLocks noGrp="1"/>
          </p:cNvSpPr>
          <p:nvPr/>
        </p:nvSpPr>
        <p:spPr>
          <a:xfrm>
            <a:off x="5886450" y="1714500"/>
            <a:ext cx="5848350" cy="3543300"/>
          </a:xfrm>
          <a:prstGeom prst="roundRect">
            <a:avLst>
              <a:gd name="adj" fmla="val 3226"/>
            </a:avLst>
          </a:prstGeom>
          <a:solidFill>
            <a:srgbClr val="EEF4F6"/>
          </a:solidFill>
          <a:ln w="0">
            <a:noFill/>
            <a:prstDash val="solid"/>
          </a:ln>
        </p:spPr>
        <p:txBody>
          <a:bodyPr/>
          <a:lstStyle/>
          <a:p>
            <a:endParaRPr lang="en-US"/>
          </a:p>
        </p:txBody>
      </p:sp>
      <p:sp>
        <p:nvSpPr>
          <p:cNvPr id="7" name="text">
            <a:extLst>
              <a:ext uri="{FF2B5EF4-FFF2-40B4-BE49-F238E27FC236}">
                <a16:creationId xmlns:a16="http://schemas.microsoft.com/office/drawing/2014/main" id="{10946140-01F2-46C9-9799-9E7EE4960720}"/>
              </a:ext>
            </a:extLst>
          </p:cNvPr>
          <p:cNvSpPr>
            <a:spLocks noGrp="1"/>
          </p:cNvSpPr>
          <p:nvPr/>
        </p:nvSpPr>
        <p:spPr>
          <a:xfrm>
            <a:off x="6191250" y="2000250"/>
            <a:ext cx="2095500" cy="285750"/>
          </a:xfrm>
          <a:prstGeom prst="rect">
            <a:avLst/>
          </a:prstGeom>
          <a:noFill/>
          <a:ln w="0">
            <a:noFill/>
            <a:prstDash val="solid"/>
          </a:ln>
        </p:spPr>
        <p:txBody>
          <a:bodyPr anchor="t"/>
          <a:lstStyle/>
          <a:p>
            <a:pPr algn="l">
              <a:buNone/>
              <a:defRPr sz="1650" b="1">
                <a:solidFill>
                  <a:srgbClr val="123047"/>
                </a:solidFill>
              </a:defRPr>
            </a:pPr>
            <a:r>
              <a:rPr sz="1650" b="1">
                <a:solidFill>
                  <a:srgbClr val="123047"/>
                </a:solidFill>
              </a:rPr>
              <a:t>Perfusion response</a:t>
            </a:r>
          </a:p>
        </p:txBody>
      </p:sp>
      <p:sp>
        <p:nvSpPr>
          <p:cNvPr id="8" name="text">
            <a:extLst>
              <a:ext uri="{FF2B5EF4-FFF2-40B4-BE49-F238E27FC236}">
                <a16:creationId xmlns:a16="http://schemas.microsoft.com/office/drawing/2014/main" id="{3C10399D-46D4-43B8-95FF-CC5A70CE622A}"/>
              </a:ext>
            </a:extLst>
          </p:cNvPr>
          <p:cNvSpPr>
            <a:spLocks noGrp="1"/>
          </p:cNvSpPr>
          <p:nvPr/>
        </p:nvSpPr>
        <p:spPr>
          <a:xfrm>
            <a:off x="6191250" y="2571750"/>
            <a:ext cx="1143000" cy="1047750"/>
          </a:xfrm>
          <a:prstGeom prst="rect">
            <a:avLst/>
          </a:prstGeom>
          <a:noFill/>
          <a:ln w="0">
            <a:noFill/>
            <a:prstDash val="solid"/>
          </a:ln>
        </p:spPr>
        <p:txBody>
          <a:bodyPr anchor="t"/>
          <a:lstStyle/>
          <a:p>
            <a:pPr algn="l">
              <a:buNone/>
              <a:defRPr sz="5400" b="1">
                <a:solidFill>
                  <a:srgbClr val="A33B3B"/>
                </a:solidFill>
              </a:defRPr>
            </a:pPr>
            <a:r>
              <a:rPr sz="5400" b="1">
                <a:solidFill>
                  <a:srgbClr val="A33B3B"/>
                </a:solidFill>
              </a:rPr>
              <a:t>3</a:t>
            </a:r>
          </a:p>
        </p:txBody>
      </p:sp>
      <p:sp>
        <p:nvSpPr>
          <p:cNvPr id="9" name="text">
            <a:extLst>
              <a:ext uri="{FF2B5EF4-FFF2-40B4-BE49-F238E27FC236}">
                <a16:creationId xmlns:a16="http://schemas.microsoft.com/office/drawing/2014/main" id="{BA741FA8-F48B-4DAF-A84B-052BC0B4328C}"/>
              </a:ext>
            </a:extLst>
          </p:cNvPr>
          <p:cNvSpPr>
            <a:spLocks noGrp="1"/>
          </p:cNvSpPr>
          <p:nvPr/>
        </p:nvSpPr>
        <p:spPr>
          <a:xfrm>
            <a:off x="6619875" y="2847975"/>
            <a:ext cx="2381250" cy="361950"/>
          </a:xfrm>
          <a:prstGeom prst="rect">
            <a:avLst/>
          </a:prstGeom>
          <a:noFill/>
          <a:ln w="0">
            <a:noFill/>
            <a:prstDash val="solid"/>
          </a:ln>
        </p:spPr>
        <p:txBody>
          <a:bodyPr anchor="t"/>
          <a:lstStyle/>
          <a:p>
            <a:pPr algn="l">
              <a:buNone/>
              <a:defRPr sz="2025" b="1">
                <a:solidFill>
                  <a:srgbClr val="123047"/>
                </a:solidFill>
              </a:defRPr>
            </a:pPr>
            <a:r>
              <a:rPr sz="2025" b="1" dirty="0">
                <a:solidFill>
                  <a:srgbClr val="123047"/>
                </a:solidFill>
              </a:rPr>
              <a:t>field suckers</a:t>
            </a:r>
          </a:p>
        </p:txBody>
      </p:sp>
      <p:sp>
        <p:nvSpPr>
          <p:cNvPr id="10" name="text">
            <a:extLst>
              <a:ext uri="{FF2B5EF4-FFF2-40B4-BE49-F238E27FC236}">
                <a16:creationId xmlns:a16="http://schemas.microsoft.com/office/drawing/2014/main" id="{9FD7D532-63C2-43DC-AC68-8E4F164B5183}"/>
              </a:ext>
            </a:extLst>
          </p:cNvPr>
          <p:cNvSpPr>
            <a:spLocks noGrp="1"/>
          </p:cNvSpPr>
          <p:nvPr/>
        </p:nvSpPr>
        <p:spPr>
          <a:xfrm>
            <a:off x="6334125" y="3400425"/>
            <a:ext cx="2952750" cy="438150"/>
          </a:xfrm>
          <a:prstGeom prst="rect">
            <a:avLst/>
          </a:prstGeom>
          <a:noFill/>
          <a:ln w="0">
            <a:noFill/>
            <a:prstDash val="solid"/>
          </a:ln>
        </p:spPr>
        <p:txBody>
          <a:bodyPr anchor="t"/>
          <a:lstStyle/>
          <a:p>
            <a:pPr algn="l">
              <a:buNone/>
              <a:defRPr sz="2550" b="1">
                <a:solidFill>
                  <a:srgbClr val="172026"/>
                </a:solidFill>
              </a:defRPr>
            </a:pPr>
            <a:r>
              <a:rPr sz="2550" b="1" dirty="0">
                <a:solidFill>
                  <a:srgbClr val="172026"/>
                </a:solidFill>
              </a:rPr>
              <a:t>~1 L/min each</a:t>
            </a:r>
          </a:p>
        </p:txBody>
      </p:sp>
      <p:sp>
        <p:nvSpPr>
          <p:cNvPr id="12" name="source">
            <a:extLst>
              <a:ext uri="{FF2B5EF4-FFF2-40B4-BE49-F238E27FC236}">
                <a16:creationId xmlns:a16="http://schemas.microsoft.com/office/drawing/2014/main" id="{2027FF24-2FBD-4FF2-B1A3-1EE8106DF730}"/>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3" name="slide-number">
            <a:extLst>
              <a:ext uri="{FF2B5EF4-FFF2-40B4-BE49-F238E27FC236}">
                <a16:creationId xmlns:a16="http://schemas.microsoft.com/office/drawing/2014/main" id="{9787E37E-EE11-434E-BD31-1213D838BC8E}"/>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8</a:t>
            </a:r>
          </a:p>
        </p:txBody>
      </p:sp>
    </p:spTree>
    <p:extLst>
      <p:ext uri="{BB962C8B-B14F-4D97-AF65-F5344CB8AC3E}">
        <p14:creationId xmlns:p14="http://schemas.microsoft.com/office/powerpoint/2010/main" val="1719234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B8ACA980-FE3E-411B-BCAE-2D5ED63E76D1}"/>
              </a:ext>
            </a:extLst>
          </p:cNvPr>
          <p:cNvSpPr>
            <a:spLocks noGrp="1"/>
          </p:cNvSpPr>
          <p:nvPr/>
        </p:nvSpPr>
        <p:spPr>
          <a:xfrm>
            <a:off x="1961536" y="219075"/>
            <a:ext cx="11277600" cy="590550"/>
          </a:xfrm>
          <a:prstGeom prst="rect">
            <a:avLst/>
          </a:prstGeom>
          <a:noFill/>
          <a:ln w="0">
            <a:noFill/>
            <a:prstDash val="solid"/>
          </a:ln>
        </p:spPr>
        <p:txBody>
          <a:bodyPr anchor="t"/>
          <a:lstStyle/>
          <a:p>
            <a:pPr algn="l">
              <a:buNone/>
              <a:defRPr sz="2850" b="1">
                <a:solidFill>
                  <a:srgbClr val="123047"/>
                </a:solidFill>
              </a:defRPr>
            </a:pPr>
            <a:r>
              <a:rPr lang="en-US" sz="2850" b="1" dirty="0">
                <a:solidFill>
                  <a:srgbClr val="123047"/>
                </a:solidFill>
              </a:rPr>
              <a:t>Cardioplegia</a:t>
            </a:r>
            <a:r>
              <a:rPr sz="2850" b="1" dirty="0">
                <a:solidFill>
                  <a:srgbClr val="123047"/>
                </a:solidFill>
              </a:rPr>
              <a:t> preceded selective brain-only perfusion</a:t>
            </a:r>
          </a:p>
        </p:txBody>
      </p:sp>
      <p:sp>
        <p:nvSpPr>
          <p:cNvPr id="2" name="Straight Connector 1">
            <a:extLst>
              <a:ext uri="{FF2B5EF4-FFF2-40B4-BE49-F238E27FC236}">
                <a16:creationId xmlns:a16="http://schemas.microsoft.com/office/drawing/2014/main" id="{DE2E3BC4-F1E9-416C-A3BC-307975663188}"/>
              </a:ext>
            </a:extLst>
          </p:cNvPr>
          <p:cNvSpPr>
            <a:spLocks noGrp="1"/>
          </p:cNvSpPr>
          <p:nvPr/>
        </p:nvSpPr>
        <p:spPr>
          <a:xfrm>
            <a:off x="1047750" y="2438400"/>
            <a:ext cx="9906000" cy="0"/>
          </a:xfrm>
          <a:prstGeom prst="line">
            <a:avLst/>
          </a:prstGeom>
          <a:ln w="38100">
            <a:solidFill>
              <a:srgbClr val="123047"/>
            </a:solidFill>
            <a:prstDash val="solid"/>
          </a:ln>
        </p:spPr>
        <p:txBody>
          <a:bodyPr/>
          <a:lstStyle/>
          <a:p>
            <a:endParaRPr lang="en-US"/>
          </a:p>
        </p:txBody>
      </p:sp>
      <p:sp>
        <p:nvSpPr>
          <p:cNvPr id="3" name="Rectangle: Rounded Corners 2">
            <a:extLst>
              <a:ext uri="{FF2B5EF4-FFF2-40B4-BE49-F238E27FC236}">
                <a16:creationId xmlns:a16="http://schemas.microsoft.com/office/drawing/2014/main" id="{799D64FA-C617-443E-B78E-6E0A4E5BB980}"/>
              </a:ext>
            </a:extLst>
          </p:cNvPr>
          <p:cNvSpPr>
            <a:spLocks noGrp="1"/>
          </p:cNvSpPr>
          <p:nvPr/>
        </p:nvSpPr>
        <p:spPr>
          <a:xfrm>
            <a:off x="857250" y="2266950"/>
            <a:ext cx="381000" cy="381000"/>
          </a:xfrm>
          <a:prstGeom prst="roundRect">
            <a:avLst>
              <a:gd name="adj" fmla="val 30000"/>
            </a:avLst>
          </a:prstGeom>
          <a:solidFill>
            <a:srgbClr val="123047"/>
          </a:solidFill>
          <a:ln w="0">
            <a:noFill/>
            <a:prstDash val="solid"/>
          </a:ln>
        </p:spPr>
        <p:txBody>
          <a:bodyPr/>
          <a:lstStyle/>
          <a:p>
            <a:endParaRPr lang="en-US"/>
          </a:p>
        </p:txBody>
      </p:sp>
      <p:sp>
        <p:nvSpPr>
          <p:cNvPr id="4" name="text">
            <a:extLst>
              <a:ext uri="{FF2B5EF4-FFF2-40B4-BE49-F238E27FC236}">
                <a16:creationId xmlns:a16="http://schemas.microsoft.com/office/drawing/2014/main" id="{6D3FA5CC-B187-4EBE-A0C2-86070D6E3F5F}"/>
              </a:ext>
            </a:extLst>
          </p:cNvPr>
          <p:cNvSpPr>
            <a:spLocks noGrp="1"/>
          </p:cNvSpPr>
          <p:nvPr/>
        </p:nvSpPr>
        <p:spPr>
          <a:xfrm>
            <a:off x="809625" y="3143250"/>
            <a:ext cx="2857500" cy="3619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Cross-clamp</a:t>
            </a:r>
          </a:p>
        </p:txBody>
      </p:sp>
      <p:sp>
        <p:nvSpPr>
          <p:cNvPr id="5" name="text">
            <a:extLst>
              <a:ext uri="{FF2B5EF4-FFF2-40B4-BE49-F238E27FC236}">
                <a16:creationId xmlns:a16="http://schemas.microsoft.com/office/drawing/2014/main" id="{E74FCCDC-8D64-4519-A653-24241C4195AE}"/>
              </a:ext>
            </a:extLst>
          </p:cNvPr>
          <p:cNvSpPr>
            <a:spLocks noGrp="1"/>
          </p:cNvSpPr>
          <p:nvPr/>
        </p:nvSpPr>
        <p:spPr>
          <a:xfrm>
            <a:off x="809625" y="3638550"/>
            <a:ext cx="2857500" cy="857250"/>
          </a:xfrm>
          <a:prstGeom prst="rect">
            <a:avLst/>
          </a:prstGeom>
          <a:noFill/>
          <a:ln w="0">
            <a:noFill/>
            <a:prstDash val="solid"/>
          </a:ln>
        </p:spPr>
        <p:txBody>
          <a:bodyPr anchor="t"/>
          <a:lstStyle/>
          <a:p>
            <a:pPr algn="l">
              <a:buNone/>
              <a:defRPr sz="1500" b="0">
                <a:solidFill>
                  <a:srgbClr val="172026"/>
                </a:solidFill>
              </a:defRPr>
            </a:pPr>
            <a:r>
              <a:rPr sz="1500" b="0">
                <a:solidFill>
                  <a:srgbClr val="172026"/>
                </a:solidFill>
              </a:rPr>
              <a:t>Aortic cross-clamp applied</a:t>
            </a:r>
          </a:p>
        </p:txBody>
      </p:sp>
      <p:sp>
        <p:nvSpPr>
          <p:cNvPr id="6" name="Rectangle: Rounded Corners 5">
            <a:extLst>
              <a:ext uri="{FF2B5EF4-FFF2-40B4-BE49-F238E27FC236}">
                <a16:creationId xmlns:a16="http://schemas.microsoft.com/office/drawing/2014/main" id="{1342A87D-FCDE-492B-B01C-9BD23AE59B14}"/>
              </a:ext>
            </a:extLst>
          </p:cNvPr>
          <p:cNvSpPr>
            <a:spLocks noGrp="1"/>
          </p:cNvSpPr>
          <p:nvPr/>
        </p:nvSpPr>
        <p:spPr>
          <a:xfrm>
            <a:off x="4572000" y="2266950"/>
            <a:ext cx="381000" cy="381000"/>
          </a:xfrm>
          <a:prstGeom prst="roundRect">
            <a:avLst>
              <a:gd name="adj" fmla="val 30000"/>
            </a:avLst>
          </a:prstGeom>
          <a:solidFill>
            <a:srgbClr val="123047"/>
          </a:solidFill>
          <a:ln w="0">
            <a:noFill/>
            <a:prstDash val="solid"/>
          </a:ln>
        </p:spPr>
        <p:txBody>
          <a:bodyPr/>
          <a:lstStyle/>
          <a:p>
            <a:endParaRPr lang="en-US"/>
          </a:p>
        </p:txBody>
      </p:sp>
      <p:sp>
        <p:nvSpPr>
          <p:cNvPr id="7" name="text">
            <a:extLst>
              <a:ext uri="{FF2B5EF4-FFF2-40B4-BE49-F238E27FC236}">
                <a16:creationId xmlns:a16="http://schemas.microsoft.com/office/drawing/2014/main" id="{FCC96678-5C4C-458A-A912-A939CEE46018}"/>
              </a:ext>
            </a:extLst>
          </p:cNvPr>
          <p:cNvSpPr>
            <a:spLocks noGrp="1"/>
          </p:cNvSpPr>
          <p:nvPr/>
        </p:nvSpPr>
        <p:spPr>
          <a:xfrm>
            <a:off x="4524375" y="3143250"/>
            <a:ext cx="2857500" cy="3619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Cardioplegia</a:t>
            </a:r>
          </a:p>
        </p:txBody>
      </p:sp>
      <p:sp>
        <p:nvSpPr>
          <p:cNvPr id="8" name="text">
            <a:extLst>
              <a:ext uri="{FF2B5EF4-FFF2-40B4-BE49-F238E27FC236}">
                <a16:creationId xmlns:a16="http://schemas.microsoft.com/office/drawing/2014/main" id="{377724E0-9AFF-4731-8C70-CE0B72EE5515}"/>
              </a:ext>
            </a:extLst>
          </p:cNvPr>
          <p:cNvSpPr>
            <a:spLocks noGrp="1"/>
          </p:cNvSpPr>
          <p:nvPr/>
        </p:nvSpPr>
        <p:spPr>
          <a:xfrm>
            <a:off x="4524375" y="3638550"/>
            <a:ext cx="2857500" cy="8572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1 L retrograde </a:t>
            </a:r>
            <a:r>
              <a:rPr lang="en-US" sz="1500" b="0" dirty="0">
                <a:solidFill>
                  <a:srgbClr val="172026"/>
                </a:solidFill>
              </a:rPr>
              <a:t>of 25 </a:t>
            </a:r>
            <a:r>
              <a:rPr lang="en-US" sz="1500" b="0" dirty="0" err="1">
                <a:solidFill>
                  <a:srgbClr val="172026"/>
                </a:solidFill>
              </a:rPr>
              <a:t>mEq</a:t>
            </a:r>
            <a:r>
              <a:rPr lang="en-US" sz="1500" b="0" dirty="0">
                <a:solidFill>
                  <a:srgbClr val="172026"/>
                </a:solidFill>
              </a:rPr>
              <a:t> of potassium and 8 </a:t>
            </a:r>
            <a:r>
              <a:rPr lang="en-US" sz="1500" b="0" dirty="0" err="1">
                <a:solidFill>
                  <a:srgbClr val="172026"/>
                </a:solidFill>
              </a:rPr>
              <a:t>mEq</a:t>
            </a:r>
            <a:r>
              <a:rPr lang="en-US" sz="1500" b="0" dirty="0">
                <a:solidFill>
                  <a:srgbClr val="172026"/>
                </a:solidFill>
              </a:rPr>
              <a:t> of cardioplegia additive of Magnesium and Adenosine </a:t>
            </a:r>
            <a:r>
              <a:rPr sz="1500" b="0" dirty="0">
                <a:solidFill>
                  <a:srgbClr val="172026"/>
                </a:solidFill>
              </a:rPr>
              <a:t>dose reported</a:t>
            </a:r>
          </a:p>
        </p:txBody>
      </p:sp>
      <p:sp>
        <p:nvSpPr>
          <p:cNvPr id="9" name="Rectangle: Rounded Corners 8">
            <a:extLst>
              <a:ext uri="{FF2B5EF4-FFF2-40B4-BE49-F238E27FC236}">
                <a16:creationId xmlns:a16="http://schemas.microsoft.com/office/drawing/2014/main" id="{E734D3F4-C582-4ACC-8CDC-3B3B9CAE5A0B}"/>
              </a:ext>
            </a:extLst>
          </p:cNvPr>
          <p:cNvSpPr>
            <a:spLocks noGrp="1"/>
          </p:cNvSpPr>
          <p:nvPr/>
        </p:nvSpPr>
        <p:spPr>
          <a:xfrm>
            <a:off x="8286750" y="2266950"/>
            <a:ext cx="381000" cy="381000"/>
          </a:xfrm>
          <a:prstGeom prst="roundRect">
            <a:avLst>
              <a:gd name="adj" fmla="val 30000"/>
            </a:avLst>
          </a:prstGeom>
          <a:solidFill>
            <a:srgbClr val="A33B3B"/>
          </a:solidFill>
          <a:ln w="0">
            <a:noFill/>
            <a:prstDash val="solid"/>
          </a:ln>
        </p:spPr>
        <p:txBody>
          <a:bodyPr/>
          <a:lstStyle/>
          <a:p>
            <a:endParaRPr lang="en-US"/>
          </a:p>
        </p:txBody>
      </p:sp>
      <p:sp>
        <p:nvSpPr>
          <p:cNvPr id="10" name="text">
            <a:extLst>
              <a:ext uri="{FF2B5EF4-FFF2-40B4-BE49-F238E27FC236}">
                <a16:creationId xmlns:a16="http://schemas.microsoft.com/office/drawing/2014/main" id="{FA487503-DD7A-4AAB-AFCE-85BC4F7A1155}"/>
              </a:ext>
            </a:extLst>
          </p:cNvPr>
          <p:cNvSpPr>
            <a:spLocks noGrp="1"/>
          </p:cNvSpPr>
          <p:nvPr/>
        </p:nvSpPr>
        <p:spPr>
          <a:xfrm>
            <a:off x="8239125" y="3143250"/>
            <a:ext cx="2857500" cy="3619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ACP</a:t>
            </a:r>
          </a:p>
        </p:txBody>
      </p:sp>
      <p:sp>
        <p:nvSpPr>
          <p:cNvPr id="11" name="text">
            <a:extLst>
              <a:ext uri="{FF2B5EF4-FFF2-40B4-BE49-F238E27FC236}">
                <a16:creationId xmlns:a16="http://schemas.microsoft.com/office/drawing/2014/main" id="{2F4E4598-B688-42D3-B7D1-973E4625E2EB}"/>
              </a:ext>
            </a:extLst>
          </p:cNvPr>
          <p:cNvSpPr>
            <a:spLocks noGrp="1"/>
          </p:cNvSpPr>
          <p:nvPr/>
        </p:nvSpPr>
        <p:spPr>
          <a:xfrm>
            <a:off x="8239125" y="3638550"/>
            <a:ext cx="2857500" cy="8572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Systemic flow reduced</a:t>
            </a:r>
            <a:r>
              <a:rPr lang="en-US" sz="1500" b="0" dirty="0">
                <a:solidFill>
                  <a:srgbClr val="172026"/>
                </a:solidFill>
              </a:rPr>
              <a:t> to 10 mL/kg/min with a flow of 700 mL; </a:t>
            </a:r>
            <a:r>
              <a:rPr sz="1500" b="0" dirty="0">
                <a:solidFill>
                  <a:srgbClr val="172026"/>
                </a:solidFill>
              </a:rPr>
              <a:t>brain-only antegrade perfusion</a:t>
            </a:r>
            <a:r>
              <a:rPr lang="en-US" sz="1500" b="0" dirty="0">
                <a:solidFill>
                  <a:srgbClr val="172026"/>
                </a:solidFill>
              </a:rPr>
              <a:t> for 12 </a:t>
            </a:r>
            <a:r>
              <a:rPr lang="en-US" sz="1500" b="0" dirty="0" err="1">
                <a:solidFill>
                  <a:srgbClr val="172026"/>
                </a:solidFill>
              </a:rPr>
              <a:t>minues</a:t>
            </a:r>
            <a:r>
              <a:rPr lang="en-US" sz="1500" b="0" dirty="0">
                <a:solidFill>
                  <a:srgbClr val="172026"/>
                </a:solidFill>
              </a:rPr>
              <a:t> </a:t>
            </a:r>
            <a:endParaRPr sz="1500" b="0" dirty="0">
              <a:solidFill>
                <a:srgbClr val="172026"/>
              </a:solidFill>
            </a:endParaRPr>
          </a:p>
        </p:txBody>
      </p:sp>
      <p:sp>
        <p:nvSpPr>
          <p:cNvPr id="14" name="source">
            <a:extLst>
              <a:ext uri="{FF2B5EF4-FFF2-40B4-BE49-F238E27FC236}">
                <a16:creationId xmlns:a16="http://schemas.microsoft.com/office/drawing/2014/main" id="{759C75A7-11F3-439A-944A-CC5CE39AAE7F}"/>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5" name="slide-number">
            <a:extLst>
              <a:ext uri="{FF2B5EF4-FFF2-40B4-BE49-F238E27FC236}">
                <a16:creationId xmlns:a16="http://schemas.microsoft.com/office/drawing/2014/main" id="{415D7A61-D652-494C-863B-121BDCCE1571}"/>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9</a:t>
            </a:r>
          </a:p>
        </p:txBody>
      </p:sp>
    </p:spTree>
    <p:extLst>
      <p:ext uri="{BB962C8B-B14F-4D97-AF65-F5344CB8AC3E}">
        <p14:creationId xmlns:p14="http://schemas.microsoft.com/office/powerpoint/2010/main" val="634652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9A1CBEAE-8339-442E-B3E7-15DC2EBAF6FD}"/>
              </a:ext>
            </a:extLst>
          </p:cNvPr>
          <p:cNvSpPr>
            <a:spLocks noGrp="1"/>
          </p:cNvSpPr>
          <p:nvPr/>
        </p:nvSpPr>
        <p:spPr>
          <a:xfrm>
            <a:off x="1410929" y="276225"/>
            <a:ext cx="11277600" cy="590550"/>
          </a:xfrm>
          <a:prstGeom prst="rect">
            <a:avLst/>
          </a:prstGeom>
          <a:noFill/>
          <a:ln w="0">
            <a:noFill/>
            <a:prstDash val="solid"/>
          </a:ln>
        </p:spPr>
        <p:txBody>
          <a:bodyPr anchor="t"/>
          <a:lstStyle/>
          <a:p>
            <a:pPr algn="l">
              <a:buNone/>
              <a:defRPr sz="2850" b="1">
                <a:solidFill>
                  <a:srgbClr val="123047"/>
                </a:solidFill>
              </a:defRPr>
            </a:pPr>
            <a:r>
              <a:rPr sz="2850" b="1" dirty="0">
                <a:solidFill>
                  <a:srgbClr val="123047"/>
                </a:solidFill>
              </a:rPr>
              <a:t>Aortic grafting required a brief interruption of cerebral flow</a:t>
            </a:r>
          </a:p>
        </p:txBody>
      </p:sp>
      <p:sp>
        <p:nvSpPr>
          <p:cNvPr id="2" name="Rectangle: Rounded Corners 1">
            <a:extLst>
              <a:ext uri="{FF2B5EF4-FFF2-40B4-BE49-F238E27FC236}">
                <a16:creationId xmlns:a16="http://schemas.microsoft.com/office/drawing/2014/main" id="{6BE002CF-D373-4930-82CC-B3D73D817194}"/>
              </a:ext>
            </a:extLst>
          </p:cNvPr>
          <p:cNvSpPr>
            <a:spLocks noGrp="1"/>
          </p:cNvSpPr>
          <p:nvPr/>
        </p:nvSpPr>
        <p:spPr>
          <a:xfrm>
            <a:off x="457200" y="1714500"/>
            <a:ext cx="3476625" cy="3562350"/>
          </a:xfrm>
          <a:prstGeom prst="roundRect">
            <a:avLst>
              <a:gd name="adj" fmla="val 3288"/>
            </a:avLst>
          </a:prstGeom>
          <a:solidFill>
            <a:srgbClr val="EEF4F6"/>
          </a:solidFill>
          <a:ln w="0">
            <a:noFill/>
            <a:prstDash val="solid"/>
          </a:ln>
        </p:spPr>
        <p:txBody>
          <a:bodyPr/>
          <a:lstStyle/>
          <a:p>
            <a:endParaRPr lang="en-US"/>
          </a:p>
        </p:txBody>
      </p:sp>
      <p:sp>
        <p:nvSpPr>
          <p:cNvPr id="3" name="text">
            <a:extLst>
              <a:ext uri="{FF2B5EF4-FFF2-40B4-BE49-F238E27FC236}">
                <a16:creationId xmlns:a16="http://schemas.microsoft.com/office/drawing/2014/main" id="{E1E3C012-1EFD-4FB1-B217-0D882F1C5990}"/>
              </a:ext>
            </a:extLst>
          </p:cNvPr>
          <p:cNvSpPr>
            <a:spLocks noGrp="1"/>
          </p:cNvSpPr>
          <p:nvPr/>
        </p:nvSpPr>
        <p:spPr>
          <a:xfrm>
            <a:off x="742950" y="2038350"/>
            <a:ext cx="2762250" cy="381000"/>
          </a:xfrm>
          <a:prstGeom prst="rect">
            <a:avLst/>
          </a:prstGeom>
          <a:noFill/>
          <a:ln w="0">
            <a:noFill/>
            <a:prstDash val="solid"/>
          </a:ln>
        </p:spPr>
        <p:txBody>
          <a:bodyPr anchor="t"/>
          <a:lstStyle/>
          <a:p>
            <a:pPr algn="ctr">
              <a:buNone/>
              <a:defRPr sz="1950" b="1">
                <a:solidFill>
                  <a:srgbClr val="123047"/>
                </a:solidFill>
              </a:defRPr>
            </a:pPr>
            <a:r>
              <a:rPr sz="1950" b="1" dirty="0">
                <a:solidFill>
                  <a:srgbClr val="123047"/>
                </a:solidFill>
              </a:rPr>
              <a:t>Ascending </a:t>
            </a:r>
            <a:r>
              <a:rPr lang="en-US" sz="1950" b="1" dirty="0">
                <a:solidFill>
                  <a:srgbClr val="123047"/>
                </a:solidFill>
              </a:rPr>
              <a:t>and Aortic arch </a:t>
            </a:r>
            <a:r>
              <a:rPr sz="1950" b="1" dirty="0">
                <a:solidFill>
                  <a:srgbClr val="123047"/>
                </a:solidFill>
              </a:rPr>
              <a:t>graft</a:t>
            </a:r>
          </a:p>
        </p:txBody>
      </p:sp>
      <p:sp>
        <p:nvSpPr>
          <p:cNvPr id="4" name="text">
            <a:extLst>
              <a:ext uri="{FF2B5EF4-FFF2-40B4-BE49-F238E27FC236}">
                <a16:creationId xmlns:a16="http://schemas.microsoft.com/office/drawing/2014/main" id="{FBED4DB9-E44E-4220-BA78-6BF0B11CC71D}"/>
              </a:ext>
            </a:extLst>
          </p:cNvPr>
          <p:cNvSpPr>
            <a:spLocks noGrp="1"/>
          </p:cNvSpPr>
          <p:nvPr/>
        </p:nvSpPr>
        <p:spPr>
          <a:xfrm>
            <a:off x="742950" y="2647950"/>
            <a:ext cx="2714625" cy="1428750"/>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The ascending aorta was opened/resected and reconstructed with a vascular </a:t>
            </a:r>
            <a:r>
              <a:rPr lang="en-US" sz="1575" b="0" dirty="0">
                <a:solidFill>
                  <a:srgbClr val="172026"/>
                </a:solidFill>
              </a:rPr>
              <a:t>28 mm </a:t>
            </a:r>
            <a:r>
              <a:rPr lang="en-US" sz="1575" b="0" dirty="0" err="1">
                <a:solidFill>
                  <a:srgbClr val="172026"/>
                </a:solidFill>
              </a:rPr>
              <a:t>Gelweace</a:t>
            </a:r>
            <a:r>
              <a:rPr lang="en-US" sz="1575" b="0" dirty="0">
                <a:solidFill>
                  <a:srgbClr val="172026"/>
                </a:solidFill>
              </a:rPr>
              <a:t> </a:t>
            </a:r>
            <a:r>
              <a:rPr lang="en-US" sz="1575" dirty="0">
                <a:solidFill>
                  <a:srgbClr val="172026"/>
                </a:solidFill>
              </a:rPr>
              <a:t>Terumo </a:t>
            </a:r>
            <a:r>
              <a:rPr sz="1575" b="0" dirty="0">
                <a:solidFill>
                  <a:srgbClr val="172026"/>
                </a:solidFill>
              </a:rPr>
              <a:t>graft </a:t>
            </a:r>
            <a:r>
              <a:rPr lang="en-US" sz="1575" b="0" dirty="0">
                <a:solidFill>
                  <a:srgbClr val="172026"/>
                </a:solidFill>
              </a:rPr>
              <a:t>and the arch was replace with the same graft </a:t>
            </a:r>
            <a:r>
              <a:rPr sz="1575" b="0" dirty="0">
                <a:solidFill>
                  <a:srgbClr val="172026"/>
                </a:solidFill>
              </a:rPr>
              <a:t>under arrest with ACP.</a:t>
            </a:r>
            <a:r>
              <a:rPr lang="en-US" sz="1575" b="0" dirty="0">
                <a:solidFill>
                  <a:srgbClr val="172026"/>
                </a:solidFill>
              </a:rPr>
              <a:t> NIRS went down 5% from baseline and MAP was reading 34.</a:t>
            </a:r>
            <a:endParaRPr sz="1575" b="0" dirty="0">
              <a:solidFill>
                <a:srgbClr val="172026"/>
              </a:solidFill>
            </a:endParaRPr>
          </a:p>
        </p:txBody>
      </p:sp>
      <p:sp>
        <p:nvSpPr>
          <p:cNvPr id="5" name="Rectangle: Rounded Corners 4">
            <a:extLst>
              <a:ext uri="{FF2B5EF4-FFF2-40B4-BE49-F238E27FC236}">
                <a16:creationId xmlns:a16="http://schemas.microsoft.com/office/drawing/2014/main" id="{CBC039EE-3D27-4BD6-BFE0-C2B3CF51552F}"/>
              </a:ext>
            </a:extLst>
          </p:cNvPr>
          <p:cNvSpPr>
            <a:spLocks noGrp="1"/>
          </p:cNvSpPr>
          <p:nvPr/>
        </p:nvSpPr>
        <p:spPr>
          <a:xfrm>
            <a:off x="4352925" y="1714500"/>
            <a:ext cx="3476625" cy="3562350"/>
          </a:xfrm>
          <a:prstGeom prst="roundRect">
            <a:avLst>
              <a:gd name="adj" fmla="val 3288"/>
            </a:avLst>
          </a:prstGeom>
          <a:solidFill>
            <a:srgbClr val="F7F3EB"/>
          </a:solidFill>
          <a:ln w="0">
            <a:noFill/>
            <a:prstDash val="solid"/>
          </a:ln>
        </p:spPr>
        <p:txBody>
          <a:bodyPr/>
          <a:lstStyle/>
          <a:p>
            <a:endParaRPr lang="en-US"/>
          </a:p>
        </p:txBody>
      </p:sp>
      <p:sp>
        <p:nvSpPr>
          <p:cNvPr id="6" name="text">
            <a:extLst>
              <a:ext uri="{FF2B5EF4-FFF2-40B4-BE49-F238E27FC236}">
                <a16:creationId xmlns:a16="http://schemas.microsoft.com/office/drawing/2014/main" id="{E3978E7B-2B91-42EA-A4D4-42F19DA048F2}"/>
              </a:ext>
            </a:extLst>
          </p:cNvPr>
          <p:cNvSpPr>
            <a:spLocks noGrp="1"/>
          </p:cNvSpPr>
          <p:nvPr/>
        </p:nvSpPr>
        <p:spPr>
          <a:xfrm>
            <a:off x="4638675" y="2038350"/>
            <a:ext cx="2857500" cy="38100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Right subclavian base</a:t>
            </a:r>
          </a:p>
        </p:txBody>
      </p:sp>
      <p:sp>
        <p:nvSpPr>
          <p:cNvPr id="7" name="text">
            <a:extLst>
              <a:ext uri="{FF2B5EF4-FFF2-40B4-BE49-F238E27FC236}">
                <a16:creationId xmlns:a16="http://schemas.microsoft.com/office/drawing/2014/main" id="{8998B437-3544-493A-B6C1-D3060516D1F2}"/>
              </a:ext>
            </a:extLst>
          </p:cNvPr>
          <p:cNvSpPr>
            <a:spLocks noGrp="1"/>
          </p:cNvSpPr>
          <p:nvPr/>
        </p:nvSpPr>
        <p:spPr>
          <a:xfrm>
            <a:off x="4638675" y="2647950"/>
            <a:ext cx="2714625" cy="1381125"/>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Th</a:t>
            </a:r>
            <a:r>
              <a:rPr lang="en-US" sz="1575" b="0" dirty="0">
                <a:solidFill>
                  <a:srgbClr val="172026"/>
                </a:solidFill>
              </a:rPr>
              <a:t>is case had an instance of</a:t>
            </a:r>
            <a:r>
              <a:rPr sz="1575" b="0" dirty="0">
                <a:solidFill>
                  <a:srgbClr val="172026"/>
                </a:solidFill>
              </a:rPr>
              <a:t> “zero cerebral flow” </a:t>
            </a:r>
            <a:r>
              <a:rPr lang="en-US" sz="1575" b="0" dirty="0">
                <a:solidFill>
                  <a:srgbClr val="172026"/>
                </a:solidFill>
              </a:rPr>
              <a:t>for 6 minutes </a:t>
            </a:r>
            <a:r>
              <a:rPr sz="1575" b="0" dirty="0">
                <a:solidFill>
                  <a:srgbClr val="172026"/>
                </a:solidFill>
              </a:rPr>
              <a:t>during repair at the base of the right subclavian artery.</a:t>
            </a:r>
            <a:r>
              <a:rPr lang="en-US" sz="1575" b="0" dirty="0">
                <a:solidFill>
                  <a:srgbClr val="172026"/>
                </a:solidFill>
              </a:rPr>
              <a:t> NIRS went down 18% from baseline.</a:t>
            </a:r>
            <a:endParaRPr sz="1575" b="0" dirty="0">
              <a:solidFill>
                <a:srgbClr val="172026"/>
              </a:solidFill>
            </a:endParaRPr>
          </a:p>
        </p:txBody>
      </p:sp>
      <p:sp>
        <p:nvSpPr>
          <p:cNvPr id="8" name="text">
            <a:extLst>
              <a:ext uri="{FF2B5EF4-FFF2-40B4-BE49-F238E27FC236}">
                <a16:creationId xmlns:a16="http://schemas.microsoft.com/office/drawing/2014/main" id="{C9A03206-302E-4AB0-8C1F-1D8E91EF7D6B}"/>
              </a:ext>
            </a:extLst>
          </p:cNvPr>
          <p:cNvSpPr>
            <a:spLocks noGrp="1"/>
          </p:cNvSpPr>
          <p:nvPr/>
        </p:nvSpPr>
        <p:spPr>
          <a:xfrm>
            <a:off x="4638675" y="4276725"/>
            <a:ext cx="2714625" cy="590550"/>
          </a:xfrm>
          <a:prstGeom prst="rect">
            <a:avLst/>
          </a:prstGeom>
          <a:noFill/>
          <a:ln w="0">
            <a:noFill/>
            <a:prstDash val="solid"/>
          </a:ln>
        </p:spPr>
        <p:txBody>
          <a:bodyPr anchor="t"/>
          <a:lstStyle/>
          <a:p>
            <a:pPr algn="l">
              <a:buNone/>
              <a:defRPr sz="1425" b="1">
                <a:solidFill>
                  <a:srgbClr val="A33B3B"/>
                </a:solidFill>
              </a:defRPr>
            </a:pPr>
            <a:endParaRPr lang="en-US" sz="1425" b="1" dirty="0">
              <a:solidFill>
                <a:srgbClr val="A33B3B"/>
              </a:solidFill>
            </a:endParaRPr>
          </a:p>
        </p:txBody>
      </p:sp>
      <p:sp>
        <p:nvSpPr>
          <p:cNvPr id="9" name="Rectangle: Rounded Corners 8">
            <a:extLst>
              <a:ext uri="{FF2B5EF4-FFF2-40B4-BE49-F238E27FC236}">
                <a16:creationId xmlns:a16="http://schemas.microsoft.com/office/drawing/2014/main" id="{AE71907D-5E05-4CCA-8890-C42444B62B99}"/>
              </a:ext>
            </a:extLst>
          </p:cNvPr>
          <p:cNvSpPr>
            <a:spLocks noGrp="1"/>
          </p:cNvSpPr>
          <p:nvPr/>
        </p:nvSpPr>
        <p:spPr>
          <a:xfrm>
            <a:off x="8248650" y="1714500"/>
            <a:ext cx="3486150" cy="3562350"/>
          </a:xfrm>
          <a:prstGeom prst="roundRect">
            <a:avLst>
              <a:gd name="adj" fmla="val 3279"/>
            </a:avLst>
          </a:prstGeom>
          <a:solidFill>
            <a:srgbClr val="F1F0F4"/>
          </a:solidFill>
          <a:ln w="0">
            <a:noFill/>
            <a:prstDash val="solid"/>
          </a:ln>
        </p:spPr>
        <p:txBody>
          <a:bodyPr/>
          <a:lstStyle/>
          <a:p>
            <a:endParaRPr lang="en-US"/>
          </a:p>
        </p:txBody>
      </p:sp>
      <p:sp>
        <p:nvSpPr>
          <p:cNvPr id="10" name="text">
            <a:extLst>
              <a:ext uri="{FF2B5EF4-FFF2-40B4-BE49-F238E27FC236}">
                <a16:creationId xmlns:a16="http://schemas.microsoft.com/office/drawing/2014/main" id="{154F8963-14D0-4FF8-8972-492BDD56E36D}"/>
              </a:ext>
            </a:extLst>
          </p:cNvPr>
          <p:cNvSpPr>
            <a:spLocks noGrp="1"/>
          </p:cNvSpPr>
          <p:nvPr/>
        </p:nvSpPr>
        <p:spPr>
          <a:xfrm>
            <a:off x="8534400" y="2038350"/>
            <a:ext cx="2762250" cy="38100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Flow restored</a:t>
            </a:r>
          </a:p>
        </p:txBody>
      </p:sp>
      <p:sp>
        <p:nvSpPr>
          <p:cNvPr id="11" name="text">
            <a:extLst>
              <a:ext uri="{FF2B5EF4-FFF2-40B4-BE49-F238E27FC236}">
                <a16:creationId xmlns:a16="http://schemas.microsoft.com/office/drawing/2014/main" id="{476FF5BC-9F98-4206-891A-E220D80586FA}"/>
              </a:ext>
            </a:extLst>
          </p:cNvPr>
          <p:cNvSpPr>
            <a:spLocks noGrp="1"/>
          </p:cNvSpPr>
          <p:nvPr/>
        </p:nvSpPr>
        <p:spPr>
          <a:xfrm>
            <a:off x="8534400" y="2647950"/>
            <a:ext cx="2714625" cy="1428750"/>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After completion of the critical distal repair, perfusion returned from selective cerebral flow to full-body flow</a:t>
            </a:r>
            <a:r>
              <a:rPr lang="en-US" sz="1575" b="0" dirty="0">
                <a:solidFill>
                  <a:srgbClr val="172026"/>
                </a:solidFill>
              </a:rPr>
              <a:t> of 4.27 L</a:t>
            </a:r>
            <a:r>
              <a:rPr sz="1575" b="0" dirty="0">
                <a:solidFill>
                  <a:srgbClr val="172026"/>
                </a:solidFill>
              </a:rPr>
              <a:t>.</a:t>
            </a:r>
          </a:p>
        </p:txBody>
      </p:sp>
      <p:sp>
        <p:nvSpPr>
          <p:cNvPr id="13" name="slide-number">
            <a:extLst>
              <a:ext uri="{FF2B5EF4-FFF2-40B4-BE49-F238E27FC236}">
                <a16:creationId xmlns:a16="http://schemas.microsoft.com/office/drawing/2014/main" id="{4DA21727-250C-42D9-9757-CDEA2227D359}"/>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10</a:t>
            </a:r>
          </a:p>
        </p:txBody>
      </p:sp>
    </p:spTree>
    <p:extLst>
      <p:ext uri="{BB962C8B-B14F-4D97-AF65-F5344CB8AC3E}">
        <p14:creationId xmlns:p14="http://schemas.microsoft.com/office/powerpoint/2010/main" val="1790867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3104AC1B-263C-4F6C-93A0-ABA100CA7A19}"/>
              </a:ext>
            </a:extLst>
          </p:cNvPr>
          <p:cNvSpPr>
            <a:spLocks noGrp="1"/>
          </p:cNvSpPr>
          <p:nvPr/>
        </p:nvSpPr>
        <p:spPr>
          <a:xfrm>
            <a:off x="457200" y="323850"/>
            <a:ext cx="11277600" cy="590550"/>
          </a:xfrm>
          <a:prstGeom prst="rect">
            <a:avLst/>
          </a:prstGeom>
          <a:noFill/>
          <a:ln w="0">
            <a:noFill/>
            <a:prstDash val="solid"/>
          </a:ln>
        </p:spPr>
        <p:txBody>
          <a:bodyPr anchor="t"/>
          <a:lstStyle/>
          <a:p>
            <a:pPr algn="ctr">
              <a:buNone/>
              <a:defRPr sz="2850" b="1">
                <a:solidFill>
                  <a:srgbClr val="123047"/>
                </a:solidFill>
              </a:defRPr>
            </a:pPr>
            <a:r>
              <a:rPr sz="2850" b="1" dirty="0">
                <a:solidFill>
                  <a:srgbClr val="123047"/>
                </a:solidFill>
              </a:rPr>
              <a:t>Full-body perfusion supported valve replacement, rewarming and separation from CPB</a:t>
            </a:r>
          </a:p>
        </p:txBody>
      </p:sp>
      <p:sp>
        <p:nvSpPr>
          <p:cNvPr id="2" name="Rectangle: Rounded Corners 1">
            <a:extLst>
              <a:ext uri="{FF2B5EF4-FFF2-40B4-BE49-F238E27FC236}">
                <a16:creationId xmlns:a16="http://schemas.microsoft.com/office/drawing/2014/main" id="{C0DD9BCA-9D9A-4F44-9D64-1A6CB81B77A3}"/>
              </a:ext>
            </a:extLst>
          </p:cNvPr>
          <p:cNvSpPr>
            <a:spLocks noGrp="1"/>
          </p:cNvSpPr>
          <p:nvPr/>
        </p:nvSpPr>
        <p:spPr>
          <a:xfrm>
            <a:off x="457200" y="1924050"/>
            <a:ext cx="2000250" cy="2428875"/>
          </a:xfrm>
          <a:prstGeom prst="roundRect">
            <a:avLst>
              <a:gd name="adj" fmla="val 5714"/>
            </a:avLst>
          </a:prstGeom>
          <a:solidFill>
            <a:srgbClr val="EEF4F6"/>
          </a:solidFill>
          <a:ln w="0">
            <a:noFill/>
            <a:prstDash val="solid"/>
          </a:ln>
        </p:spPr>
        <p:txBody>
          <a:bodyPr/>
          <a:lstStyle/>
          <a:p>
            <a:endParaRPr lang="en-US"/>
          </a:p>
        </p:txBody>
      </p:sp>
      <p:sp>
        <p:nvSpPr>
          <p:cNvPr id="3" name="text">
            <a:extLst>
              <a:ext uri="{FF2B5EF4-FFF2-40B4-BE49-F238E27FC236}">
                <a16:creationId xmlns:a16="http://schemas.microsoft.com/office/drawing/2014/main" id="{E7331027-8107-4E44-A498-2481F90473FB}"/>
              </a:ext>
            </a:extLst>
          </p:cNvPr>
          <p:cNvSpPr>
            <a:spLocks noGrp="1"/>
          </p:cNvSpPr>
          <p:nvPr/>
        </p:nvSpPr>
        <p:spPr>
          <a:xfrm>
            <a:off x="666750" y="2143125"/>
            <a:ext cx="428625" cy="428625"/>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1</a:t>
            </a:r>
          </a:p>
        </p:txBody>
      </p:sp>
      <p:sp>
        <p:nvSpPr>
          <p:cNvPr id="4" name="text">
            <a:extLst>
              <a:ext uri="{FF2B5EF4-FFF2-40B4-BE49-F238E27FC236}">
                <a16:creationId xmlns:a16="http://schemas.microsoft.com/office/drawing/2014/main" id="{6ECE0AF1-4E8C-480B-9FD0-F1EBA52D75E1}"/>
              </a:ext>
            </a:extLst>
          </p:cNvPr>
          <p:cNvSpPr>
            <a:spLocks noGrp="1"/>
          </p:cNvSpPr>
          <p:nvPr/>
        </p:nvSpPr>
        <p:spPr>
          <a:xfrm>
            <a:off x="666750" y="2847975"/>
            <a:ext cx="1581150" cy="952500"/>
          </a:xfrm>
          <a:prstGeom prst="rect">
            <a:avLst/>
          </a:prstGeom>
          <a:noFill/>
          <a:ln w="0">
            <a:noFill/>
            <a:prstDash val="solid"/>
          </a:ln>
        </p:spPr>
        <p:txBody>
          <a:bodyPr anchor="t"/>
          <a:lstStyle/>
          <a:p>
            <a:pPr algn="l">
              <a:buNone/>
              <a:defRPr sz="1650" b="1">
                <a:solidFill>
                  <a:srgbClr val="123047"/>
                </a:solidFill>
              </a:defRPr>
            </a:pPr>
            <a:r>
              <a:rPr sz="1650" b="1" dirty="0">
                <a:solidFill>
                  <a:srgbClr val="123047"/>
                </a:solidFill>
              </a:rPr>
              <a:t>Restore systemic flow</a:t>
            </a:r>
            <a:r>
              <a:rPr lang="en-US" sz="1650" b="1" dirty="0">
                <a:solidFill>
                  <a:srgbClr val="123047"/>
                </a:solidFill>
              </a:rPr>
              <a:t> and start to re-warm to 37 degrees Celsius </a:t>
            </a:r>
            <a:endParaRPr sz="1650" b="1" dirty="0">
              <a:solidFill>
                <a:srgbClr val="123047"/>
              </a:solidFill>
            </a:endParaRPr>
          </a:p>
        </p:txBody>
      </p:sp>
      <p:sp>
        <p:nvSpPr>
          <p:cNvPr id="5" name="Rectangle: Rounded Corners 4">
            <a:extLst>
              <a:ext uri="{FF2B5EF4-FFF2-40B4-BE49-F238E27FC236}">
                <a16:creationId xmlns:a16="http://schemas.microsoft.com/office/drawing/2014/main" id="{45949099-5C6B-42A7-9F8D-34A60C2DC61D}"/>
              </a:ext>
            </a:extLst>
          </p:cNvPr>
          <p:cNvSpPr>
            <a:spLocks noGrp="1"/>
          </p:cNvSpPr>
          <p:nvPr/>
        </p:nvSpPr>
        <p:spPr>
          <a:xfrm>
            <a:off x="2724150" y="1924050"/>
            <a:ext cx="2000250" cy="2428875"/>
          </a:xfrm>
          <a:prstGeom prst="roundRect">
            <a:avLst>
              <a:gd name="adj" fmla="val 5714"/>
            </a:avLst>
          </a:prstGeom>
          <a:solidFill>
            <a:srgbClr val="EEF4F6"/>
          </a:solidFill>
          <a:ln w="0">
            <a:noFill/>
            <a:prstDash val="solid"/>
          </a:ln>
        </p:spPr>
        <p:txBody>
          <a:bodyPr/>
          <a:lstStyle/>
          <a:p>
            <a:endParaRPr lang="en-US"/>
          </a:p>
        </p:txBody>
      </p:sp>
      <p:sp>
        <p:nvSpPr>
          <p:cNvPr id="6" name="text">
            <a:extLst>
              <a:ext uri="{FF2B5EF4-FFF2-40B4-BE49-F238E27FC236}">
                <a16:creationId xmlns:a16="http://schemas.microsoft.com/office/drawing/2014/main" id="{D369555E-CAD4-4018-947E-595FD580A296}"/>
              </a:ext>
            </a:extLst>
          </p:cNvPr>
          <p:cNvSpPr>
            <a:spLocks noGrp="1"/>
          </p:cNvSpPr>
          <p:nvPr/>
        </p:nvSpPr>
        <p:spPr>
          <a:xfrm>
            <a:off x="2933700" y="2143125"/>
            <a:ext cx="428625" cy="428625"/>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2</a:t>
            </a:r>
          </a:p>
        </p:txBody>
      </p:sp>
      <p:sp>
        <p:nvSpPr>
          <p:cNvPr id="7" name="text">
            <a:extLst>
              <a:ext uri="{FF2B5EF4-FFF2-40B4-BE49-F238E27FC236}">
                <a16:creationId xmlns:a16="http://schemas.microsoft.com/office/drawing/2014/main" id="{F96AF5E1-A093-4603-A425-B2C32AF3E831}"/>
              </a:ext>
            </a:extLst>
          </p:cNvPr>
          <p:cNvSpPr>
            <a:spLocks noGrp="1"/>
          </p:cNvSpPr>
          <p:nvPr/>
        </p:nvSpPr>
        <p:spPr>
          <a:xfrm>
            <a:off x="2933700" y="2847975"/>
            <a:ext cx="1581150" cy="952500"/>
          </a:xfrm>
          <a:prstGeom prst="rect">
            <a:avLst/>
          </a:prstGeom>
          <a:noFill/>
          <a:ln w="0">
            <a:noFill/>
            <a:prstDash val="solid"/>
          </a:ln>
        </p:spPr>
        <p:txBody>
          <a:bodyPr anchor="t"/>
          <a:lstStyle/>
          <a:p>
            <a:pPr algn="l">
              <a:buNone/>
              <a:defRPr sz="1650" b="1">
                <a:solidFill>
                  <a:srgbClr val="123047"/>
                </a:solidFill>
              </a:defRPr>
            </a:pPr>
            <a:r>
              <a:rPr sz="1650" b="1">
                <a:solidFill>
                  <a:srgbClr val="123047"/>
                </a:solidFill>
              </a:rPr>
              <a:t>Resect subaortic membrane</a:t>
            </a:r>
          </a:p>
        </p:txBody>
      </p:sp>
      <p:sp>
        <p:nvSpPr>
          <p:cNvPr id="8" name="Rectangle: Rounded Corners 7">
            <a:extLst>
              <a:ext uri="{FF2B5EF4-FFF2-40B4-BE49-F238E27FC236}">
                <a16:creationId xmlns:a16="http://schemas.microsoft.com/office/drawing/2014/main" id="{8DFB3101-7407-4075-B20D-B831F85EDDF5}"/>
              </a:ext>
            </a:extLst>
          </p:cNvPr>
          <p:cNvSpPr>
            <a:spLocks noGrp="1"/>
          </p:cNvSpPr>
          <p:nvPr/>
        </p:nvSpPr>
        <p:spPr>
          <a:xfrm>
            <a:off x="4991100" y="1924050"/>
            <a:ext cx="2000250" cy="2428875"/>
          </a:xfrm>
          <a:prstGeom prst="roundRect">
            <a:avLst>
              <a:gd name="adj" fmla="val 5714"/>
            </a:avLst>
          </a:prstGeom>
          <a:solidFill>
            <a:srgbClr val="EEF4F6"/>
          </a:solidFill>
          <a:ln w="0">
            <a:noFill/>
            <a:prstDash val="solid"/>
          </a:ln>
        </p:spPr>
        <p:txBody>
          <a:bodyPr/>
          <a:lstStyle/>
          <a:p>
            <a:endParaRPr lang="en-US"/>
          </a:p>
        </p:txBody>
      </p:sp>
      <p:sp>
        <p:nvSpPr>
          <p:cNvPr id="9" name="text">
            <a:extLst>
              <a:ext uri="{FF2B5EF4-FFF2-40B4-BE49-F238E27FC236}">
                <a16:creationId xmlns:a16="http://schemas.microsoft.com/office/drawing/2014/main" id="{32F3CFBD-A8AC-49C4-A9CA-551106EF24BB}"/>
              </a:ext>
            </a:extLst>
          </p:cNvPr>
          <p:cNvSpPr>
            <a:spLocks noGrp="1"/>
          </p:cNvSpPr>
          <p:nvPr/>
        </p:nvSpPr>
        <p:spPr>
          <a:xfrm>
            <a:off x="5200650" y="2143125"/>
            <a:ext cx="428625" cy="428625"/>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3</a:t>
            </a:r>
          </a:p>
        </p:txBody>
      </p:sp>
      <p:sp>
        <p:nvSpPr>
          <p:cNvPr id="10" name="text">
            <a:extLst>
              <a:ext uri="{FF2B5EF4-FFF2-40B4-BE49-F238E27FC236}">
                <a16:creationId xmlns:a16="http://schemas.microsoft.com/office/drawing/2014/main" id="{B9D3F405-39B3-45FB-A04F-A232178CB195}"/>
              </a:ext>
            </a:extLst>
          </p:cNvPr>
          <p:cNvSpPr>
            <a:spLocks noGrp="1"/>
          </p:cNvSpPr>
          <p:nvPr/>
        </p:nvSpPr>
        <p:spPr>
          <a:xfrm>
            <a:off x="5105400" y="2476500"/>
            <a:ext cx="1581150" cy="952500"/>
          </a:xfrm>
          <a:prstGeom prst="rect">
            <a:avLst/>
          </a:prstGeom>
          <a:noFill/>
          <a:ln w="0">
            <a:noFill/>
            <a:prstDash val="solid"/>
          </a:ln>
        </p:spPr>
        <p:txBody>
          <a:bodyPr anchor="t"/>
          <a:lstStyle/>
          <a:p>
            <a:pPr algn="l">
              <a:buNone/>
              <a:defRPr sz="1650" b="1">
                <a:solidFill>
                  <a:srgbClr val="123047"/>
                </a:solidFill>
              </a:defRPr>
            </a:pPr>
            <a:r>
              <a:rPr sz="1650" b="1" dirty="0">
                <a:solidFill>
                  <a:srgbClr val="123047"/>
                </a:solidFill>
              </a:rPr>
              <a:t>Implant mechanical aortic valve</a:t>
            </a:r>
            <a:r>
              <a:rPr lang="en-US" sz="1650" b="1" dirty="0">
                <a:solidFill>
                  <a:srgbClr val="123047"/>
                </a:solidFill>
              </a:rPr>
              <a:t> using a 25mm St. Jude mechanical valve</a:t>
            </a:r>
            <a:endParaRPr sz="1650" b="1" dirty="0">
              <a:solidFill>
                <a:srgbClr val="123047"/>
              </a:solidFill>
            </a:endParaRPr>
          </a:p>
        </p:txBody>
      </p:sp>
      <p:sp>
        <p:nvSpPr>
          <p:cNvPr id="11" name="Rectangle: Rounded Corners 10">
            <a:extLst>
              <a:ext uri="{FF2B5EF4-FFF2-40B4-BE49-F238E27FC236}">
                <a16:creationId xmlns:a16="http://schemas.microsoft.com/office/drawing/2014/main" id="{7BF231C6-6106-4B03-BB02-700FE19518B8}"/>
              </a:ext>
            </a:extLst>
          </p:cNvPr>
          <p:cNvSpPr>
            <a:spLocks noGrp="1"/>
          </p:cNvSpPr>
          <p:nvPr/>
        </p:nvSpPr>
        <p:spPr>
          <a:xfrm>
            <a:off x="7258050" y="1924050"/>
            <a:ext cx="2000250" cy="2428875"/>
          </a:xfrm>
          <a:prstGeom prst="roundRect">
            <a:avLst>
              <a:gd name="adj" fmla="val 5714"/>
            </a:avLst>
          </a:prstGeom>
          <a:solidFill>
            <a:srgbClr val="EEF4F6"/>
          </a:solidFill>
          <a:ln w="0">
            <a:noFill/>
            <a:prstDash val="solid"/>
          </a:ln>
        </p:spPr>
        <p:txBody>
          <a:bodyPr/>
          <a:lstStyle/>
          <a:p>
            <a:endParaRPr lang="en-US"/>
          </a:p>
        </p:txBody>
      </p:sp>
      <p:sp>
        <p:nvSpPr>
          <p:cNvPr id="12" name="text">
            <a:extLst>
              <a:ext uri="{FF2B5EF4-FFF2-40B4-BE49-F238E27FC236}">
                <a16:creationId xmlns:a16="http://schemas.microsoft.com/office/drawing/2014/main" id="{A7FDF010-9205-4771-B722-3DDD821A2560}"/>
              </a:ext>
            </a:extLst>
          </p:cNvPr>
          <p:cNvSpPr>
            <a:spLocks noGrp="1"/>
          </p:cNvSpPr>
          <p:nvPr/>
        </p:nvSpPr>
        <p:spPr>
          <a:xfrm>
            <a:off x="7467600" y="2143125"/>
            <a:ext cx="428625" cy="428625"/>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4</a:t>
            </a:r>
          </a:p>
        </p:txBody>
      </p:sp>
      <p:sp>
        <p:nvSpPr>
          <p:cNvPr id="13" name="text">
            <a:extLst>
              <a:ext uri="{FF2B5EF4-FFF2-40B4-BE49-F238E27FC236}">
                <a16:creationId xmlns:a16="http://schemas.microsoft.com/office/drawing/2014/main" id="{B9B8BB57-2F69-42CF-92AE-6D69F5CE5A89}"/>
              </a:ext>
            </a:extLst>
          </p:cNvPr>
          <p:cNvSpPr>
            <a:spLocks noGrp="1"/>
          </p:cNvSpPr>
          <p:nvPr/>
        </p:nvSpPr>
        <p:spPr>
          <a:xfrm>
            <a:off x="7467600" y="2615688"/>
            <a:ext cx="1581150" cy="952500"/>
          </a:xfrm>
          <a:prstGeom prst="rect">
            <a:avLst/>
          </a:prstGeom>
          <a:noFill/>
          <a:ln w="0">
            <a:noFill/>
            <a:prstDash val="solid"/>
          </a:ln>
        </p:spPr>
        <p:txBody>
          <a:bodyPr anchor="t"/>
          <a:lstStyle/>
          <a:p>
            <a:pPr algn="l">
              <a:buNone/>
              <a:defRPr sz="1650" b="1">
                <a:solidFill>
                  <a:srgbClr val="123047"/>
                </a:solidFill>
              </a:defRPr>
            </a:pPr>
            <a:r>
              <a:rPr sz="1650" b="1" dirty="0">
                <a:solidFill>
                  <a:srgbClr val="123047"/>
                </a:solidFill>
              </a:rPr>
              <a:t>Rewarm and de-air</a:t>
            </a:r>
            <a:r>
              <a:rPr lang="en-US" sz="1650" b="1" dirty="0">
                <a:solidFill>
                  <a:srgbClr val="123047"/>
                </a:solidFill>
              </a:rPr>
              <a:t> using the Root Vent and LV Sump on 1 liter each</a:t>
            </a:r>
            <a:endParaRPr sz="1650" b="1" dirty="0">
              <a:solidFill>
                <a:srgbClr val="123047"/>
              </a:solidFill>
            </a:endParaRPr>
          </a:p>
        </p:txBody>
      </p:sp>
      <p:sp>
        <p:nvSpPr>
          <p:cNvPr id="14" name="Rectangle: Rounded Corners 13">
            <a:extLst>
              <a:ext uri="{FF2B5EF4-FFF2-40B4-BE49-F238E27FC236}">
                <a16:creationId xmlns:a16="http://schemas.microsoft.com/office/drawing/2014/main" id="{A16A571E-9F7A-4B7C-A89E-8143B82DAD23}"/>
              </a:ext>
            </a:extLst>
          </p:cNvPr>
          <p:cNvSpPr>
            <a:spLocks noGrp="1"/>
          </p:cNvSpPr>
          <p:nvPr/>
        </p:nvSpPr>
        <p:spPr>
          <a:xfrm>
            <a:off x="9525000" y="1924050"/>
            <a:ext cx="2000250" cy="2428875"/>
          </a:xfrm>
          <a:prstGeom prst="roundRect">
            <a:avLst>
              <a:gd name="adj" fmla="val 5714"/>
            </a:avLst>
          </a:prstGeom>
          <a:solidFill>
            <a:srgbClr val="123047"/>
          </a:solidFill>
          <a:ln w="0">
            <a:noFill/>
            <a:prstDash val="solid"/>
          </a:ln>
        </p:spPr>
        <p:txBody>
          <a:bodyPr/>
          <a:lstStyle/>
          <a:p>
            <a:endParaRPr lang="en-US"/>
          </a:p>
        </p:txBody>
      </p:sp>
      <p:sp>
        <p:nvSpPr>
          <p:cNvPr id="15" name="text">
            <a:extLst>
              <a:ext uri="{FF2B5EF4-FFF2-40B4-BE49-F238E27FC236}">
                <a16:creationId xmlns:a16="http://schemas.microsoft.com/office/drawing/2014/main" id="{E808A203-C170-4996-8E6B-8D28839E1260}"/>
              </a:ext>
            </a:extLst>
          </p:cNvPr>
          <p:cNvSpPr>
            <a:spLocks noGrp="1"/>
          </p:cNvSpPr>
          <p:nvPr/>
        </p:nvSpPr>
        <p:spPr>
          <a:xfrm>
            <a:off x="9734550" y="2143125"/>
            <a:ext cx="428625" cy="428625"/>
          </a:xfrm>
          <a:prstGeom prst="rect">
            <a:avLst/>
          </a:prstGeom>
          <a:noFill/>
          <a:ln w="0">
            <a:noFill/>
            <a:prstDash val="solid"/>
          </a:ln>
        </p:spPr>
        <p:txBody>
          <a:bodyPr anchor="t"/>
          <a:lstStyle/>
          <a:p>
            <a:pPr algn="l">
              <a:buNone/>
              <a:defRPr sz="2100" b="1">
                <a:solidFill>
                  <a:srgbClr val="72B6C9"/>
                </a:solidFill>
              </a:defRPr>
            </a:pPr>
            <a:r>
              <a:rPr sz="2100" b="1">
                <a:solidFill>
                  <a:srgbClr val="72B6C9"/>
                </a:solidFill>
              </a:rPr>
              <a:t>5</a:t>
            </a:r>
          </a:p>
        </p:txBody>
      </p:sp>
      <p:sp>
        <p:nvSpPr>
          <p:cNvPr id="16" name="text">
            <a:extLst>
              <a:ext uri="{FF2B5EF4-FFF2-40B4-BE49-F238E27FC236}">
                <a16:creationId xmlns:a16="http://schemas.microsoft.com/office/drawing/2014/main" id="{24348837-581E-4E77-BB9A-B5B02A21CA3C}"/>
              </a:ext>
            </a:extLst>
          </p:cNvPr>
          <p:cNvSpPr>
            <a:spLocks noGrp="1"/>
          </p:cNvSpPr>
          <p:nvPr/>
        </p:nvSpPr>
        <p:spPr>
          <a:xfrm>
            <a:off x="9734550" y="2847975"/>
            <a:ext cx="1581150" cy="952500"/>
          </a:xfrm>
          <a:prstGeom prst="rect">
            <a:avLst/>
          </a:prstGeom>
          <a:noFill/>
          <a:ln w="0">
            <a:noFill/>
            <a:prstDash val="solid"/>
          </a:ln>
        </p:spPr>
        <p:txBody>
          <a:bodyPr anchor="t"/>
          <a:lstStyle/>
          <a:p>
            <a:pPr algn="l">
              <a:buNone/>
              <a:defRPr sz="1650" b="1">
                <a:solidFill>
                  <a:srgbClr val="FFFFFF"/>
                </a:solidFill>
              </a:defRPr>
            </a:pPr>
            <a:r>
              <a:rPr sz="1650" b="1">
                <a:solidFill>
                  <a:srgbClr val="FFFFFF"/>
                </a:solidFill>
              </a:rPr>
              <a:t>Wean successfully</a:t>
            </a:r>
          </a:p>
        </p:txBody>
      </p:sp>
      <p:sp>
        <p:nvSpPr>
          <p:cNvPr id="19" name="source">
            <a:extLst>
              <a:ext uri="{FF2B5EF4-FFF2-40B4-BE49-F238E27FC236}">
                <a16:creationId xmlns:a16="http://schemas.microsoft.com/office/drawing/2014/main" id="{93D77BCB-BD1C-4E70-8688-949183857D49}"/>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20" name="slide-number">
            <a:extLst>
              <a:ext uri="{FF2B5EF4-FFF2-40B4-BE49-F238E27FC236}">
                <a16:creationId xmlns:a16="http://schemas.microsoft.com/office/drawing/2014/main" id="{22441970-3B84-466C-8B2F-521A05811EC9}"/>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11</a:t>
            </a:r>
          </a:p>
        </p:txBody>
      </p:sp>
    </p:spTree>
    <p:extLst>
      <p:ext uri="{BB962C8B-B14F-4D97-AF65-F5344CB8AC3E}">
        <p14:creationId xmlns:p14="http://schemas.microsoft.com/office/powerpoint/2010/main" val="46173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itle">
            <a:extLst>
              <a:ext uri="{FF2B5EF4-FFF2-40B4-BE49-F238E27FC236}">
                <a16:creationId xmlns:a16="http://schemas.microsoft.com/office/drawing/2014/main" id="{E2FE9F69-398E-496E-BFA8-30AC56D4A2D7}"/>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The operative timeline concentrated risk into a 20-minute arrest window</a:t>
            </a:r>
          </a:p>
        </p:txBody>
      </p:sp>
      <p:sp>
        <p:nvSpPr>
          <p:cNvPr id="2" name="Straight Connector 1">
            <a:extLst>
              <a:ext uri="{FF2B5EF4-FFF2-40B4-BE49-F238E27FC236}">
                <a16:creationId xmlns:a16="http://schemas.microsoft.com/office/drawing/2014/main" id="{CA13E85F-BB5E-4E80-8F1E-3A60E3328CFA}"/>
              </a:ext>
            </a:extLst>
          </p:cNvPr>
          <p:cNvSpPr>
            <a:spLocks noGrp="1"/>
          </p:cNvSpPr>
          <p:nvPr/>
        </p:nvSpPr>
        <p:spPr>
          <a:xfrm>
            <a:off x="904875" y="3143250"/>
            <a:ext cx="8953500" cy="0"/>
          </a:xfrm>
          <a:prstGeom prst="line">
            <a:avLst/>
          </a:prstGeom>
          <a:ln w="114300">
            <a:solidFill>
              <a:srgbClr val="123047"/>
            </a:solidFill>
            <a:prstDash val="solid"/>
          </a:ln>
        </p:spPr>
        <p:txBody>
          <a:bodyPr/>
          <a:lstStyle/>
          <a:p>
            <a:endParaRPr lang="en-US"/>
          </a:p>
        </p:txBody>
      </p:sp>
      <p:sp>
        <p:nvSpPr>
          <p:cNvPr id="3" name="Rectangle 2">
            <a:extLst>
              <a:ext uri="{FF2B5EF4-FFF2-40B4-BE49-F238E27FC236}">
                <a16:creationId xmlns:a16="http://schemas.microsoft.com/office/drawing/2014/main" id="{859A595D-3D70-4A48-9253-CAE43DABB77C}"/>
              </a:ext>
            </a:extLst>
          </p:cNvPr>
          <p:cNvSpPr>
            <a:spLocks noGrp="1"/>
          </p:cNvSpPr>
          <p:nvPr/>
        </p:nvSpPr>
        <p:spPr>
          <a:xfrm>
            <a:off x="904875" y="2733675"/>
            <a:ext cx="8953500" cy="819150"/>
          </a:xfrm>
          <a:prstGeom prst="rect">
            <a:avLst/>
          </a:prstGeom>
          <a:noFill/>
          <a:ln w="9525">
            <a:solidFill>
              <a:srgbClr val="123047"/>
            </a:solidFill>
            <a:prstDash val="solid"/>
          </a:ln>
        </p:spPr>
        <p:txBody>
          <a:bodyPr/>
          <a:lstStyle/>
          <a:p>
            <a:endParaRPr lang="en-US"/>
          </a:p>
        </p:txBody>
      </p:sp>
      <p:sp>
        <p:nvSpPr>
          <p:cNvPr id="4" name="text">
            <a:extLst>
              <a:ext uri="{FF2B5EF4-FFF2-40B4-BE49-F238E27FC236}">
                <a16:creationId xmlns:a16="http://schemas.microsoft.com/office/drawing/2014/main" id="{5492C005-B8D2-406D-B652-1A14BA76F2D8}"/>
              </a:ext>
            </a:extLst>
          </p:cNvPr>
          <p:cNvSpPr>
            <a:spLocks noGrp="1"/>
          </p:cNvSpPr>
          <p:nvPr/>
        </p:nvSpPr>
        <p:spPr>
          <a:xfrm>
            <a:off x="904875" y="2266950"/>
            <a:ext cx="2095500" cy="304800"/>
          </a:xfrm>
          <a:prstGeom prst="rect">
            <a:avLst/>
          </a:prstGeom>
          <a:noFill/>
          <a:ln w="0">
            <a:noFill/>
            <a:prstDash val="solid"/>
          </a:ln>
        </p:spPr>
        <p:txBody>
          <a:bodyPr anchor="t"/>
          <a:lstStyle/>
          <a:p>
            <a:pPr algn="l">
              <a:buNone/>
              <a:defRPr sz="1350" b="1">
                <a:solidFill>
                  <a:srgbClr val="123047"/>
                </a:solidFill>
              </a:defRPr>
            </a:pPr>
            <a:r>
              <a:rPr sz="1350" b="1">
                <a:solidFill>
                  <a:srgbClr val="123047"/>
                </a:solidFill>
              </a:rPr>
              <a:t>TOTAL CPB</a:t>
            </a:r>
          </a:p>
        </p:txBody>
      </p:sp>
      <p:sp>
        <p:nvSpPr>
          <p:cNvPr id="5" name="text">
            <a:extLst>
              <a:ext uri="{FF2B5EF4-FFF2-40B4-BE49-F238E27FC236}">
                <a16:creationId xmlns:a16="http://schemas.microsoft.com/office/drawing/2014/main" id="{5B9679A2-88C1-4210-80C1-EF4F055A0CC6}"/>
              </a:ext>
            </a:extLst>
          </p:cNvPr>
          <p:cNvSpPr>
            <a:spLocks noGrp="1"/>
          </p:cNvSpPr>
          <p:nvPr/>
        </p:nvSpPr>
        <p:spPr>
          <a:xfrm>
            <a:off x="8429625" y="2266950"/>
            <a:ext cx="1428750" cy="323850"/>
          </a:xfrm>
          <a:prstGeom prst="rect">
            <a:avLst/>
          </a:prstGeom>
          <a:noFill/>
          <a:ln w="0">
            <a:noFill/>
            <a:prstDash val="solid"/>
          </a:ln>
        </p:spPr>
        <p:txBody>
          <a:bodyPr anchor="t"/>
          <a:lstStyle/>
          <a:p>
            <a:pPr algn="r">
              <a:buNone/>
              <a:defRPr sz="1950" b="1">
                <a:solidFill>
                  <a:srgbClr val="123047"/>
                </a:solidFill>
              </a:defRPr>
            </a:pPr>
            <a:r>
              <a:rPr sz="1950" b="1">
                <a:solidFill>
                  <a:srgbClr val="123047"/>
                </a:solidFill>
              </a:rPr>
              <a:t>100 min</a:t>
            </a:r>
          </a:p>
        </p:txBody>
      </p:sp>
      <p:sp>
        <p:nvSpPr>
          <p:cNvPr id="6" name="Rectangle: Rounded Corners 5">
            <a:extLst>
              <a:ext uri="{FF2B5EF4-FFF2-40B4-BE49-F238E27FC236}">
                <a16:creationId xmlns:a16="http://schemas.microsoft.com/office/drawing/2014/main" id="{4862789B-6CC3-41E5-B141-B5FC09CF81FF}"/>
              </a:ext>
            </a:extLst>
          </p:cNvPr>
          <p:cNvSpPr>
            <a:spLocks noGrp="1"/>
          </p:cNvSpPr>
          <p:nvPr/>
        </p:nvSpPr>
        <p:spPr>
          <a:xfrm>
            <a:off x="10048875" y="1952625"/>
            <a:ext cx="1428750" cy="1143000"/>
          </a:xfrm>
          <a:prstGeom prst="roundRect">
            <a:avLst>
              <a:gd name="adj" fmla="val 10000"/>
            </a:avLst>
          </a:prstGeom>
          <a:solidFill>
            <a:srgbClr val="EEF4F6"/>
          </a:solidFill>
          <a:ln w="0">
            <a:noFill/>
            <a:prstDash val="solid"/>
          </a:ln>
        </p:spPr>
        <p:txBody>
          <a:bodyPr/>
          <a:lstStyle/>
          <a:p>
            <a:endParaRPr lang="en-US"/>
          </a:p>
        </p:txBody>
      </p:sp>
      <p:sp>
        <p:nvSpPr>
          <p:cNvPr id="7" name="text">
            <a:extLst>
              <a:ext uri="{FF2B5EF4-FFF2-40B4-BE49-F238E27FC236}">
                <a16:creationId xmlns:a16="http://schemas.microsoft.com/office/drawing/2014/main" id="{1D2AF207-F94F-4A84-BFBC-1B6F878E0E84}"/>
              </a:ext>
            </a:extLst>
          </p:cNvPr>
          <p:cNvSpPr>
            <a:spLocks noGrp="1"/>
          </p:cNvSpPr>
          <p:nvPr/>
        </p:nvSpPr>
        <p:spPr>
          <a:xfrm>
            <a:off x="10248900" y="2133600"/>
            <a:ext cx="1047750" cy="266700"/>
          </a:xfrm>
          <a:prstGeom prst="rect">
            <a:avLst/>
          </a:prstGeom>
          <a:noFill/>
          <a:ln w="0">
            <a:noFill/>
            <a:prstDash val="solid"/>
          </a:ln>
        </p:spPr>
        <p:txBody>
          <a:bodyPr anchor="t"/>
          <a:lstStyle/>
          <a:p>
            <a:pPr algn="l">
              <a:buNone/>
              <a:defRPr sz="1350" b="1">
                <a:solidFill>
                  <a:srgbClr val="56636B"/>
                </a:solidFill>
              </a:defRPr>
            </a:pPr>
            <a:r>
              <a:rPr sz="1350" b="1">
                <a:solidFill>
                  <a:srgbClr val="56636B"/>
                </a:solidFill>
              </a:rPr>
              <a:t>Clamp</a:t>
            </a:r>
          </a:p>
        </p:txBody>
      </p:sp>
      <p:sp>
        <p:nvSpPr>
          <p:cNvPr id="8" name="text">
            <a:extLst>
              <a:ext uri="{FF2B5EF4-FFF2-40B4-BE49-F238E27FC236}">
                <a16:creationId xmlns:a16="http://schemas.microsoft.com/office/drawing/2014/main" id="{55EE2D52-F5AB-4BBE-A739-C03808E687C4}"/>
              </a:ext>
            </a:extLst>
          </p:cNvPr>
          <p:cNvSpPr>
            <a:spLocks noGrp="1"/>
          </p:cNvSpPr>
          <p:nvPr/>
        </p:nvSpPr>
        <p:spPr>
          <a:xfrm>
            <a:off x="10248900" y="2476500"/>
            <a:ext cx="762000" cy="457200"/>
          </a:xfrm>
          <a:prstGeom prst="rect">
            <a:avLst/>
          </a:prstGeom>
          <a:noFill/>
          <a:ln w="0">
            <a:noFill/>
            <a:prstDash val="solid"/>
          </a:ln>
        </p:spPr>
        <p:txBody>
          <a:bodyPr anchor="t"/>
          <a:lstStyle/>
          <a:p>
            <a:pPr algn="l">
              <a:buNone/>
              <a:defRPr sz="2850" b="1">
                <a:solidFill>
                  <a:srgbClr val="A33B3B"/>
                </a:solidFill>
              </a:defRPr>
            </a:pPr>
            <a:r>
              <a:rPr sz="2850" b="1">
                <a:solidFill>
                  <a:srgbClr val="A33B3B"/>
                </a:solidFill>
              </a:rPr>
              <a:t>55</a:t>
            </a:r>
          </a:p>
        </p:txBody>
      </p:sp>
      <p:sp>
        <p:nvSpPr>
          <p:cNvPr id="9" name="text">
            <a:extLst>
              <a:ext uri="{FF2B5EF4-FFF2-40B4-BE49-F238E27FC236}">
                <a16:creationId xmlns:a16="http://schemas.microsoft.com/office/drawing/2014/main" id="{82F90F56-EB0F-40EB-AD98-5D60FA3DB574}"/>
              </a:ext>
            </a:extLst>
          </p:cNvPr>
          <p:cNvSpPr>
            <a:spLocks noGrp="1"/>
          </p:cNvSpPr>
          <p:nvPr/>
        </p:nvSpPr>
        <p:spPr>
          <a:xfrm>
            <a:off x="10744201" y="2609850"/>
            <a:ext cx="552450" cy="323850"/>
          </a:xfrm>
          <a:prstGeom prst="rect">
            <a:avLst/>
          </a:prstGeom>
          <a:noFill/>
          <a:ln w="0">
            <a:noFill/>
            <a:prstDash val="solid"/>
          </a:ln>
        </p:spPr>
        <p:txBody>
          <a:bodyPr anchor="t"/>
          <a:lstStyle/>
          <a:p>
            <a:pPr algn="l">
              <a:buNone/>
              <a:defRPr sz="1350" b="0">
                <a:solidFill>
                  <a:srgbClr val="56636B"/>
                </a:solidFill>
              </a:defRPr>
            </a:pPr>
            <a:r>
              <a:rPr sz="1350" b="0" dirty="0">
                <a:solidFill>
                  <a:srgbClr val="56636B"/>
                </a:solidFill>
              </a:rPr>
              <a:t>min</a:t>
            </a:r>
          </a:p>
        </p:txBody>
      </p:sp>
      <p:sp>
        <p:nvSpPr>
          <p:cNvPr id="10" name="Rectangle: Rounded Corners 9">
            <a:extLst>
              <a:ext uri="{FF2B5EF4-FFF2-40B4-BE49-F238E27FC236}">
                <a16:creationId xmlns:a16="http://schemas.microsoft.com/office/drawing/2014/main" id="{00B90250-E9A4-4769-9C3A-B52E3F890EE7}"/>
              </a:ext>
            </a:extLst>
          </p:cNvPr>
          <p:cNvSpPr>
            <a:spLocks noGrp="1"/>
          </p:cNvSpPr>
          <p:nvPr/>
        </p:nvSpPr>
        <p:spPr>
          <a:xfrm>
            <a:off x="10048875" y="3333750"/>
            <a:ext cx="1428750" cy="1143000"/>
          </a:xfrm>
          <a:prstGeom prst="roundRect">
            <a:avLst>
              <a:gd name="adj" fmla="val 10000"/>
            </a:avLst>
          </a:prstGeom>
          <a:solidFill>
            <a:srgbClr val="F7F3EB"/>
          </a:solidFill>
          <a:ln w="0">
            <a:noFill/>
            <a:prstDash val="solid"/>
          </a:ln>
        </p:spPr>
        <p:txBody>
          <a:bodyPr/>
          <a:lstStyle/>
          <a:p>
            <a:endParaRPr lang="en-US"/>
          </a:p>
        </p:txBody>
      </p:sp>
      <p:sp>
        <p:nvSpPr>
          <p:cNvPr id="11" name="text">
            <a:extLst>
              <a:ext uri="{FF2B5EF4-FFF2-40B4-BE49-F238E27FC236}">
                <a16:creationId xmlns:a16="http://schemas.microsoft.com/office/drawing/2014/main" id="{3DF17481-7B63-40D5-B0C9-775BD266F6E1}"/>
              </a:ext>
            </a:extLst>
          </p:cNvPr>
          <p:cNvSpPr>
            <a:spLocks noGrp="1"/>
          </p:cNvSpPr>
          <p:nvPr/>
        </p:nvSpPr>
        <p:spPr>
          <a:xfrm>
            <a:off x="10248900" y="3514725"/>
            <a:ext cx="1047750" cy="266700"/>
          </a:xfrm>
          <a:prstGeom prst="rect">
            <a:avLst/>
          </a:prstGeom>
          <a:noFill/>
          <a:ln w="0">
            <a:noFill/>
            <a:prstDash val="solid"/>
          </a:ln>
        </p:spPr>
        <p:txBody>
          <a:bodyPr anchor="t"/>
          <a:lstStyle/>
          <a:p>
            <a:pPr algn="l">
              <a:buNone/>
              <a:defRPr sz="1350" b="1">
                <a:solidFill>
                  <a:srgbClr val="56636B"/>
                </a:solidFill>
              </a:defRPr>
            </a:pPr>
            <a:r>
              <a:rPr sz="1350" b="1">
                <a:solidFill>
                  <a:srgbClr val="56636B"/>
                </a:solidFill>
              </a:rPr>
              <a:t>Arrest</a:t>
            </a:r>
          </a:p>
        </p:txBody>
      </p:sp>
      <p:sp>
        <p:nvSpPr>
          <p:cNvPr id="12" name="text">
            <a:extLst>
              <a:ext uri="{FF2B5EF4-FFF2-40B4-BE49-F238E27FC236}">
                <a16:creationId xmlns:a16="http://schemas.microsoft.com/office/drawing/2014/main" id="{030598DE-087A-4CCA-B7F5-8E9EF71C1373}"/>
              </a:ext>
            </a:extLst>
          </p:cNvPr>
          <p:cNvSpPr>
            <a:spLocks noGrp="1"/>
          </p:cNvSpPr>
          <p:nvPr/>
        </p:nvSpPr>
        <p:spPr>
          <a:xfrm>
            <a:off x="10248900" y="3857625"/>
            <a:ext cx="762000" cy="457200"/>
          </a:xfrm>
          <a:prstGeom prst="rect">
            <a:avLst/>
          </a:prstGeom>
          <a:noFill/>
          <a:ln w="0">
            <a:noFill/>
            <a:prstDash val="solid"/>
          </a:ln>
        </p:spPr>
        <p:txBody>
          <a:bodyPr anchor="t"/>
          <a:lstStyle/>
          <a:p>
            <a:pPr algn="l">
              <a:buNone/>
              <a:defRPr sz="2850" b="1">
                <a:solidFill>
                  <a:srgbClr val="A33B3B"/>
                </a:solidFill>
              </a:defRPr>
            </a:pPr>
            <a:r>
              <a:rPr lang="en-US" sz="2850" b="1" dirty="0">
                <a:solidFill>
                  <a:srgbClr val="A33B3B"/>
                </a:solidFill>
              </a:rPr>
              <a:t>12</a:t>
            </a:r>
            <a:endParaRPr sz="2850" b="1" dirty="0">
              <a:solidFill>
                <a:srgbClr val="A33B3B"/>
              </a:solidFill>
            </a:endParaRPr>
          </a:p>
        </p:txBody>
      </p:sp>
      <p:sp>
        <p:nvSpPr>
          <p:cNvPr id="13" name="text">
            <a:extLst>
              <a:ext uri="{FF2B5EF4-FFF2-40B4-BE49-F238E27FC236}">
                <a16:creationId xmlns:a16="http://schemas.microsoft.com/office/drawing/2014/main" id="{8BABE224-1917-4FD9-AC50-FA413BB54240}"/>
              </a:ext>
            </a:extLst>
          </p:cNvPr>
          <p:cNvSpPr>
            <a:spLocks noGrp="1"/>
          </p:cNvSpPr>
          <p:nvPr/>
        </p:nvSpPr>
        <p:spPr>
          <a:xfrm>
            <a:off x="10744201" y="3990975"/>
            <a:ext cx="552450" cy="323850"/>
          </a:xfrm>
          <a:prstGeom prst="rect">
            <a:avLst/>
          </a:prstGeom>
          <a:noFill/>
          <a:ln w="0">
            <a:noFill/>
            <a:prstDash val="solid"/>
          </a:ln>
        </p:spPr>
        <p:txBody>
          <a:bodyPr anchor="t"/>
          <a:lstStyle/>
          <a:p>
            <a:pPr algn="l">
              <a:buNone/>
              <a:defRPr sz="1350" b="0">
                <a:solidFill>
                  <a:srgbClr val="56636B"/>
                </a:solidFill>
              </a:defRPr>
            </a:pPr>
            <a:r>
              <a:rPr sz="1350" b="0" dirty="0">
                <a:solidFill>
                  <a:srgbClr val="56636B"/>
                </a:solidFill>
              </a:rPr>
              <a:t>min</a:t>
            </a:r>
          </a:p>
        </p:txBody>
      </p:sp>
      <p:sp>
        <p:nvSpPr>
          <p:cNvPr id="14" name="text">
            <a:extLst>
              <a:ext uri="{FF2B5EF4-FFF2-40B4-BE49-F238E27FC236}">
                <a16:creationId xmlns:a16="http://schemas.microsoft.com/office/drawing/2014/main" id="{7BF8BF36-921D-44CA-AFD8-5C9CDBA1DFE0}"/>
              </a:ext>
            </a:extLst>
          </p:cNvPr>
          <p:cNvSpPr>
            <a:spLocks noGrp="1"/>
          </p:cNvSpPr>
          <p:nvPr/>
        </p:nvSpPr>
        <p:spPr>
          <a:xfrm>
            <a:off x="904875" y="4010025"/>
            <a:ext cx="8763000" cy="904875"/>
          </a:xfrm>
          <a:prstGeom prst="rect">
            <a:avLst/>
          </a:prstGeom>
          <a:noFill/>
          <a:ln w="0">
            <a:noFill/>
            <a:prstDash val="solid"/>
          </a:ln>
        </p:spPr>
        <p:txBody>
          <a:bodyPr anchor="t"/>
          <a:lstStyle/>
          <a:p>
            <a:pPr algn="l">
              <a:buNone/>
              <a:defRPr sz="1650" b="1">
                <a:solidFill>
                  <a:srgbClr val="172026"/>
                </a:solidFill>
              </a:defRPr>
            </a:pPr>
            <a:r>
              <a:rPr sz="1650" b="1">
                <a:solidFill>
                  <a:srgbClr val="172026"/>
                </a:solidFill>
              </a:rPr>
              <a:t>Cannulation → full flow → cooling → incision/sternotomy → clamp/cardioplegia → ACP/arrest → graft repair → full-body flow → AVR → wean</a:t>
            </a:r>
          </a:p>
        </p:txBody>
      </p:sp>
      <p:sp>
        <p:nvSpPr>
          <p:cNvPr id="16" name="source">
            <a:extLst>
              <a:ext uri="{FF2B5EF4-FFF2-40B4-BE49-F238E27FC236}">
                <a16:creationId xmlns:a16="http://schemas.microsoft.com/office/drawing/2014/main" id="{5CD6C43A-BBC9-4F4B-B6B1-AA17D9C5DFB4}"/>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7" name="slide-number">
            <a:extLst>
              <a:ext uri="{FF2B5EF4-FFF2-40B4-BE49-F238E27FC236}">
                <a16:creationId xmlns:a16="http://schemas.microsoft.com/office/drawing/2014/main" id="{AABFFA47-DBA8-49D4-9BB1-CA9DF84A3957}"/>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12</a:t>
            </a:r>
          </a:p>
        </p:txBody>
      </p:sp>
    </p:spTree>
    <p:extLst>
      <p:ext uri="{BB962C8B-B14F-4D97-AF65-F5344CB8AC3E}">
        <p14:creationId xmlns:p14="http://schemas.microsoft.com/office/powerpoint/2010/main" val="582666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0D636241-EBED-472F-BBCB-EB6EF3BF79C4}"/>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The reported endpoints show efficient separation despite complex flow transitions</a:t>
            </a:r>
          </a:p>
        </p:txBody>
      </p:sp>
      <p:sp>
        <p:nvSpPr>
          <p:cNvPr id="2" name="text">
            <a:extLst>
              <a:ext uri="{FF2B5EF4-FFF2-40B4-BE49-F238E27FC236}">
                <a16:creationId xmlns:a16="http://schemas.microsoft.com/office/drawing/2014/main" id="{1C3FFD1B-9EC8-4816-8E27-BBA1E748F0D7}"/>
              </a:ext>
            </a:extLst>
          </p:cNvPr>
          <p:cNvSpPr>
            <a:spLocks noGrp="1"/>
          </p:cNvSpPr>
          <p:nvPr/>
        </p:nvSpPr>
        <p:spPr>
          <a:xfrm>
            <a:off x="457200" y="2628900"/>
            <a:ext cx="3143250" cy="523875"/>
          </a:xfrm>
          <a:prstGeom prst="rect">
            <a:avLst/>
          </a:prstGeom>
          <a:noFill/>
          <a:ln w="0">
            <a:noFill/>
            <a:prstDash val="solid"/>
          </a:ln>
        </p:spPr>
        <p:txBody>
          <a:bodyPr anchor="t"/>
          <a:lstStyle/>
          <a:p>
            <a:pPr algn="l">
              <a:buNone/>
              <a:defRPr sz="1575" b="0">
                <a:solidFill>
                  <a:srgbClr val="56636B"/>
                </a:solidFill>
              </a:defRPr>
            </a:pPr>
            <a:r>
              <a:rPr sz="1575" b="0">
                <a:solidFill>
                  <a:srgbClr val="56636B"/>
                </a:solidFill>
              </a:rPr>
              <a:t>CARDIOPULMONARY BYPASS</a:t>
            </a:r>
          </a:p>
        </p:txBody>
      </p:sp>
      <p:sp>
        <p:nvSpPr>
          <p:cNvPr id="3" name="text">
            <a:extLst>
              <a:ext uri="{FF2B5EF4-FFF2-40B4-BE49-F238E27FC236}">
                <a16:creationId xmlns:a16="http://schemas.microsoft.com/office/drawing/2014/main" id="{D89E3BF2-07DA-49EF-875D-F980C9571D95}"/>
              </a:ext>
            </a:extLst>
          </p:cNvPr>
          <p:cNvSpPr>
            <a:spLocks noGrp="1"/>
          </p:cNvSpPr>
          <p:nvPr/>
        </p:nvSpPr>
        <p:spPr>
          <a:xfrm>
            <a:off x="457200" y="3219450"/>
            <a:ext cx="3143250" cy="1190625"/>
          </a:xfrm>
          <a:prstGeom prst="rect">
            <a:avLst/>
          </a:prstGeom>
          <a:noFill/>
          <a:ln w="0">
            <a:noFill/>
            <a:prstDash val="solid"/>
          </a:ln>
        </p:spPr>
        <p:txBody>
          <a:bodyPr anchor="t"/>
          <a:lstStyle/>
          <a:p>
            <a:pPr algn="l">
              <a:buNone/>
              <a:defRPr sz="4800" b="1">
                <a:solidFill>
                  <a:srgbClr val="123047"/>
                </a:solidFill>
              </a:defRPr>
            </a:pPr>
            <a:r>
              <a:rPr sz="4800" b="1">
                <a:solidFill>
                  <a:srgbClr val="123047"/>
                </a:solidFill>
              </a:rPr>
              <a:t>100 min</a:t>
            </a:r>
          </a:p>
        </p:txBody>
      </p:sp>
      <p:sp>
        <p:nvSpPr>
          <p:cNvPr id="4" name="text">
            <a:extLst>
              <a:ext uri="{FF2B5EF4-FFF2-40B4-BE49-F238E27FC236}">
                <a16:creationId xmlns:a16="http://schemas.microsoft.com/office/drawing/2014/main" id="{034A541B-CAF5-4DF9-B55A-597DA4513F0E}"/>
              </a:ext>
            </a:extLst>
          </p:cNvPr>
          <p:cNvSpPr>
            <a:spLocks noGrp="1"/>
          </p:cNvSpPr>
          <p:nvPr/>
        </p:nvSpPr>
        <p:spPr>
          <a:xfrm>
            <a:off x="4314825" y="2628900"/>
            <a:ext cx="3143250" cy="523875"/>
          </a:xfrm>
          <a:prstGeom prst="rect">
            <a:avLst/>
          </a:prstGeom>
          <a:noFill/>
          <a:ln w="0">
            <a:noFill/>
            <a:prstDash val="solid"/>
          </a:ln>
        </p:spPr>
        <p:txBody>
          <a:bodyPr anchor="t"/>
          <a:lstStyle/>
          <a:p>
            <a:pPr algn="l">
              <a:buNone/>
              <a:defRPr sz="1575" b="0">
                <a:solidFill>
                  <a:srgbClr val="56636B"/>
                </a:solidFill>
              </a:defRPr>
            </a:pPr>
            <a:r>
              <a:rPr sz="1575" b="0">
                <a:solidFill>
                  <a:srgbClr val="56636B"/>
                </a:solidFill>
              </a:rPr>
              <a:t>AORTIC CROSS-CLAMP</a:t>
            </a:r>
          </a:p>
        </p:txBody>
      </p:sp>
      <p:sp>
        <p:nvSpPr>
          <p:cNvPr id="5" name="text">
            <a:extLst>
              <a:ext uri="{FF2B5EF4-FFF2-40B4-BE49-F238E27FC236}">
                <a16:creationId xmlns:a16="http://schemas.microsoft.com/office/drawing/2014/main" id="{D6559AB8-25CE-480F-BDF4-8A520DDA6C73}"/>
              </a:ext>
            </a:extLst>
          </p:cNvPr>
          <p:cNvSpPr>
            <a:spLocks noGrp="1"/>
          </p:cNvSpPr>
          <p:nvPr/>
        </p:nvSpPr>
        <p:spPr>
          <a:xfrm>
            <a:off x="4314825" y="3219450"/>
            <a:ext cx="3143250" cy="1190625"/>
          </a:xfrm>
          <a:prstGeom prst="rect">
            <a:avLst/>
          </a:prstGeom>
          <a:noFill/>
          <a:ln w="0">
            <a:noFill/>
            <a:prstDash val="solid"/>
          </a:ln>
        </p:spPr>
        <p:txBody>
          <a:bodyPr anchor="t"/>
          <a:lstStyle/>
          <a:p>
            <a:pPr algn="l">
              <a:buNone/>
              <a:defRPr sz="4800" b="1">
                <a:solidFill>
                  <a:srgbClr val="A33B3B"/>
                </a:solidFill>
              </a:defRPr>
            </a:pPr>
            <a:r>
              <a:rPr sz="4800" b="1">
                <a:solidFill>
                  <a:srgbClr val="A33B3B"/>
                </a:solidFill>
              </a:rPr>
              <a:t>55 min</a:t>
            </a:r>
          </a:p>
        </p:txBody>
      </p:sp>
      <p:sp>
        <p:nvSpPr>
          <p:cNvPr id="6" name="text">
            <a:extLst>
              <a:ext uri="{FF2B5EF4-FFF2-40B4-BE49-F238E27FC236}">
                <a16:creationId xmlns:a16="http://schemas.microsoft.com/office/drawing/2014/main" id="{C163E3F3-4D77-4487-8772-6B5B4F1B13EB}"/>
              </a:ext>
            </a:extLst>
          </p:cNvPr>
          <p:cNvSpPr>
            <a:spLocks noGrp="1"/>
          </p:cNvSpPr>
          <p:nvPr/>
        </p:nvSpPr>
        <p:spPr>
          <a:xfrm>
            <a:off x="8172450" y="2628900"/>
            <a:ext cx="3143250" cy="523875"/>
          </a:xfrm>
          <a:prstGeom prst="rect">
            <a:avLst/>
          </a:prstGeom>
          <a:noFill/>
          <a:ln w="0">
            <a:noFill/>
            <a:prstDash val="solid"/>
          </a:ln>
        </p:spPr>
        <p:txBody>
          <a:bodyPr anchor="t"/>
          <a:lstStyle/>
          <a:p>
            <a:pPr algn="l">
              <a:buNone/>
              <a:defRPr sz="1575" b="0">
                <a:solidFill>
                  <a:srgbClr val="56636B"/>
                </a:solidFill>
              </a:defRPr>
            </a:pPr>
            <a:r>
              <a:rPr sz="1575" b="0">
                <a:solidFill>
                  <a:srgbClr val="56636B"/>
                </a:solidFill>
              </a:rPr>
              <a:t>CIRCULATORY ARREST</a:t>
            </a:r>
          </a:p>
        </p:txBody>
      </p:sp>
      <p:sp>
        <p:nvSpPr>
          <p:cNvPr id="7" name="text">
            <a:extLst>
              <a:ext uri="{FF2B5EF4-FFF2-40B4-BE49-F238E27FC236}">
                <a16:creationId xmlns:a16="http://schemas.microsoft.com/office/drawing/2014/main" id="{52A1513E-0489-4BDD-B3A8-83A8320744E6}"/>
              </a:ext>
            </a:extLst>
          </p:cNvPr>
          <p:cNvSpPr>
            <a:spLocks noGrp="1"/>
          </p:cNvSpPr>
          <p:nvPr/>
        </p:nvSpPr>
        <p:spPr>
          <a:xfrm>
            <a:off x="8172450" y="3219450"/>
            <a:ext cx="3143250" cy="1190625"/>
          </a:xfrm>
          <a:prstGeom prst="rect">
            <a:avLst/>
          </a:prstGeom>
          <a:noFill/>
          <a:ln w="0">
            <a:noFill/>
            <a:prstDash val="solid"/>
          </a:ln>
        </p:spPr>
        <p:txBody>
          <a:bodyPr anchor="t"/>
          <a:lstStyle/>
          <a:p>
            <a:pPr algn="l">
              <a:buNone/>
              <a:defRPr sz="4800" b="1">
                <a:solidFill>
                  <a:srgbClr val="A33B3B"/>
                </a:solidFill>
              </a:defRPr>
            </a:pPr>
            <a:r>
              <a:rPr lang="en-US" sz="4800" b="1" dirty="0">
                <a:solidFill>
                  <a:srgbClr val="A33B3B"/>
                </a:solidFill>
              </a:rPr>
              <a:t>12</a:t>
            </a:r>
            <a:r>
              <a:rPr sz="4800" b="1" dirty="0">
                <a:solidFill>
                  <a:srgbClr val="A33B3B"/>
                </a:solidFill>
              </a:rPr>
              <a:t> min</a:t>
            </a:r>
          </a:p>
        </p:txBody>
      </p:sp>
      <p:sp>
        <p:nvSpPr>
          <p:cNvPr id="8" name="Rectangle: Rounded Corners 7">
            <a:extLst>
              <a:ext uri="{FF2B5EF4-FFF2-40B4-BE49-F238E27FC236}">
                <a16:creationId xmlns:a16="http://schemas.microsoft.com/office/drawing/2014/main" id="{6375C70F-8BF5-4FA0-AED1-A13CD85E60DC}"/>
              </a:ext>
            </a:extLst>
          </p:cNvPr>
          <p:cNvSpPr>
            <a:spLocks noGrp="1"/>
          </p:cNvSpPr>
          <p:nvPr/>
        </p:nvSpPr>
        <p:spPr>
          <a:xfrm>
            <a:off x="457200" y="4810125"/>
            <a:ext cx="11277600" cy="1000125"/>
          </a:xfrm>
          <a:prstGeom prst="roundRect">
            <a:avLst>
              <a:gd name="adj" fmla="val 11429"/>
            </a:avLst>
          </a:prstGeom>
          <a:solidFill>
            <a:srgbClr val="EEF4F6"/>
          </a:solidFill>
          <a:ln w="0">
            <a:noFill/>
            <a:prstDash val="solid"/>
          </a:ln>
        </p:spPr>
        <p:txBody>
          <a:bodyPr/>
          <a:lstStyle/>
          <a:p>
            <a:endParaRPr lang="en-US"/>
          </a:p>
        </p:txBody>
      </p:sp>
      <p:sp>
        <p:nvSpPr>
          <p:cNvPr id="9" name="text">
            <a:extLst>
              <a:ext uri="{FF2B5EF4-FFF2-40B4-BE49-F238E27FC236}">
                <a16:creationId xmlns:a16="http://schemas.microsoft.com/office/drawing/2014/main" id="{22688A16-4B29-4AFA-866C-E6321AF35200}"/>
              </a:ext>
            </a:extLst>
          </p:cNvPr>
          <p:cNvSpPr>
            <a:spLocks noGrp="1"/>
          </p:cNvSpPr>
          <p:nvPr/>
        </p:nvSpPr>
        <p:spPr>
          <a:xfrm>
            <a:off x="723900" y="5038725"/>
            <a:ext cx="2095500" cy="285750"/>
          </a:xfrm>
          <a:prstGeom prst="rect">
            <a:avLst/>
          </a:prstGeom>
          <a:noFill/>
          <a:ln w="0">
            <a:noFill/>
            <a:prstDash val="solid"/>
          </a:ln>
        </p:spPr>
        <p:txBody>
          <a:bodyPr anchor="t"/>
          <a:lstStyle/>
          <a:p>
            <a:pPr algn="l">
              <a:buNone/>
              <a:defRPr sz="1575" b="1">
                <a:solidFill>
                  <a:srgbClr val="123047"/>
                </a:solidFill>
              </a:defRPr>
            </a:pPr>
            <a:r>
              <a:rPr sz="1575" b="1">
                <a:solidFill>
                  <a:srgbClr val="123047"/>
                </a:solidFill>
              </a:rPr>
              <a:t>Key perfusion lesson</a:t>
            </a:r>
          </a:p>
        </p:txBody>
      </p:sp>
      <p:sp>
        <p:nvSpPr>
          <p:cNvPr id="10" name="text">
            <a:extLst>
              <a:ext uri="{FF2B5EF4-FFF2-40B4-BE49-F238E27FC236}">
                <a16:creationId xmlns:a16="http://schemas.microsoft.com/office/drawing/2014/main" id="{430BBCDF-2BD4-4200-8BB7-254A7248EEB4}"/>
              </a:ext>
            </a:extLst>
          </p:cNvPr>
          <p:cNvSpPr>
            <a:spLocks noGrp="1"/>
          </p:cNvSpPr>
          <p:nvPr/>
        </p:nvSpPr>
        <p:spPr>
          <a:xfrm>
            <a:off x="3000375" y="4981575"/>
            <a:ext cx="8191500" cy="590550"/>
          </a:xfrm>
          <a:prstGeom prst="rect">
            <a:avLst/>
          </a:prstGeom>
          <a:noFill/>
          <a:ln w="0">
            <a:noFill/>
            <a:prstDash val="solid"/>
          </a:ln>
        </p:spPr>
        <p:txBody>
          <a:bodyPr anchor="t"/>
          <a:lstStyle/>
          <a:p>
            <a:pPr algn="l">
              <a:buNone/>
              <a:defRPr sz="1650" b="0">
                <a:solidFill>
                  <a:srgbClr val="172026"/>
                </a:solidFill>
              </a:defRPr>
            </a:pPr>
            <a:r>
              <a:rPr sz="1650" b="0">
                <a:solidFill>
                  <a:srgbClr val="172026"/>
                </a:solidFill>
              </a:rPr>
              <a:t>Peripheral cannulation before incision created a margin for controlled cooling, while axillary access preserved an antegrade cerebral route during open aortic work.</a:t>
            </a:r>
          </a:p>
        </p:txBody>
      </p:sp>
      <p:sp>
        <p:nvSpPr>
          <p:cNvPr id="11" name="source">
            <a:extLst>
              <a:ext uri="{FF2B5EF4-FFF2-40B4-BE49-F238E27FC236}">
                <a16:creationId xmlns:a16="http://schemas.microsoft.com/office/drawing/2014/main" id="{77D59B76-FBD1-497D-811E-1BDEA8E03028}"/>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2" name="slide-number">
            <a:extLst>
              <a:ext uri="{FF2B5EF4-FFF2-40B4-BE49-F238E27FC236}">
                <a16:creationId xmlns:a16="http://schemas.microsoft.com/office/drawing/2014/main" id="{D2884EF4-0C53-4419-883D-F605E09FDA98}"/>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13</a:t>
            </a:r>
          </a:p>
        </p:txBody>
      </p:sp>
    </p:spTree>
    <p:extLst>
      <p:ext uri="{BB962C8B-B14F-4D97-AF65-F5344CB8AC3E}">
        <p14:creationId xmlns:p14="http://schemas.microsoft.com/office/powerpoint/2010/main" val="443341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A476B5-C057-F651-D265-ED216073E37B}"/>
              </a:ext>
            </a:extLst>
          </p:cNvPr>
          <p:cNvSpPr txBox="1"/>
          <p:nvPr/>
        </p:nvSpPr>
        <p:spPr>
          <a:xfrm>
            <a:off x="806246" y="599769"/>
            <a:ext cx="9989574" cy="5909310"/>
          </a:xfrm>
          <a:prstGeom prst="rect">
            <a:avLst/>
          </a:prstGeom>
          <a:noFill/>
        </p:spPr>
        <p:txBody>
          <a:bodyPr wrap="square" rtlCol="0">
            <a:spAutoFit/>
          </a:bodyPr>
          <a:lstStyle/>
          <a:p>
            <a:r>
              <a:rPr lang="en-US" dirty="0"/>
              <a:t>References:</a:t>
            </a:r>
          </a:p>
          <a:p>
            <a:endParaRPr lang="en-US" dirty="0"/>
          </a:p>
          <a:p>
            <a:pPr indent="-914400">
              <a:lnSpc>
                <a:spcPct val="150000"/>
              </a:lnSpc>
            </a:pPr>
            <a:r>
              <a:rPr lang="en-US" dirty="0"/>
              <a:t>Isselbacher, E. M., </a:t>
            </a:r>
            <a:r>
              <a:rPr lang="en-US" dirty="0" err="1"/>
              <a:t>Preventza</a:t>
            </a:r>
            <a:r>
              <a:rPr lang="en-US" dirty="0"/>
              <a:t>, O., Black, J. H., III, et al. (2022). 2022 ACC/AHA guideline for the diagnosis and management of aortic disease. *Journal of the American College of Cardiology, 80*(24), e223–e393. </a:t>
            </a:r>
            <a:r>
              <a:rPr lang="en-US" dirty="0">
                <a:hlinkClick r:id="rId2"/>
              </a:rPr>
              <a:t>https://doi.org/10.1016/j.jacc.2022.08.004</a:t>
            </a:r>
            <a:r>
              <a:rPr lang="en-US" dirty="0"/>
              <a:t> </a:t>
            </a:r>
          </a:p>
          <a:p>
            <a:pPr indent="-914400">
              <a:lnSpc>
                <a:spcPct val="150000"/>
              </a:lnSpc>
            </a:pPr>
            <a:endParaRPr lang="en-US" dirty="0"/>
          </a:p>
          <a:p>
            <a:pPr indent="-914400">
              <a:lnSpc>
                <a:spcPct val="150000"/>
              </a:lnSpc>
            </a:pPr>
            <a:r>
              <a:rPr lang="en-US" dirty="0"/>
              <a:t>Vahanian, A., Beyersdorf, F., </a:t>
            </a:r>
            <a:r>
              <a:rPr lang="en-US" dirty="0" err="1"/>
              <a:t>Praz</a:t>
            </a:r>
            <a:r>
              <a:rPr lang="en-US" dirty="0"/>
              <a:t>, F., et al. (2022). 2021 ESC/EACTS guidelines for the management of valvular heart disease. *European Heart Journal, 43*(7), 561–632. </a:t>
            </a:r>
            <a:r>
              <a:rPr lang="en-US" dirty="0">
                <a:hlinkClick r:id="rId3"/>
              </a:rPr>
              <a:t>https://doi.org/10.1093/eurheartj/ehab395</a:t>
            </a:r>
            <a:r>
              <a:rPr lang="en-US" dirty="0"/>
              <a:t> </a:t>
            </a:r>
          </a:p>
          <a:p>
            <a:pPr indent="-914400">
              <a:lnSpc>
                <a:spcPct val="150000"/>
              </a:lnSpc>
            </a:pPr>
            <a:endParaRPr lang="en-US" dirty="0"/>
          </a:p>
          <a:p>
            <a:pPr indent="-914400">
              <a:lnSpc>
                <a:spcPct val="150000"/>
              </a:lnSpc>
            </a:pPr>
            <a:r>
              <a:rPr lang="en-US" dirty="0"/>
              <a:t>Wahba, A., Kunst, G., De Somer, F., et al. (2025). 2024 EACTS/EACTAIC/EBCP guidelines on cardiopulmonary bypass in adult cardiac surgery. *European Journal of Cardio-Thoracic Surgery, 67*(2), ezae354. </a:t>
            </a:r>
            <a:r>
              <a:rPr lang="en-US" dirty="0">
                <a:hlinkClick r:id="rId4"/>
              </a:rPr>
              <a:t>https://doi.org/10.1093/ejcts/ezae354</a:t>
            </a:r>
            <a:r>
              <a:rPr lang="en-US" dirty="0"/>
              <a:t> </a:t>
            </a:r>
          </a:p>
          <a:p>
            <a:pPr>
              <a:lnSpc>
                <a:spcPct val="150000"/>
              </a:lnSpc>
            </a:pPr>
            <a:endParaRPr lang="en-US" dirty="0"/>
          </a:p>
          <a:p>
            <a:endParaRPr lang="en-US" dirty="0"/>
          </a:p>
        </p:txBody>
      </p:sp>
    </p:spTree>
    <p:extLst>
      <p:ext uri="{BB962C8B-B14F-4D97-AF65-F5344CB8AC3E}">
        <p14:creationId xmlns:p14="http://schemas.microsoft.com/office/powerpoint/2010/main" val="28215567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TotalTime>
  <Words>1123</Words>
  <Application>Microsoft Office PowerPoint</Application>
  <DocSecurity>0</DocSecurity>
  <PresentationFormat>Widescreen</PresentationFormat>
  <Paragraphs>127</Paragraphs>
  <Slides>14</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Lias, Sydney</cp:lastModifiedBy>
  <cp:revision>32</cp:revision>
  <dcterms:created xsi:type="dcterms:W3CDTF">2026-07-21T23:46:02Z</dcterms:created>
  <dcterms:modified xsi:type="dcterms:W3CDTF">2026-07-23T03:43:23Z</dcterms:modified>
</cp:coreProperties>
</file>