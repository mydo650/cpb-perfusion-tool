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605021a76a4f44" /><Relationship Type="http://schemas.openxmlformats.org/officeDocument/2006/relationships/extended-properties" Target="/docProps/app.xml" Id="R28592f48dee8417a" /><Relationship Type="http://schemas.openxmlformats.org/officeDocument/2006/relationships/officeDocument" Target="/ppt/presentation.xml" Id="R693f3c39f24a4132" /></Relationships>
</file>

<file path=ppt/presentation.xml><?xml version="1.0" encoding="utf-8"?>
<p:presentation xmlns:p="http://schemas.openxmlformats.org/presentationml/2006/main">
  <p:sldMasterIdLst>
    <p:sldMasterId xmlns:r="http://schemas.openxmlformats.org/officeDocument/2006/relationships" id="2147483648" r:id="Rb71ca23bb5ff4677"/>
  </p:sldMasterIdLst>
  <p:notesMasterIdLst>
    <p:notesMasterId xmlns:r="http://schemas.openxmlformats.org/officeDocument/2006/relationships" r:id="Ra114dfa19fde4f63"/>
  </p:notesMasterIdLst>
  <p:sldIdLst>
    <p:sldId xmlns:r="http://schemas.openxmlformats.org/officeDocument/2006/relationships" id="256" r:id="Rf072760ebc1042bb"/>
    <p:sldId xmlns:r="http://schemas.openxmlformats.org/officeDocument/2006/relationships" id="257" r:id="R2bcb1ab6eb7b4407"/>
    <p:sldId xmlns:r="http://schemas.openxmlformats.org/officeDocument/2006/relationships" id="258" r:id="R0191893a863d4222"/>
    <p:sldId xmlns:r="http://schemas.openxmlformats.org/officeDocument/2006/relationships" id="259" r:id="R41fc9acd63ea41de"/>
    <p:sldId xmlns:r="http://schemas.openxmlformats.org/officeDocument/2006/relationships" id="260" r:id="R0af818a1958b4373"/>
    <p:sldId xmlns:r="http://schemas.openxmlformats.org/officeDocument/2006/relationships" id="261" r:id="R93b0f6da35fc46a9"/>
    <p:sldId xmlns:r="http://schemas.openxmlformats.org/officeDocument/2006/relationships" id="262" r:id="Rae558cbd29e04db1"/>
    <p:sldId xmlns:r="http://schemas.openxmlformats.org/officeDocument/2006/relationships" id="263" r:id="Re81eb0ee979a40ab"/>
    <p:sldId xmlns:r="http://schemas.openxmlformats.org/officeDocument/2006/relationships" id="264" r:id="R4bc829526fc04855"/>
    <p:sldId xmlns:r="http://schemas.openxmlformats.org/officeDocument/2006/relationships" id="265" r:id="R470039f3e65b44df"/>
    <p:sldId xmlns:r="http://schemas.openxmlformats.org/officeDocument/2006/relationships" id="266" r:id="Red14401294ed48f0"/>
    <p:sldId xmlns:r="http://schemas.openxmlformats.org/officeDocument/2006/relationships" id="267" r:id="R6430a99e03a64e57"/>
    <p:sldId xmlns:r="http://schemas.openxmlformats.org/officeDocument/2006/relationships" id="268" r:id="R5a320b2c74fa4b2f"/>
    <p:sldId xmlns:r="http://schemas.openxmlformats.org/officeDocument/2006/relationships" id="269" r:id="Rbb3ffe51ce44472d"/>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34ad1bbca84798" /><Relationship Type="http://schemas.openxmlformats.org/officeDocument/2006/relationships/slideMaster" Target="/ppt/slideMasters/slideMaster1.xml" Id="Rb71ca23bb5ff4677" /><Relationship Type="http://schemas.openxmlformats.org/officeDocument/2006/relationships/notesMaster" Target="/ppt/notesMasters/notesMaster1.xml" Id="Ra114dfa19fde4f63" /><Relationship Type="http://schemas.openxmlformats.org/officeDocument/2006/relationships/presProps" Target="/ppt/presProps.xml" Id="R3baee3e9df0b4af9" /><Relationship Type="http://schemas.openxmlformats.org/officeDocument/2006/relationships/tableStyles" Target="/ppt/tableStyles.xml" Id="R956f39c80d344e37" /><Relationship Type="http://schemas.openxmlformats.org/officeDocument/2006/relationships/slide" Target="/ppt/slides/slide1.xml" Id="Rf072760ebc1042bb" /><Relationship Type="http://schemas.openxmlformats.org/officeDocument/2006/relationships/slide" Target="/ppt/slides/slide2.xml" Id="R2bcb1ab6eb7b4407" /><Relationship Type="http://schemas.openxmlformats.org/officeDocument/2006/relationships/slide" Target="/ppt/slides/slide3.xml" Id="R0191893a863d4222" /><Relationship Type="http://schemas.openxmlformats.org/officeDocument/2006/relationships/slide" Target="/ppt/slides/slide4.xml" Id="R41fc9acd63ea41de" /><Relationship Type="http://schemas.openxmlformats.org/officeDocument/2006/relationships/slide" Target="/ppt/slides/slide5.xml" Id="R0af818a1958b4373" /><Relationship Type="http://schemas.openxmlformats.org/officeDocument/2006/relationships/slide" Target="/ppt/slides/slide6.xml" Id="R93b0f6da35fc46a9" /><Relationship Type="http://schemas.openxmlformats.org/officeDocument/2006/relationships/slide" Target="/ppt/slides/slide7.xml" Id="Rae558cbd29e04db1" /><Relationship Type="http://schemas.openxmlformats.org/officeDocument/2006/relationships/slide" Target="/ppt/slides/slide8.xml" Id="Re81eb0ee979a40ab" /><Relationship Type="http://schemas.openxmlformats.org/officeDocument/2006/relationships/slide" Target="/ppt/slides/slide9.xml" Id="R4bc829526fc04855" /><Relationship Type="http://schemas.openxmlformats.org/officeDocument/2006/relationships/slide" Target="/ppt/slides/slide10.xml" Id="R470039f3e65b44df" /><Relationship Type="http://schemas.openxmlformats.org/officeDocument/2006/relationships/slide" Target="/ppt/slides/slide11.xml" Id="Red14401294ed48f0" /><Relationship Type="http://schemas.openxmlformats.org/officeDocument/2006/relationships/slide" Target="/ppt/slides/slide12.xml" Id="R6430a99e03a64e57" /><Relationship Type="http://schemas.openxmlformats.org/officeDocument/2006/relationships/slide" Target="/ppt/slides/slide13.xml" Id="R5a320b2c74fa4b2f" /><Relationship Type="http://schemas.openxmlformats.org/officeDocument/2006/relationships/slide" Target="/ppt/slides/slide14.xml" Id="Rbb3ffe51ce4447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9f731c2eea47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e4117e6d6e4b24" /><Relationship Type="http://schemas.openxmlformats.org/officeDocument/2006/relationships/notesMaster" Target="/ppt/notesMasters/notesMaster1.xml" Id="R9ae2eeae7b3347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91ca271aa94b7d" /><Relationship Type="http://schemas.openxmlformats.org/officeDocument/2006/relationships/notesMaster" Target="/ppt/notesMasters/notesMaster1.xml" Id="Rbff2fbad1c1c44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a38849d40d4f68" /><Relationship Type="http://schemas.openxmlformats.org/officeDocument/2006/relationships/notesMaster" Target="/ppt/notesMasters/notesMaster1.xml" Id="R27bc550fbeeb45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5a1eb9ca0c4410" /><Relationship Type="http://schemas.openxmlformats.org/officeDocument/2006/relationships/notesMaster" Target="/ppt/notesMasters/notesMaster1.xml" Id="Rf27d86fa958a43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080a04843c4080" /><Relationship Type="http://schemas.openxmlformats.org/officeDocument/2006/relationships/notesMaster" Target="/ppt/notesMasters/notesMaster1.xml" Id="R04f7c8d8333241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9a0f3c1a824dd8" /><Relationship Type="http://schemas.openxmlformats.org/officeDocument/2006/relationships/notesMaster" Target="/ppt/notesMasters/notesMaster1.xml" Id="Re976093ec3634e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d7c82e5e454ff2" /><Relationship Type="http://schemas.openxmlformats.org/officeDocument/2006/relationships/notesMaster" Target="/ppt/notesMasters/notesMaster1.xml" Id="R61b47fc4139549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8607aa529b45a7" /><Relationship Type="http://schemas.openxmlformats.org/officeDocument/2006/relationships/notesMaster" Target="/ppt/notesMasters/notesMaster1.xml" Id="Rfc2a06c5692d4027"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d99db2a58247aa" /><Relationship Type="http://schemas.openxmlformats.org/officeDocument/2006/relationships/notesMaster" Target="/ppt/notesMasters/notesMaster1.xml" Id="R19836002ccda49b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c3a799d1208440d" /><Relationship Type="http://schemas.openxmlformats.org/officeDocument/2006/relationships/notesMaster" Target="/ppt/notesMasters/notesMaster1.xml" Id="R515f678e6ce34fe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776ab5e99a4acc" /><Relationship Type="http://schemas.openxmlformats.org/officeDocument/2006/relationships/notesMaster" Target="/ppt/notesMasters/notesMaster1.xml" Id="R8f065a75d88e42f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e15e9e68734629" /><Relationship Type="http://schemas.openxmlformats.org/officeDocument/2006/relationships/notesMaster" Target="/ppt/notesMasters/notesMaster1.xml" Id="Re03422117a1c4f7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2e96fe9d7354772" /><Relationship Type="http://schemas.openxmlformats.org/officeDocument/2006/relationships/notesMaster" Target="/ppt/notesMasters/notesMaster1.xml" Id="R4b955ef2716c43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b70ad870ba34f32" /><Relationship Type="http://schemas.openxmlformats.org/officeDocument/2006/relationships/notesMaster" Target="/ppt/notesMasters/notesMaster1.xml" Id="Rf489cf03f10d49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08da91974c4e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11b9fba504454e" /><Relationship Type="http://schemas.openxmlformats.org/officeDocument/2006/relationships/slideLayout" Target="/ppt/slideLayouts/slideLayout1.xml" Id="R95c8baf7ea3243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c8baf7ea3243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ae602d842de4715" /><Relationship Type="http://schemas.openxmlformats.org/officeDocument/2006/relationships/notesSlide" Target="/ppt/notesSlides/notesSlide1.xml" Id="R42dbb4a23d8d46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afebcfef99f43d5" /><Relationship Type="http://schemas.openxmlformats.org/officeDocument/2006/relationships/notesSlide" Target="/ppt/notesSlides/notesSlide2.xml" Id="R5faa8b77300b47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e685f9cd779499a" /><Relationship Type="http://schemas.openxmlformats.org/officeDocument/2006/relationships/notesSlide" Target="/ppt/notesSlides/notesSlide3.xml" Id="R0baa4f9d18df49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43ec05285164678" /><Relationship Type="http://schemas.openxmlformats.org/officeDocument/2006/relationships/notesSlide" Target="/ppt/notesSlides/notesSlide4.xml" Id="R66e0425186024c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4b5a0a86fc14e31" /><Relationship Type="http://schemas.openxmlformats.org/officeDocument/2006/relationships/notesSlide" Target="/ppt/notesSlides/notesSlide5.xml" Id="Re9044bfb71f94b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a981133a2974e1f" /><Relationship Type="http://schemas.openxmlformats.org/officeDocument/2006/relationships/notesSlide" Target="/ppt/notesSlides/notesSlide6.xml" Id="Recc80191457c4db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2f66362048b4640" /><Relationship Type="http://schemas.openxmlformats.org/officeDocument/2006/relationships/notesSlide" Target="/ppt/notesSlides/notesSlide7.xml" Id="R91184cd9bf9744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67991b6fb5049d6" /><Relationship Type="http://schemas.openxmlformats.org/officeDocument/2006/relationships/notesSlide" Target="/ppt/notesSlides/notesSlide8.xml" Id="R4fdae48ea22a41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792b76b25784bc1" /><Relationship Type="http://schemas.openxmlformats.org/officeDocument/2006/relationships/notesSlide" Target="/ppt/notesSlides/notesSlide9.xml" Id="R511e4645eca140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2d23b24d53a42fc" /><Relationship Type="http://schemas.openxmlformats.org/officeDocument/2006/relationships/notesSlide" Target="/ppt/notesSlides/notesSlide10.xml" Id="R078255ac02ca458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8f684632a804b1b" /><Relationship Type="http://schemas.openxmlformats.org/officeDocument/2006/relationships/notesSlide" Target="/ppt/notesSlides/notesSlide11.xml" Id="Rc6bb7b73b15043a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38def82b8f74512" /><Relationship Type="http://schemas.openxmlformats.org/officeDocument/2006/relationships/notesSlide" Target="/ppt/notesSlides/notesSlide12.xml" Id="Ra78f0280cc3a4c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760c258268445c3" /><Relationship Type="http://schemas.openxmlformats.org/officeDocument/2006/relationships/notesSlide" Target="/ppt/notesSlides/notesSlide13.xml" Id="R6371f853fc6149b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7b72e68c6174a0b" /><Relationship Type="http://schemas.openxmlformats.org/officeDocument/2006/relationships/notesSlide" Target="/ppt/notesSlides/notesSlide14.xml" Id="R45ef45b853374daa" /></Relationships>
</file>

<file path=ppt/slides/slide1.xml><?xml version="1.0" encoding="utf-8"?>
<p:sld xmlns:p="http://schemas.openxmlformats.org/presentationml/2006/main">
  <p:cSld>
    <p:bg>
      <p:bgPr>
        <a:solidFill xmlns:a="http://schemas.openxmlformats.org/drawingml/2006/main">
          <a:srgbClr val="123047"/>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6AB70579-B679-4A9A-9EB0-6294AD4205A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A33B3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text">
            <a:extLst xmlns:a="http://schemas.openxmlformats.org/drawingml/2006/main">
              <a:ext uri="{FF2B5EF4-FFF2-40B4-BE49-F238E27FC236}">
                <a16:creationId xmlns:a16="http://schemas.microsoft.com/office/drawing/2014/main" id="{05B1AC29-4834-4542-B34D-DFDB5284E368}"/>
              </a:ext>
            </a:extLst>
          </p:cNvPr>
          <p:cNvSpPr>
            <a:spLocks xmlns:a="http://schemas.openxmlformats.org/drawingml/2006/main" noGrp="1"/>
          </p:cNvSpPr>
          <p:nvPr/>
        </p:nvSpPr>
        <p:spPr>
          <a:xfrm xmlns:a="http://schemas.openxmlformats.org/drawingml/2006/main">
            <a:off x="952500" y="431390"/>
            <a:ext cx="10287000" cy="21403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4050" b="1">
                <a:solidFill>
                  <a:srgbClr val="FFFFFF"/>
                </a:solidFill>
              </a:defRPr>
            </a:pPr>
            <a:r>
              <a:rPr sz="4200" b="1">
                <a:solidFill>
                  <a:srgbClr val="FFFFFF"/>
                </a:solidFill>
              </a:rPr>
              <a:t>AVR with </a:t>
            </a:r>
            <a:r>
              <a:rPr sz="4200" b="1">
                <a:solidFill>
                  <a:srgbClr val="FFFFFF"/>
                </a:solidFill>
              </a:rPr>
              <a:t>A</a:t>
            </a:r>
            <a:r>
              <a:rPr sz="4200" b="1">
                <a:solidFill>
                  <a:srgbClr val="FFFFFF"/>
                </a:solidFill>
              </a:rPr>
              <a:t>scending </a:t>
            </a:r>
            <a:r>
              <a:rPr sz="4200" b="1">
                <a:solidFill>
                  <a:srgbClr val="FFFFFF"/>
                </a:solidFill>
              </a:rPr>
              <a:t>A</a:t>
            </a:r>
            <a:r>
              <a:rPr sz="4200" b="1">
                <a:solidFill>
                  <a:srgbClr val="FFFFFF"/>
                </a:solidFill>
              </a:rPr>
              <a:t>ortic </a:t>
            </a:r>
            <a:r>
              <a:rPr sz="4200" b="1">
                <a:solidFill>
                  <a:srgbClr val="FFFFFF"/>
                </a:solidFill>
              </a:rPr>
              <a:t>and Arch R</a:t>
            </a:r>
            <a:r>
              <a:rPr sz="4200" b="1">
                <a:solidFill>
                  <a:srgbClr val="FFFFFF"/>
                </a:solidFill>
              </a:rPr>
              <a:t>eplacement</a:t>
            </a:r>
            <a:r>
              <a:rPr sz="4200" b="1">
                <a:solidFill>
                  <a:srgbClr val="FFFFFF"/>
                </a:solidFill>
              </a:rPr>
              <a:t> under Circulatory Arrest</a:t>
            </a:r>
          </a:p>
        </p:txBody>
      </p:sp>
      <p:sp>
        <p:nvSpPr>
          <p:cNvPr id="4" name="text">
            <a:extLst xmlns:a="http://schemas.openxmlformats.org/drawingml/2006/main">
              <a:ext uri="{FF2B5EF4-FFF2-40B4-BE49-F238E27FC236}">
                <a16:creationId xmlns:a16="http://schemas.microsoft.com/office/drawing/2014/main" id="{C8B78A7E-0EF6-4513-AE83-0F86457B1527}"/>
              </a:ext>
            </a:extLst>
          </p:cNvPr>
          <p:cNvSpPr>
            <a:spLocks xmlns:a="http://schemas.openxmlformats.org/drawingml/2006/main" noGrp="1"/>
          </p:cNvSpPr>
          <p:nvPr/>
        </p:nvSpPr>
        <p:spPr>
          <a:xfrm xmlns:a="http://schemas.openxmlformats.org/drawingml/2006/main">
            <a:off x="1120877" y="2571750"/>
            <a:ext cx="9334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950" b="0">
                <a:solidFill>
                  <a:srgbClr val="D8E8EE"/>
                </a:solidFill>
              </a:defRPr>
            </a:pPr>
            <a:r>
              <a:rPr sz="1950">
                <a:solidFill>
                  <a:srgbClr val="D8E8EE"/>
                </a:solidFill>
              </a:rPr>
              <a:t>Sydney Lias</a:t>
            </a:r>
          </a:p>
          <a:p xmlns:a="http://schemas.openxmlformats.org/drawingml/2006/main">
            <a:pPr algn="ctr">
              <a:buNone/>
              <a:defRPr sz="1950" b="0">
                <a:solidFill>
                  <a:srgbClr val="D8E8EE"/>
                </a:solidFill>
              </a:defRPr>
            </a:pPr>
            <a:r>
              <a:rPr sz="1950">
                <a:solidFill>
                  <a:srgbClr val="D8E8EE"/>
                </a:solidFill>
              </a:rPr>
              <a:t>CVP 611 Clinical Applications II</a:t>
            </a:r>
          </a:p>
          <a:p xmlns:a="http://schemas.openxmlformats.org/drawingml/2006/main">
            <a:pPr algn="ctr">
              <a:buNone/>
              <a:defRPr sz="1950" b="0">
                <a:solidFill>
                  <a:srgbClr val="D8E8EE"/>
                </a:solidFill>
              </a:defRPr>
            </a:pPr>
            <a:r>
              <a:rPr sz="1950" b="0">
                <a:solidFill>
                  <a:srgbClr val="D8E8EE"/>
                </a:solidFill>
              </a:rPr>
              <a:t>7/15/2026</a:t>
            </a:r>
          </a:p>
        </p:txBody>
      </p:sp>
    </p:spTree>
    <p:extLst>
      <p:ext uri="{BB962C8B-B14F-4D97-AF65-F5344CB8AC3E}">
        <p14:creationId xmlns:p14="http://schemas.microsoft.com/office/powerpoint/2010/main" val="9421129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8E734D0D-EF3C-47D2-9545-282AB1A8BF57}"/>
              </a:ext>
            </a:extLst>
          </p:cNvPr>
          <p:cNvSpPr>
            <a:spLocks xmlns:a="http://schemas.openxmlformats.org/drawingml/2006/main" noGrp="1"/>
          </p:cNvSpPr>
          <p:nvPr/>
        </p:nvSpPr>
        <p:spPr>
          <a:xfrm xmlns:a="http://schemas.openxmlformats.org/drawingml/2006/main">
            <a:off x="457200" y="323850"/>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850" b="1">
                <a:solidFill>
                  <a:srgbClr val="123047"/>
                </a:solidFill>
              </a:defRPr>
            </a:pPr>
            <a:r>
              <a:rPr sz="4000" b="1">
                <a:solidFill>
                  <a:srgbClr val="123047"/>
                </a:solidFill>
              </a:rPr>
              <a:t>Abstract</a:t>
            </a:r>
          </a:p>
        </p:txBody>
      </p:sp>
      <p:sp>
        <p:nvSpPr>
          <p:cNvPr id="3" name="Rectangle: Rounded Corners 2">
            <a:extLst xmlns:a="http://schemas.openxmlformats.org/drawingml/2006/main">
              <a:ext uri="{FF2B5EF4-FFF2-40B4-BE49-F238E27FC236}">
                <a16:creationId xmlns:a16="http://schemas.microsoft.com/office/drawing/2014/main" id="{95940E04-3210-44A4-B83E-60D78ABC5C8F}"/>
              </a:ext>
            </a:extLst>
          </p:cNvPr>
          <p:cNvSpPr>
            <a:spLocks xmlns:a="http://schemas.openxmlformats.org/drawingml/2006/main" noGrp="1"/>
          </p:cNvSpPr>
          <p:nvPr/>
        </p:nvSpPr>
        <p:spPr>
          <a:xfrm xmlns:a="http://schemas.openxmlformats.org/drawingml/2006/main">
            <a:off x="457200" y="1638300"/>
            <a:ext cx="5334000" cy="4000500"/>
          </a:xfrm>
          <a:prstGeom xmlns:a="http://schemas.openxmlformats.org/drawingml/2006/main" prst="roundRect">
            <a:avLst>
              <a:gd name="adj" fmla="val 2857"/>
            </a:avLst>
          </a:prstGeom>
          <a:solidFill xmlns:a="http://schemas.openxmlformats.org/drawingml/2006/main">
            <a:srgbClr val="EEF4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 name="text">
            <a:extLst xmlns:a="http://schemas.openxmlformats.org/drawingml/2006/main">
              <a:ext uri="{FF2B5EF4-FFF2-40B4-BE49-F238E27FC236}">
                <a16:creationId xmlns:a16="http://schemas.microsoft.com/office/drawing/2014/main" id="{E4DF1871-A806-409E-ACC1-69E866EEFCA8}"/>
              </a:ext>
            </a:extLst>
          </p:cNvPr>
          <p:cNvSpPr>
            <a:spLocks xmlns:a="http://schemas.openxmlformats.org/drawingml/2006/main" noGrp="1"/>
          </p:cNvSpPr>
          <p:nvPr/>
        </p:nvSpPr>
        <p:spPr>
          <a:xfrm xmlns:a="http://schemas.openxmlformats.org/drawingml/2006/main">
            <a:off x="742950" y="19526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A33B3B"/>
                </a:solidFill>
              </a:defRPr>
            </a:pPr>
            <a:r>
              <a:rPr sz="1800" b="1">
                <a:solidFill>
                  <a:srgbClr val="A33B3B"/>
                </a:solidFill>
              </a:rPr>
              <a:t>Case</a:t>
            </a:r>
          </a:p>
        </p:txBody>
      </p:sp>
      <p:sp>
        <p:nvSpPr>
          <p:cNvPr id="5" name="text">
            <a:extLst xmlns:a="http://schemas.openxmlformats.org/drawingml/2006/main">
              <a:ext uri="{FF2B5EF4-FFF2-40B4-BE49-F238E27FC236}">
                <a16:creationId xmlns:a16="http://schemas.microsoft.com/office/drawing/2014/main" id="{6D95EC93-4FA8-41ED-AC8A-A9B4538D209C}"/>
              </a:ext>
            </a:extLst>
          </p:cNvPr>
          <p:cNvSpPr>
            <a:spLocks xmlns:a="http://schemas.openxmlformats.org/drawingml/2006/main" noGrp="1"/>
          </p:cNvSpPr>
          <p:nvPr/>
        </p:nvSpPr>
        <p:spPr>
          <a:xfrm xmlns:a="http://schemas.openxmlformats.org/drawingml/2006/main">
            <a:off x="742950" y="2419350"/>
            <a:ext cx="4572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172026"/>
                </a:solidFill>
              </a:defRPr>
            </a:pPr>
            <a:r>
              <a:rPr sz="1800" b="0">
                <a:solidFill>
                  <a:srgbClr val="172026"/>
                </a:solidFill>
              </a:rPr>
              <a:t>Combined mechanical aortic valve replacement, ascending aortic grafting and subaortic membrane resection. Femoral and axillary cannulation enabled CPB cooling to 28 °C before the chest incision.</a:t>
            </a:r>
          </a:p>
        </p:txBody>
      </p:sp>
      <p:sp>
        <p:nvSpPr>
          <p:cNvPr id="6" name="Rectangle: Rounded Corners 5">
            <a:extLst xmlns:a="http://schemas.openxmlformats.org/drawingml/2006/main">
              <a:ext uri="{FF2B5EF4-FFF2-40B4-BE49-F238E27FC236}">
                <a16:creationId xmlns:a16="http://schemas.microsoft.com/office/drawing/2014/main" id="{AFC2E4B8-04FD-4C17-999E-B5F53D457EA4}"/>
              </a:ext>
            </a:extLst>
          </p:cNvPr>
          <p:cNvSpPr>
            <a:spLocks xmlns:a="http://schemas.openxmlformats.org/drawingml/2006/main" noGrp="1"/>
          </p:cNvSpPr>
          <p:nvPr/>
        </p:nvSpPr>
        <p:spPr>
          <a:xfrm xmlns:a="http://schemas.openxmlformats.org/drawingml/2006/main">
            <a:off x="5848350" y="1628775"/>
            <a:ext cx="5600700" cy="4000500"/>
          </a:xfrm>
          <a:prstGeom xmlns:a="http://schemas.openxmlformats.org/drawingml/2006/main" prst="roundRect">
            <a:avLst>
              <a:gd name="adj" fmla="val 2857"/>
            </a:avLst>
          </a:prstGeom>
          <a:solidFill xmlns:a="http://schemas.openxmlformats.org/drawingml/2006/main">
            <a:srgbClr val="F7F3E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 name="text">
            <a:extLst xmlns:a="http://schemas.openxmlformats.org/drawingml/2006/main">
              <a:ext uri="{FF2B5EF4-FFF2-40B4-BE49-F238E27FC236}">
                <a16:creationId xmlns:a16="http://schemas.microsoft.com/office/drawing/2014/main" id="{F46A4855-317E-4D8E-823C-60D6B5B56950}"/>
              </a:ext>
            </a:extLst>
          </p:cNvPr>
          <p:cNvSpPr>
            <a:spLocks xmlns:a="http://schemas.openxmlformats.org/drawingml/2006/main" noGrp="1"/>
          </p:cNvSpPr>
          <p:nvPr/>
        </p:nvSpPr>
        <p:spPr>
          <a:xfrm xmlns:a="http://schemas.openxmlformats.org/drawingml/2006/main">
            <a:off x="6438900" y="19526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C69C4B"/>
                </a:solidFill>
              </a:defRPr>
            </a:pPr>
            <a:r>
              <a:rPr sz="1800" b="1">
                <a:solidFill>
                  <a:srgbClr val="C69C4B"/>
                </a:solidFill>
              </a:rPr>
              <a:t>Result</a:t>
            </a:r>
          </a:p>
        </p:txBody>
      </p:sp>
      <p:sp>
        <p:nvSpPr>
          <p:cNvPr id="8" name="text">
            <a:extLst xmlns:a="http://schemas.openxmlformats.org/drawingml/2006/main">
              <a:ext uri="{FF2B5EF4-FFF2-40B4-BE49-F238E27FC236}">
                <a16:creationId xmlns:a16="http://schemas.microsoft.com/office/drawing/2014/main" id="{C191845F-253F-498B-B07B-694047F0512A}"/>
              </a:ext>
            </a:extLst>
          </p:cNvPr>
          <p:cNvSpPr>
            <a:spLocks xmlns:a="http://schemas.openxmlformats.org/drawingml/2006/main" noGrp="1"/>
          </p:cNvSpPr>
          <p:nvPr/>
        </p:nvSpPr>
        <p:spPr>
          <a:xfrm xmlns:a="http://schemas.openxmlformats.org/drawingml/2006/main">
            <a:off x="6438900" y="24193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172026"/>
                </a:solidFill>
              </a:defRPr>
            </a:pPr>
            <a:r>
              <a:rPr sz="1800" b="0">
                <a:solidFill>
                  <a:srgbClr val="172026"/>
                </a:solidFill>
              </a:rPr>
              <a:t>Reported separation from bypass was successful. CPB time was 100 minutes, aortic cross-clamp time 55 minutes and circulatory arrest time 20 minutes.</a:t>
            </a:r>
          </a:p>
        </p:txBody>
      </p:sp>
      <p:sp>
        <p:nvSpPr>
          <p:cNvPr id="9" name="text">
            <a:extLst xmlns:a="http://schemas.openxmlformats.org/drawingml/2006/main">
              <a:ext uri="{FF2B5EF4-FFF2-40B4-BE49-F238E27FC236}">
                <a16:creationId xmlns:a16="http://schemas.microsoft.com/office/drawing/2014/main" id="{AA849D7B-1CC6-4757-B805-D5FEEC9D603B}"/>
              </a:ext>
            </a:extLst>
          </p:cNvPr>
          <p:cNvSpPr>
            <a:spLocks xmlns:a="http://schemas.openxmlformats.org/drawingml/2006/main" noGrp="1"/>
          </p:cNvSpPr>
          <p:nvPr/>
        </p:nvSpPr>
        <p:spPr>
          <a:xfrm xmlns:a="http://schemas.openxmlformats.org/drawingml/2006/main">
            <a:off x="6350410" y="3836424"/>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23047"/>
                </a:solidFill>
              </a:defRPr>
            </a:pPr>
            <a:r>
              <a:rPr sz="1425" b="1">
                <a:solidFill>
                  <a:srgbClr val="123047"/>
                </a:solidFill>
              </a:rPr>
              <a:t>Central lesson</a:t>
            </a:r>
          </a:p>
        </p:txBody>
      </p:sp>
      <p:sp>
        <p:nvSpPr>
          <p:cNvPr id="10" name="text">
            <a:extLst xmlns:a="http://schemas.openxmlformats.org/drawingml/2006/main">
              <a:ext uri="{FF2B5EF4-FFF2-40B4-BE49-F238E27FC236}">
                <a16:creationId xmlns:a16="http://schemas.microsoft.com/office/drawing/2014/main" id="{196C91D9-E83B-4A6B-AA82-92B0D40B043B}"/>
              </a:ext>
            </a:extLst>
          </p:cNvPr>
          <p:cNvSpPr>
            <a:spLocks xmlns:a="http://schemas.openxmlformats.org/drawingml/2006/main" noGrp="1"/>
          </p:cNvSpPr>
          <p:nvPr/>
        </p:nvSpPr>
        <p:spPr>
          <a:xfrm xmlns:a="http://schemas.openxmlformats.org/drawingml/2006/main">
            <a:off x="6315075" y="4207899"/>
            <a:ext cx="466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6636B"/>
                </a:solidFill>
              </a:defRPr>
            </a:pPr>
            <a:r>
              <a:rPr sz="1500" b="0">
                <a:solidFill>
                  <a:srgbClr val="56636B"/>
                </a:solidFill>
              </a:rPr>
              <a:t>Peripheral access created a controlled path to </a:t>
            </a:r>
            <a:r>
              <a:rPr sz="1500" b="0">
                <a:solidFill>
                  <a:srgbClr val="56636B"/>
                </a:solidFill>
              </a:rPr>
              <a:t>opening the chest by </a:t>
            </a:r>
            <a:r>
              <a:rPr sz="1500" b="0">
                <a:solidFill>
                  <a:srgbClr val="56636B"/>
                </a:solidFill>
              </a:rPr>
              <a:t>cooling, cerebral protection and definitive repair.</a:t>
            </a:r>
          </a:p>
        </p:txBody>
      </p:sp>
      <p:sp>
        <p:nvSpPr>
          <p:cNvPr id="11" name="source">
            <a:extLst xmlns:a="http://schemas.openxmlformats.org/drawingml/2006/main">
              <a:ext uri="{FF2B5EF4-FFF2-40B4-BE49-F238E27FC236}">
                <a16:creationId xmlns:a16="http://schemas.microsoft.com/office/drawing/2014/main" id="{AF4A190A-AD68-40DC-B18A-ADCF7EADC5EA}"/>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p:txBody>
      </p:sp>
      <p:sp>
        <p:nvSpPr>
          <p:cNvPr id="12" name="slide-number">
            <a:extLst xmlns:a="http://schemas.openxmlformats.org/drawingml/2006/main">
              <a:ext uri="{FF2B5EF4-FFF2-40B4-BE49-F238E27FC236}">
                <a16:creationId xmlns:a16="http://schemas.microsoft.com/office/drawing/2014/main" id="{AD763E1F-D4BF-4D3D-949B-6297D3497250}"/>
              </a:ext>
            </a:extLst>
          </p:cNvPr>
          <p:cNvSpPr>
            <a:spLocks xmlns:a="http://schemas.openxmlformats.org/drawingml/2006/main" noGrp="1"/>
          </p:cNvSpPr>
          <p:nvPr/>
        </p:nvSpPr>
        <p:spPr>
          <a:xfrm xmlns:a="http://schemas.openxmlformats.org/drawingml/2006/main">
            <a:off x="11277600" y="64198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0">
                <a:solidFill>
                  <a:srgbClr val="56636B"/>
                </a:solidFill>
              </a:defRPr>
            </a:pPr>
            <a:r>
              <a:rPr sz="825" b="0">
                <a:solidFill>
                  <a:srgbClr val="56636B"/>
                </a:solidFill>
              </a:rPr>
              <a:t>2</a:t>
            </a:r>
          </a:p>
        </p:txBody>
      </p:sp>
    </p:spTree>
    <p:extLst>
      <p:ext uri="{BB962C8B-B14F-4D97-AF65-F5344CB8AC3E}">
        <p14:creationId xmlns:p14="http://schemas.microsoft.com/office/powerpoint/2010/main" val="111230905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title">
            <a:extLst xmlns:a="http://schemas.openxmlformats.org/drawingml/2006/main">
              <a:ext uri="{FF2B5EF4-FFF2-40B4-BE49-F238E27FC236}">
                <a16:creationId xmlns:a16="http://schemas.microsoft.com/office/drawing/2014/main" id="{6575E804-E202-4D5D-B8BD-2E019E4ED36D}"/>
              </a:ext>
            </a:extLst>
          </p:cNvPr>
          <p:cNvSpPr>
            <a:spLocks xmlns:a="http://schemas.openxmlformats.org/drawingml/2006/main" noGrp="1"/>
          </p:cNvSpPr>
          <p:nvPr/>
        </p:nvSpPr>
        <p:spPr>
          <a:xfrm xmlns:a="http://schemas.openxmlformats.org/drawingml/2006/main">
            <a:off x="457200" y="323850"/>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850" b="1">
                <a:solidFill>
                  <a:srgbClr val="123047"/>
                </a:solidFill>
              </a:defRPr>
            </a:pPr>
            <a:r>
              <a:rPr sz="2850" b="1">
                <a:solidFill>
                  <a:srgbClr val="123047"/>
                </a:solidFill>
              </a:rPr>
              <a:t>Background of Patient</a:t>
            </a:r>
          </a:p>
        </p:txBody>
      </p:sp>
      <p:sp>
        <p:nvSpPr>
          <p:cNvPr id="2" name="Rectangle: Rounded Corners 1">
            <a:extLst xmlns:a="http://schemas.openxmlformats.org/drawingml/2006/main">
              <a:ext uri="{FF2B5EF4-FFF2-40B4-BE49-F238E27FC236}">
                <a16:creationId xmlns:a16="http://schemas.microsoft.com/office/drawing/2014/main" id="{05C5B0D4-3F2F-4E6B-908A-6790733228FF}"/>
              </a:ext>
            </a:extLst>
          </p:cNvPr>
          <p:cNvSpPr>
            <a:spLocks xmlns:a="http://schemas.openxmlformats.org/drawingml/2006/main" noGrp="1"/>
          </p:cNvSpPr>
          <p:nvPr/>
        </p:nvSpPr>
        <p:spPr>
          <a:xfrm xmlns:a="http://schemas.openxmlformats.org/drawingml/2006/main">
            <a:off x="1476375" y="1147302"/>
            <a:ext cx="9620249" cy="4630993"/>
          </a:xfrm>
          <a:prstGeom xmlns:a="http://schemas.openxmlformats.org/drawingml/2006/main" prst="roundRect">
            <a:avLst>
              <a:gd name="adj" fmla="val 2778"/>
            </a:avLst>
          </a:prstGeom>
          <a:solidFill xmlns:a="http://schemas.openxmlformats.org/drawingml/2006/main">
            <a:srgbClr val="EEF4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rPr sz="2500"/>
              <a:t>The patient is a 55-year-old woman with a complex congenital and surgical cardiac history, including prior ventricular septal defect (VSD) repair, aortic valve repair, septal myectomy, and subaortic membrane resection. She later developed recurrent subaortic membrane formation, severe torrential aortic insufficiency, and a 5-cm ascending aortic aneurysm. She presented with worsening shortness of breath and fatigue, prompting evaluation for redo cardiac surgery. Preoperative imaging demonstrated preserved left ventricular systolic function, a heavily calcified bicuspid aortic valve, ascending aorta stuck to the back of the sternum, and no obstructive coronary artery disease.</a:t>
            </a:r>
          </a:p>
        </p:txBody>
      </p:sp>
      <p:sp>
        <p:nvSpPr>
          <p:cNvPr id="17" name="text">
            <a:extLst xmlns:a="http://schemas.openxmlformats.org/drawingml/2006/main">
              <a:ext uri="{FF2B5EF4-FFF2-40B4-BE49-F238E27FC236}">
                <a16:creationId xmlns:a16="http://schemas.microsoft.com/office/drawing/2014/main" id="{CA91DB67-2BED-49C9-9900-813CA7B5BBB7}"/>
              </a:ext>
            </a:extLst>
          </p:cNvPr>
          <p:cNvSpPr>
            <a:spLocks xmlns:a="http://schemas.openxmlformats.org/drawingml/2006/main" noGrp="1"/>
          </p:cNvSpPr>
          <p:nvPr/>
        </p:nvSpPr>
        <p:spPr>
          <a:xfrm xmlns:a="http://schemas.openxmlformats.org/drawingml/2006/main">
            <a:off x="6286500" y="1885950"/>
            <a:ext cx="485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A33B3B"/>
                </a:solidFill>
              </a:defRPr>
            </a:pPr>
          </a:p>
        </p:txBody>
      </p:sp>
      <p:sp>
        <p:nvSpPr>
          <p:cNvPr id="30" name="source">
            <a:extLst xmlns:a="http://schemas.openxmlformats.org/drawingml/2006/main">
              <a:ext uri="{FF2B5EF4-FFF2-40B4-BE49-F238E27FC236}">
                <a16:creationId xmlns:a16="http://schemas.microsoft.com/office/drawing/2014/main" id="{66F38FF8-1167-45EF-8144-19213E2B2E65}"/>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p:txBody>
      </p:sp>
      <p:sp>
        <p:nvSpPr>
          <p:cNvPr id="31" name="slide-number">
            <a:extLst xmlns:a="http://schemas.openxmlformats.org/drawingml/2006/main">
              <a:ext uri="{FF2B5EF4-FFF2-40B4-BE49-F238E27FC236}">
                <a16:creationId xmlns:a16="http://schemas.microsoft.com/office/drawing/2014/main" id="{2CC4E328-EE3B-4F91-9FD9-98C066A97508}"/>
              </a:ext>
            </a:extLst>
          </p:cNvPr>
          <p:cNvSpPr>
            <a:spLocks xmlns:a="http://schemas.openxmlformats.org/drawingml/2006/main" noGrp="1"/>
          </p:cNvSpPr>
          <p:nvPr/>
        </p:nvSpPr>
        <p:spPr>
          <a:xfrm xmlns:a="http://schemas.openxmlformats.org/drawingml/2006/main">
            <a:off x="11277600" y="64198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0">
                <a:solidFill>
                  <a:srgbClr val="56636B"/>
                </a:solidFill>
              </a:defRPr>
            </a:pPr>
            <a:r>
              <a:rPr sz="825" b="0">
                <a:solidFill>
                  <a:srgbClr val="56636B"/>
                </a:solidFill>
              </a:rPr>
              <a:t>3</a:t>
            </a:r>
          </a:p>
        </p:txBody>
      </p:sp>
    </p:spTree>
    <p:extLst>
      <p:ext uri="{BB962C8B-B14F-4D97-AF65-F5344CB8AC3E}">
        <p14:creationId xmlns:p14="http://schemas.microsoft.com/office/powerpoint/2010/main" val="3522352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CC49060A-34BC-449C-9A2F-F6F15584018D}"/>
              </a:ext>
            </a:extLst>
          </p:cNvPr>
          <p:cNvSpPr>
            <a:spLocks xmlns:a="http://schemas.openxmlformats.org/drawingml/2006/main" noGrp="1"/>
          </p:cNvSpPr>
          <p:nvPr/>
        </p:nvSpPr>
        <p:spPr>
          <a:xfrm xmlns:a="http://schemas.openxmlformats.org/drawingml/2006/main">
            <a:off x="457200" y="323850"/>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23047"/>
                </a:solidFill>
              </a:defRPr>
            </a:pPr>
            <a:r>
              <a:rPr sz="2850" b="1">
                <a:solidFill>
                  <a:srgbClr val="123047"/>
                </a:solidFill>
              </a:rPr>
              <a:t>Three lesions were addressed through one arrested-heart strategy</a:t>
            </a:r>
          </a:p>
        </p:txBody>
      </p:sp>
      <p:sp>
        <p:nvSpPr>
          <p:cNvPr id="2" name="Rectangle: Rounded Corners 1">
            <a:extLst xmlns:a="http://schemas.openxmlformats.org/drawingml/2006/main">
              <a:ext uri="{FF2B5EF4-FFF2-40B4-BE49-F238E27FC236}">
                <a16:creationId xmlns:a16="http://schemas.microsoft.com/office/drawing/2014/main" id="{22B99B54-EFA6-4C8A-93D7-3213EFED066F}"/>
              </a:ext>
            </a:extLst>
          </p:cNvPr>
          <p:cNvSpPr>
            <a:spLocks xmlns:a="http://schemas.openxmlformats.org/drawingml/2006/main" noGrp="1"/>
          </p:cNvSpPr>
          <p:nvPr/>
        </p:nvSpPr>
        <p:spPr>
          <a:xfrm xmlns:a="http://schemas.openxmlformats.org/drawingml/2006/main">
            <a:off x="457200" y="1685925"/>
            <a:ext cx="3562350" cy="3857625"/>
          </a:xfrm>
          <a:prstGeom xmlns:a="http://schemas.openxmlformats.org/drawingml/2006/main" prst="roundRect">
            <a:avLst>
              <a:gd name="adj" fmla="val 3209"/>
            </a:avLst>
          </a:prstGeom>
          <a:solidFill xmlns:a="http://schemas.openxmlformats.org/drawingml/2006/main">
            <a:srgbClr val="EEF4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text">
            <a:extLst xmlns:a="http://schemas.openxmlformats.org/drawingml/2006/main">
              <a:ext uri="{FF2B5EF4-FFF2-40B4-BE49-F238E27FC236}">
                <a16:creationId xmlns:a16="http://schemas.microsoft.com/office/drawing/2014/main" id="{9D1DBE41-4CC1-4461-B6B2-18817E27496F}"/>
              </a:ext>
            </a:extLst>
          </p:cNvPr>
          <p:cNvSpPr>
            <a:spLocks xmlns:a="http://schemas.openxmlformats.org/drawingml/2006/main" noGrp="1"/>
          </p:cNvSpPr>
          <p:nvPr/>
        </p:nvSpPr>
        <p:spPr>
          <a:xfrm xmlns:a="http://schemas.openxmlformats.org/drawingml/2006/main">
            <a:off x="723900" y="19431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A33B3B"/>
                </a:solidFill>
              </a:defRPr>
            </a:pPr>
            <a:r>
              <a:rPr sz="2100" b="1">
                <a:solidFill>
                  <a:srgbClr val="A33B3B"/>
                </a:solidFill>
              </a:rPr>
              <a:t>01</a:t>
            </a:r>
          </a:p>
        </p:txBody>
      </p:sp>
      <p:sp>
        <p:nvSpPr>
          <p:cNvPr id="4" name="text">
            <a:extLst xmlns:a="http://schemas.openxmlformats.org/drawingml/2006/main">
              <a:ext uri="{FF2B5EF4-FFF2-40B4-BE49-F238E27FC236}">
                <a16:creationId xmlns:a16="http://schemas.microsoft.com/office/drawing/2014/main" id="{FFF9DAED-124D-4E92-B8E3-7915F472A243}"/>
              </a:ext>
            </a:extLst>
          </p:cNvPr>
          <p:cNvSpPr>
            <a:spLocks xmlns:a="http://schemas.openxmlformats.org/drawingml/2006/main" noGrp="1"/>
          </p:cNvSpPr>
          <p:nvPr/>
        </p:nvSpPr>
        <p:spPr>
          <a:xfrm xmlns:a="http://schemas.openxmlformats.org/drawingml/2006/main">
            <a:off x="723900" y="2505075"/>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23047"/>
                </a:solidFill>
              </a:defRPr>
            </a:pPr>
            <a:r>
              <a:rPr sz="1950" b="1">
                <a:solidFill>
                  <a:srgbClr val="123047"/>
                </a:solidFill>
              </a:rPr>
              <a:t>Aortic valve</a:t>
            </a:r>
          </a:p>
        </p:txBody>
      </p:sp>
      <p:sp>
        <p:nvSpPr>
          <p:cNvPr id="5" name="text">
            <a:extLst xmlns:a="http://schemas.openxmlformats.org/drawingml/2006/main">
              <a:ext uri="{FF2B5EF4-FFF2-40B4-BE49-F238E27FC236}">
                <a16:creationId xmlns:a16="http://schemas.microsoft.com/office/drawing/2014/main" id="{4C5E1409-8CF8-4824-A02C-DCBF75BE2577}"/>
              </a:ext>
            </a:extLst>
          </p:cNvPr>
          <p:cNvSpPr>
            <a:spLocks xmlns:a="http://schemas.openxmlformats.org/drawingml/2006/main" noGrp="1"/>
          </p:cNvSpPr>
          <p:nvPr/>
        </p:nvSpPr>
        <p:spPr>
          <a:xfrm xmlns:a="http://schemas.openxmlformats.org/drawingml/2006/main">
            <a:off x="723900" y="3248025"/>
            <a:ext cx="2952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172026"/>
                </a:solidFill>
              </a:defRPr>
            </a:pPr>
            <a:r>
              <a:rPr sz="1500" b="0">
                <a:solidFill>
                  <a:srgbClr val="172026"/>
                </a:solidFill>
              </a:rPr>
              <a:t>Mechanical AVR restores competent valvular outflow. Mechanical prostheses generally require lifelong </a:t>
            </a:r>
            <a:r>
              <a:rPr sz="1500">
                <a:solidFill>
                  <a:srgbClr val="172026"/>
                </a:solidFill>
              </a:rPr>
              <a:t>Warfarin for</a:t>
            </a:r>
            <a:r>
              <a:rPr sz="1500" b="0">
                <a:solidFill>
                  <a:srgbClr val="172026"/>
                </a:solidFill>
              </a:rPr>
              <a:t> anticoagulation.</a:t>
            </a:r>
          </a:p>
        </p:txBody>
      </p:sp>
      <p:sp>
        <p:nvSpPr>
          <p:cNvPr id="6" name="Rectangle: Rounded Corners 5">
            <a:extLst xmlns:a="http://schemas.openxmlformats.org/drawingml/2006/main">
              <a:ext uri="{FF2B5EF4-FFF2-40B4-BE49-F238E27FC236}">
                <a16:creationId xmlns:a16="http://schemas.microsoft.com/office/drawing/2014/main" id="{59FFB29C-1E55-4AD9-90BA-9AB87C12D79B}"/>
              </a:ext>
            </a:extLst>
          </p:cNvPr>
          <p:cNvSpPr>
            <a:spLocks xmlns:a="http://schemas.openxmlformats.org/drawingml/2006/main" noGrp="1"/>
          </p:cNvSpPr>
          <p:nvPr/>
        </p:nvSpPr>
        <p:spPr>
          <a:xfrm xmlns:a="http://schemas.openxmlformats.org/drawingml/2006/main">
            <a:off x="4314825" y="1685925"/>
            <a:ext cx="3562350" cy="3857625"/>
          </a:xfrm>
          <a:prstGeom xmlns:a="http://schemas.openxmlformats.org/drawingml/2006/main" prst="roundRect">
            <a:avLst>
              <a:gd name="adj" fmla="val 3209"/>
            </a:avLst>
          </a:prstGeom>
          <a:solidFill xmlns:a="http://schemas.openxmlformats.org/drawingml/2006/main">
            <a:srgbClr val="F7F3E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 name="text">
            <a:extLst xmlns:a="http://schemas.openxmlformats.org/drawingml/2006/main">
              <a:ext uri="{FF2B5EF4-FFF2-40B4-BE49-F238E27FC236}">
                <a16:creationId xmlns:a16="http://schemas.microsoft.com/office/drawing/2014/main" id="{6719B7C0-1D29-46D0-A930-8AF55DE6CAE2}"/>
              </a:ext>
            </a:extLst>
          </p:cNvPr>
          <p:cNvSpPr>
            <a:spLocks xmlns:a="http://schemas.openxmlformats.org/drawingml/2006/main" noGrp="1"/>
          </p:cNvSpPr>
          <p:nvPr/>
        </p:nvSpPr>
        <p:spPr>
          <a:xfrm xmlns:a="http://schemas.openxmlformats.org/drawingml/2006/main">
            <a:off x="4581525" y="19431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A33B3B"/>
                </a:solidFill>
              </a:defRPr>
            </a:pPr>
            <a:r>
              <a:rPr sz="2100" b="1">
                <a:solidFill>
                  <a:srgbClr val="A33B3B"/>
                </a:solidFill>
              </a:rPr>
              <a:t>02</a:t>
            </a:r>
          </a:p>
        </p:txBody>
      </p:sp>
      <p:sp>
        <p:nvSpPr>
          <p:cNvPr id="8" name="text">
            <a:extLst xmlns:a="http://schemas.openxmlformats.org/drawingml/2006/main">
              <a:ext uri="{FF2B5EF4-FFF2-40B4-BE49-F238E27FC236}">
                <a16:creationId xmlns:a16="http://schemas.microsoft.com/office/drawing/2014/main" id="{173B6428-A414-49CA-90A8-C9ABB0E2B78E}"/>
              </a:ext>
            </a:extLst>
          </p:cNvPr>
          <p:cNvSpPr>
            <a:spLocks xmlns:a="http://schemas.openxmlformats.org/drawingml/2006/main" noGrp="1"/>
          </p:cNvSpPr>
          <p:nvPr/>
        </p:nvSpPr>
        <p:spPr>
          <a:xfrm xmlns:a="http://schemas.openxmlformats.org/drawingml/2006/main">
            <a:off x="4581525" y="2505075"/>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23047"/>
                </a:solidFill>
              </a:defRPr>
            </a:pPr>
            <a:r>
              <a:rPr sz="1950" b="1">
                <a:solidFill>
                  <a:srgbClr val="123047"/>
                </a:solidFill>
              </a:rPr>
              <a:t>Ascending aorta</a:t>
            </a:r>
          </a:p>
        </p:txBody>
      </p:sp>
      <p:sp>
        <p:nvSpPr>
          <p:cNvPr id="9" name="text">
            <a:extLst xmlns:a="http://schemas.openxmlformats.org/drawingml/2006/main">
              <a:ext uri="{FF2B5EF4-FFF2-40B4-BE49-F238E27FC236}">
                <a16:creationId xmlns:a16="http://schemas.microsoft.com/office/drawing/2014/main" id="{0BB85EE6-1C2F-438E-93E9-7C259A5F3D15}"/>
              </a:ext>
            </a:extLst>
          </p:cNvPr>
          <p:cNvSpPr>
            <a:spLocks xmlns:a="http://schemas.openxmlformats.org/drawingml/2006/main" noGrp="1"/>
          </p:cNvSpPr>
          <p:nvPr/>
        </p:nvSpPr>
        <p:spPr>
          <a:xfrm xmlns:a="http://schemas.openxmlformats.org/drawingml/2006/main">
            <a:off x="4581525" y="3248025"/>
            <a:ext cx="2952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172026"/>
                </a:solidFill>
              </a:defRPr>
            </a:pPr>
            <a:r>
              <a:rPr sz="1500" b="0">
                <a:solidFill>
                  <a:srgbClr val="172026"/>
                </a:solidFill>
              </a:rPr>
              <a:t>The diseased ascending segment is excised and replaced with a vascular graft</a:t>
            </a:r>
            <a:r>
              <a:rPr sz="1500">
                <a:solidFill>
                  <a:srgbClr val="172026"/>
                </a:solidFill>
              </a:rPr>
              <a:t> along with the repair of the  base of the subclavian</a:t>
            </a:r>
          </a:p>
        </p:txBody>
      </p:sp>
      <p:sp>
        <p:nvSpPr>
          <p:cNvPr id="10" name="Rectangle: Rounded Corners 9">
            <a:extLst xmlns:a="http://schemas.openxmlformats.org/drawingml/2006/main">
              <a:ext uri="{FF2B5EF4-FFF2-40B4-BE49-F238E27FC236}">
                <a16:creationId xmlns:a16="http://schemas.microsoft.com/office/drawing/2014/main" id="{C2855E6C-8526-44E0-A02E-95394491380B}"/>
              </a:ext>
            </a:extLst>
          </p:cNvPr>
          <p:cNvSpPr>
            <a:spLocks xmlns:a="http://schemas.openxmlformats.org/drawingml/2006/main" noGrp="1"/>
          </p:cNvSpPr>
          <p:nvPr/>
        </p:nvSpPr>
        <p:spPr>
          <a:xfrm xmlns:a="http://schemas.openxmlformats.org/drawingml/2006/main">
            <a:off x="8172450" y="1685925"/>
            <a:ext cx="3562350" cy="3857625"/>
          </a:xfrm>
          <a:prstGeom xmlns:a="http://schemas.openxmlformats.org/drawingml/2006/main" prst="roundRect">
            <a:avLst>
              <a:gd name="adj" fmla="val 3209"/>
            </a:avLst>
          </a:prstGeom>
          <a:solidFill xmlns:a="http://schemas.openxmlformats.org/drawingml/2006/main">
            <a:srgbClr val="F1F0F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text">
            <a:extLst xmlns:a="http://schemas.openxmlformats.org/drawingml/2006/main">
              <a:ext uri="{FF2B5EF4-FFF2-40B4-BE49-F238E27FC236}">
                <a16:creationId xmlns:a16="http://schemas.microsoft.com/office/drawing/2014/main" id="{D014E66B-A68B-40BD-834E-ED14BCB7BF49}"/>
              </a:ext>
            </a:extLst>
          </p:cNvPr>
          <p:cNvSpPr>
            <a:spLocks xmlns:a="http://schemas.openxmlformats.org/drawingml/2006/main" noGrp="1"/>
          </p:cNvSpPr>
          <p:nvPr/>
        </p:nvSpPr>
        <p:spPr>
          <a:xfrm xmlns:a="http://schemas.openxmlformats.org/drawingml/2006/main">
            <a:off x="8439150" y="19431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A33B3B"/>
                </a:solidFill>
              </a:defRPr>
            </a:pPr>
            <a:r>
              <a:rPr sz="2100" b="1">
                <a:solidFill>
                  <a:srgbClr val="A33B3B"/>
                </a:solidFill>
              </a:rPr>
              <a:t>03</a:t>
            </a:r>
          </a:p>
        </p:txBody>
      </p:sp>
      <p:sp>
        <p:nvSpPr>
          <p:cNvPr id="12" name="text">
            <a:extLst xmlns:a="http://schemas.openxmlformats.org/drawingml/2006/main">
              <a:ext uri="{FF2B5EF4-FFF2-40B4-BE49-F238E27FC236}">
                <a16:creationId xmlns:a16="http://schemas.microsoft.com/office/drawing/2014/main" id="{48313A36-0C84-433B-992E-1C027CFB0C11}"/>
              </a:ext>
            </a:extLst>
          </p:cNvPr>
          <p:cNvSpPr>
            <a:spLocks xmlns:a="http://schemas.openxmlformats.org/drawingml/2006/main" noGrp="1"/>
          </p:cNvSpPr>
          <p:nvPr/>
        </p:nvSpPr>
        <p:spPr>
          <a:xfrm xmlns:a="http://schemas.openxmlformats.org/drawingml/2006/main">
            <a:off x="8439150" y="2505075"/>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23047"/>
                </a:solidFill>
              </a:defRPr>
            </a:pPr>
            <a:r>
              <a:rPr sz="1950" b="1">
                <a:solidFill>
                  <a:srgbClr val="123047"/>
                </a:solidFill>
              </a:rPr>
              <a:t>Subaortic membrane</a:t>
            </a:r>
          </a:p>
        </p:txBody>
      </p:sp>
      <p:sp>
        <p:nvSpPr>
          <p:cNvPr id="13" name="text">
            <a:extLst xmlns:a="http://schemas.openxmlformats.org/drawingml/2006/main">
              <a:ext uri="{FF2B5EF4-FFF2-40B4-BE49-F238E27FC236}">
                <a16:creationId xmlns:a16="http://schemas.microsoft.com/office/drawing/2014/main" id="{4F3C3885-E524-44C2-A224-AB5D7A448619}"/>
              </a:ext>
            </a:extLst>
          </p:cNvPr>
          <p:cNvSpPr>
            <a:spLocks xmlns:a="http://schemas.openxmlformats.org/drawingml/2006/main" noGrp="1"/>
          </p:cNvSpPr>
          <p:nvPr/>
        </p:nvSpPr>
        <p:spPr>
          <a:xfrm xmlns:a="http://schemas.openxmlformats.org/drawingml/2006/main">
            <a:off x="8439150" y="3248025"/>
            <a:ext cx="2952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172026"/>
                </a:solidFill>
              </a:defRPr>
            </a:pPr>
            <a:r>
              <a:rPr sz="1500" b="0">
                <a:solidFill>
                  <a:srgbClr val="172026"/>
                </a:solidFill>
              </a:rPr>
              <a:t>A fixed fibrous ridge below the valve is removed through the aortic route to relieve LV outflow tract obstruction; recurrence surveillance remains important</a:t>
            </a:r>
            <a:r>
              <a:rPr sz="1500" b="0">
                <a:solidFill>
                  <a:srgbClr val="172026"/>
                </a:solidFill>
              </a:rPr>
              <a:t> as this can reoccur</a:t>
            </a:r>
            <a:r>
              <a:rPr sz="1500" b="0">
                <a:solidFill>
                  <a:srgbClr val="172026"/>
                </a:solidFill>
              </a:rPr>
              <a:t>.</a:t>
            </a:r>
          </a:p>
        </p:txBody>
      </p:sp>
      <p:sp>
        <p:nvSpPr>
          <p:cNvPr id="14" name="source">
            <a:extLst xmlns:a="http://schemas.openxmlformats.org/drawingml/2006/main">
              <a:ext uri="{FF2B5EF4-FFF2-40B4-BE49-F238E27FC236}">
                <a16:creationId xmlns:a16="http://schemas.microsoft.com/office/drawing/2014/main" id="{D7D86B99-9527-4E77-BE22-10F4A3630ACD}"/>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56636B"/>
                </a:solidFill>
              </a:defRPr>
            </a:pPr>
            <a:r>
              <a:rPr sz="750" b="0">
                <a:solidFill>
                  <a:srgbClr val="56636B"/>
                </a:solidFill>
              </a:rPr>
              <a:t>Background: 2021 ESC/EACTS valve guideline; 2022 ACC/AHA aortic guideline; subaortic stenosis literature.</a:t>
            </a:r>
          </a:p>
        </p:txBody>
      </p:sp>
      <p:sp>
        <p:nvSpPr>
          <p:cNvPr id="15" name="slide-number">
            <a:extLst xmlns:a="http://schemas.openxmlformats.org/drawingml/2006/main">
              <a:ext uri="{FF2B5EF4-FFF2-40B4-BE49-F238E27FC236}">
                <a16:creationId xmlns:a16="http://schemas.microsoft.com/office/drawing/2014/main" id="{329845D2-6712-48FB-AEEF-0725F9BEDFE4}"/>
              </a:ext>
            </a:extLst>
          </p:cNvPr>
          <p:cNvSpPr>
            <a:spLocks xmlns:a="http://schemas.openxmlformats.org/drawingml/2006/main" noGrp="1"/>
          </p:cNvSpPr>
          <p:nvPr/>
        </p:nvSpPr>
        <p:spPr>
          <a:xfrm xmlns:a="http://schemas.openxmlformats.org/drawingml/2006/main">
            <a:off x="11277600" y="64198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0">
                <a:solidFill>
                  <a:srgbClr val="56636B"/>
                </a:solidFill>
              </a:defRPr>
            </a:pPr>
            <a:r>
              <a:rPr sz="825" b="0">
                <a:solidFill>
                  <a:srgbClr val="56636B"/>
                </a:solidFill>
              </a:rPr>
              <a:t>4</a:t>
            </a:r>
          </a:p>
        </p:txBody>
      </p:sp>
    </p:spTree>
    <p:extLst>
      <p:ext uri="{BB962C8B-B14F-4D97-AF65-F5344CB8AC3E}">
        <p14:creationId xmlns:p14="http://schemas.microsoft.com/office/powerpoint/2010/main" val="8816490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a:extLst xmlns:a="http://schemas.openxmlformats.org/drawingml/2006/main">
              <a:ext uri="{FF2B5EF4-FFF2-40B4-BE49-F238E27FC236}">
                <a16:creationId xmlns:a16="http://schemas.microsoft.com/office/drawing/2014/main" id="{0107319B-5C7C-4315-9A2D-07605ECBD78C}"/>
              </a:ext>
            </a:extLst>
          </p:cNvPr>
          <p:cNvSpPr>
            <a:spLocks xmlns:a="http://schemas.openxmlformats.org/drawingml/2006/main" noGrp="1"/>
          </p:cNvSpPr>
          <p:nvPr/>
        </p:nvSpPr>
        <p:spPr>
          <a:xfrm xmlns:a="http://schemas.openxmlformats.org/drawingml/2006/main">
            <a:off x="457200" y="323850"/>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23047"/>
                </a:solidFill>
              </a:defRPr>
            </a:pPr>
            <a:r>
              <a:rPr sz="2850" b="1">
                <a:solidFill>
                  <a:srgbClr val="123047"/>
                </a:solidFill>
              </a:rPr>
              <a:t>Circulatory arrest trades operative access for time-limited ischemic risk</a:t>
            </a:r>
          </a:p>
        </p:txBody>
      </p:sp>
      <p:sp>
        <p:nvSpPr>
          <p:cNvPr id="2" name="text">
            <a:extLst xmlns:a="http://schemas.openxmlformats.org/drawingml/2006/main">
              <a:ext uri="{FF2B5EF4-FFF2-40B4-BE49-F238E27FC236}">
                <a16:creationId xmlns:a16="http://schemas.microsoft.com/office/drawing/2014/main" id="{0C93A6B1-2519-4BCA-B772-39BAB6998668}"/>
              </a:ext>
            </a:extLst>
          </p:cNvPr>
          <p:cNvSpPr>
            <a:spLocks xmlns:a="http://schemas.openxmlformats.org/drawingml/2006/main" noGrp="1"/>
          </p:cNvSpPr>
          <p:nvPr/>
        </p:nvSpPr>
        <p:spPr>
          <a:xfrm xmlns:a="http://schemas.openxmlformats.org/drawingml/2006/main">
            <a:off x="457200" y="1638300"/>
            <a:ext cx="5334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0">
                <a:solidFill>
                  <a:srgbClr val="172026"/>
                </a:solidFill>
              </a:defRPr>
            </a:pPr>
            <a:r>
              <a:rPr sz="1875" b="0">
                <a:solidFill>
                  <a:srgbClr val="172026"/>
                </a:solidFill>
              </a:rPr>
              <a:t>Stopping systemic flow creates a bloodless field for open distal aortic reconstruction. Protection depends on lowering metabolic demand and maintaining cerebral perfusion whenever anatomy permits.</a:t>
            </a:r>
          </a:p>
        </p:txBody>
      </p:sp>
      <p:sp>
        <p:nvSpPr>
          <p:cNvPr id="3" name="Rectangle: Rounded Corners 2">
            <a:extLst xmlns:a="http://schemas.openxmlformats.org/drawingml/2006/main">
              <a:ext uri="{FF2B5EF4-FFF2-40B4-BE49-F238E27FC236}">
                <a16:creationId xmlns:a16="http://schemas.microsoft.com/office/drawing/2014/main" id="{DC786A0C-16CD-4C2D-BE19-318F17559C6A}"/>
              </a:ext>
            </a:extLst>
          </p:cNvPr>
          <p:cNvSpPr>
            <a:spLocks xmlns:a="http://schemas.openxmlformats.org/drawingml/2006/main" noGrp="1"/>
          </p:cNvSpPr>
          <p:nvPr/>
        </p:nvSpPr>
        <p:spPr>
          <a:xfrm xmlns:a="http://schemas.openxmlformats.org/drawingml/2006/main">
            <a:off x="457200" y="3514725"/>
            <a:ext cx="5334000" cy="1600200"/>
          </a:xfrm>
          <a:prstGeom xmlns:a="http://schemas.openxmlformats.org/drawingml/2006/main" prst="roundRect">
            <a:avLst>
              <a:gd name="adj" fmla="val 7143"/>
            </a:avLst>
          </a:prstGeom>
          <a:solidFill xmlns:a="http://schemas.openxmlformats.org/drawingml/2006/main">
            <a:srgbClr val="12304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 name="text">
            <a:extLst xmlns:a="http://schemas.openxmlformats.org/drawingml/2006/main">
              <a:ext uri="{FF2B5EF4-FFF2-40B4-BE49-F238E27FC236}">
                <a16:creationId xmlns:a16="http://schemas.microsoft.com/office/drawing/2014/main" id="{8ACAB431-071D-4C94-9718-1A3E5E5B5627}"/>
              </a:ext>
            </a:extLst>
          </p:cNvPr>
          <p:cNvSpPr>
            <a:spLocks xmlns:a="http://schemas.openxmlformats.org/drawingml/2006/main" noGrp="1"/>
          </p:cNvSpPr>
          <p:nvPr/>
        </p:nvSpPr>
        <p:spPr>
          <a:xfrm xmlns:a="http://schemas.openxmlformats.org/drawingml/2006/main">
            <a:off x="742950" y="3762375"/>
            <a:ext cx="1619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200" b="1">
                <a:solidFill>
                  <a:srgbClr val="FFFFFF"/>
                </a:solidFill>
              </a:defRPr>
            </a:pPr>
            <a:r>
              <a:rPr sz="4200" b="1">
                <a:solidFill>
                  <a:srgbClr val="FFFFFF"/>
                </a:solidFill>
              </a:rPr>
              <a:t>28 °C</a:t>
            </a:r>
          </a:p>
        </p:txBody>
      </p:sp>
      <p:sp>
        <p:nvSpPr>
          <p:cNvPr id="5" name="text">
            <a:extLst xmlns:a="http://schemas.openxmlformats.org/drawingml/2006/main">
              <a:ext uri="{FF2B5EF4-FFF2-40B4-BE49-F238E27FC236}">
                <a16:creationId xmlns:a16="http://schemas.microsoft.com/office/drawing/2014/main" id="{AFE017B4-AD60-426D-8378-ED1ACC529F05}"/>
              </a:ext>
            </a:extLst>
          </p:cNvPr>
          <p:cNvSpPr>
            <a:spLocks xmlns:a="http://schemas.openxmlformats.org/drawingml/2006/main" noGrp="1"/>
          </p:cNvSpPr>
          <p:nvPr/>
        </p:nvSpPr>
        <p:spPr>
          <a:xfrm xmlns:a="http://schemas.openxmlformats.org/drawingml/2006/main">
            <a:off x="2362200" y="3857625"/>
            <a:ext cx="3000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D8E8EE"/>
                </a:solidFill>
              </a:defRPr>
            </a:pPr>
            <a:r>
              <a:rPr sz="1650" b="0">
                <a:solidFill>
                  <a:srgbClr val="D8E8EE"/>
                </a:solidFill>
              </a:rPr>
              <a:t>moderate hypothermia target reported in this case</a:t>
            </a:r>
          </a:p>
        </p:txBody>
      </p:sp>
      <p:sp>
        <p:nvSpPr>
          <p:cNvPr id="6" name="Rectangle: Rounded Corners 5">
            <a:extLst xmlns:a="http://schemas.openxmlformats.org/drawingml/2006/main">
              <a:ext uri="{FF2B5EF4-FFF2-40B4-BE49-F238E27FC236}">
                <a16:creationId xmlns:a16="http://schemas.microsoft.com/office/drawing/2014/main" id="{2AA49FDB-6875-4CF7-A54B-E55C5F05706D}"/>
              </a:ext>
            </a:extLst>
          </p:cNvPr>
          <p:cNvSpPr>
            <a:spLocks xmlns:a="http://schemas.openxmlformats.org/drawingml/2006/main" noGrp="1"/>
          </p:cNvSpPr>
          <p:nvPr/>
        </p:nvSpPr>
        <p:spPr>
          <a:xfrm xmlns:a="http://schemas.openxmlformats.org/drawingml/2006/main">
            <a:off x="6267450" y="1638300"/>
            <a:ext cx="5467350" cy="3476625"/>
          </a:xfrm>
          <a:prstGeom xmlns:a="http://schemas.openxmlformats.org/drawingml/2006/main" prst="roundRect">
            <a:avLst>
              <a:gd name="adj" fmla="val 3288"/>
            </a:avLst>
          </a:prstGeom>
          <a:solidFill xmlns:a="http://schemas.openxmlformats.org/drawingml/2006/main">
            <a:srgbClr val="EEF4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 name="text">
            <a:extLst xmlns:a="http://schemas.openxmlformats.org/drawingml/2006/main">
              <a:ext uri="{FF2B5EF4-FFF2-40B4-BE49-F238E27FC236}">
                <a16:creationId xmlns:a16="http://schemas.microsoft.com/office/drawing/2014/main" id="{AED238CA-D53C-4655-8B02-051608AF7E38}"/>
              </a:ext>
            </a:extLst>
          </p:cNvPr>
          <p:cNvSpPr>
            <a:spLocks xmlns:a="http://schemas.openxmlformats.org/drawingml/2006/main" noGrp="1"/>
          </p:cNvSpPr>
          <p:nvPr/>
        </p:nvSpPr>
        <p:spPr>
          <a:xfrm xmlns:a="http://schemas.openxmlformats.org/drawingml/2006/main">
            <a:off x="6572250" y="19526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123047"/>
                </a:solidFill>
              </a:defRPr>
            </a:pPr>
            <a:r>
              <a:rPr sz="1800" b="1">
                <a:solidFill>
                  <a:srgbClr val="123047"/>
                </a:solidFill>
              </a:rPr>
              <a:t>Protection stack</a:t>
            </a:r>
          </a:p>
        </p:txBody>
      </p:sp>
      <p:sp>
        <p:nvSpPr>
          <p:cNvPr id="8" name="Rectangle 7">
            <a:extLst xmlns:a="http://schemas.openxmlformats.org/drawingml/2006/main">
              <a:ext uri="{FF2B5EF4-FFF2-40B4-BE49-F238E27FC236}">
                <a16:creationId xmlns:a16="http://schemas.microsoft.com/office/drawing/2014/main" id="{3B5ABBFD-912A-45D6-93F0-4B10444DB84F}"/>
              </a:ext>
            </a:extLst>
          </p:cNvPr>
          <p:cNvSpPr>
            <a:spLocks xmlns:a="http://schemas.openxmlformats.org/drawingml/2006/main" noGrp="1"/>
          </p:cNvSpPr>
          <p:nvPr/>
        </p:nvSpPr>
        <p:spPr>
          <a:xfrm xmlns:a="http://schemas.openxmlformats.org/drawingml/2006/main">
            <a:off x="6572250" y="2628900"/>
            <a:ext cx="95250" cy="95250"/>
          </a:xfrm>
          <a:prstGeom xmlns:a="http://schemas.openxmlformats.org/drawingml/2006/main" prst="rect">
            <a:avLst/>
          </a:prstGeom>
          <a:solidFill xmlns:a="http://schemas.openxmlformats.org/drawingml/2006/main">
            <a:srgbClr val="A33B3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text">
            <a:extLst xmlns:a="http://schemas.openxmlformats.org/drawingml/2006/main">
              <a:ext uri="{FF2B5EF4-FFF2-40B4-BE49-F238E27FC236}">
                <a16:creationId xmlns:a16="http://schemas.microsoft.com/office/drawing/2014/main" id="{09369A92-AD97-4651-9F65-B7A902671997}"/>
              </a:ext>
            </a:extLst>
          </p:cNvPr>
          <p:cNvSpPr>
            <a:spLocks xmlns:a="http://schemas.openxmlformats.org/drawingml/2006/main" noGrp="1"/>
          </p:cNvSpPr>
          <p:nvPr/>
        </p:nvSpPr>
        <p:spPr>
          <a:xfrm xmlns:a="http://schemas.openxmlformats.org/drawingml/2006/main">
            <a:off x="6781800" y="2552700"/>
            <a:ext cx="4267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172026"/>
                </a:solidFill>
              </a:defRPr>
            </a:pPr>
            <a:r>
              <a:rPr sz="1575" b="0">
                <a:solidFill>
                  <a:srgbClr val="172026"/>
                </a:solidFill>
              </a:rPr>
              <a:t>Systemic cooling before arrest</a:t>
            </a:r>
          </a:p>
        </p:txBody>
      </p:sp>
      <p:sp>
        <p:nvSpPr>
          <p:cNvPr id="10" name="Rectangle 9">
            <a:extLst xmlns:a="http://schemas.openxmlformats.org/drawingml/2006/main">
              <a:ext uri="{FF2B5EF4-FFF2-40B4-BE49-F238E27FC236}">
                <a16:creationId xmlns:a16="http://schemas.microsoft.com/office/drawing/2014/main" id="{795D5E6D-D7FD-42A6-8D6A-53FACDC0E806}"/>
              </a:ext>
            </a:extLst>
          </p:cNvPr>
          <p:cNvSpPr>
            <a:spLocks xmlns:a="http://schemas.openxmlformats.org/drawingml/2006/main" noGrp="1"/>
          </p:cNvSpPr>
          <p:nvPr/>
        </p:nvSpPr>
        <p:spPr>
          <a:xfrm xmlns:a="http://schemas.openxmlformats.org/drawingml/2006/main">
            <a:off x="6572250" y="3228975"/>
            <a:ext cx="95250" cy="95250"/>
          </a:xfrm>
          <a:prstGeom xmlns:a="http://schemas.openxmlformats.org/drawingml/2006/main" prst="rect">
            <a:avLst/>
          </a:prstGeom>
          <a:solidFill xmlns:a="http://schemas.openxmlformats.org/drawingml/2006/main">
            <a:srgbClr val="A33B3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text">
            <a:extLst xmlns:a="http://schemas.openxmlformats.org/drawingml/2006/main">
              <a:ext uri="{FF2B5EF4-FFF2-40B4-BE49-F238E27FC236}">
                <a16:creationId xmlns:a16="http://schemas.microsoft.com/office/drawing/2014/main" id="{F5F3825C-0351-4D4F-BAF9-1ECF17C6A0B8}"/>
              </a:ext>
            </a:extLst>
          </p:cNvPr>
          <p:cNvSpPr>
            <a:spLocks xmlns:a="http://schemas.openxmlformats.org/drawingml/2006/main" noGrp="1"/>
          </p:cNvSpPr>
          <p:nvPr/>
        </p:nvSpPr>
        <p:spPr>
          <a:xfrm xmlns:a="http://schemas.openxmlformats.org/drawingml/2006/main">
            <a:off x="6781800" y="3152775"/>
            <a:ext cx="4267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172026"/>
                </a:solidFill>
              </a:defRPr>
            </a:pPr>
            <a:r>
              <a:rPr sz="1575" b="0">
                <a:solidFill>
                  <a:srgbClr val="172026"/>
                </a:solidFill>
              </a:rPr>
              <a:t>Antegrade cerebral perfusion (ACP)</a:t>
            </a:r>
          </a:p>
        </p:txBody>
      </p:sp>
      <p:sp>
        <p:nvSpPr>
          <p:cNvPr id="12" name="Rectangle 11">
            <a:extLst xmlns:a="http://schemas.openxmlformats.org/drawingml/2006/main">
              <a:ext uri="{FF2B5EF4-FFF2-40B4-BE49-F238E27FC236}">
                <a16:creationId xmlns:a16="http://schemas.microsoft.com/office/drawing/2014/main" id="{AD94733B-E02C-4F8F-88E1-3DDFFABB0AB9}"/>
              </a:ext>
            </a:extLst>
          </p:cNvPr>
          <p:cNvSpPr>
            <a:spLocks xmlns:a="http://schemas.openxmlformats.org/drawingml/2006/main" noGrp="1"/>
          </p:cNvSpPr>
          <p:nvPr/>
        </p:nvSpPr>
        <p:spPr>
          <a:xfrm xmlns:a="http://schemas.openxmlformats.org/drawingml/2006/main">
            <a:off x="6572250" y="3829050"/>
            <a:ext cx="95250" cy="95250"/>
          </a:xfrm>
          <a:prstGeom xmlns:a="http://schemas.openxmlformats.org/drawingml/2006/main" prst="rect">
            <a:avLst/>
          </a:prstGeom>
          <a:solidFill xmlns:a="http://schemas.openxmlformats.org/drawingml/2006/main">
            <a:srgbClr val="A33B3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3" name="text">
            <a:extLst xmlns:a="http://schemas.openxmlformats.org/drawingml/2006/main">
              <a:ext uri="{FF2B5EF4-FFF2-40B4-BE49-F238E27FC236}">
                <a16:creationId xmlns:a16="http://schemas.microsoft.com/office/drawing/2014/main" id="{453789B9-EFEB-45D2-B538-AC4C2C0ECD28}"/>
              </a:ext>
            </a:extLst>
          </p:cNvPr>
          <p:cNvSpPr>
            <a:spLocks xmlns:a="http://schemas.openxmlformats.org/drawingml/2006/main" noGrp="1"/>
          </p:cNvSpPr>
          <p:nvPr/>
        </p:nvSpPr>
        <p:spPr>
          <a:xfrm xmlns:a="http://schemas.openxmlformats.org/drawingml/2006/main">
            <a:off x="6781800" y="3752850"/>
            <a:ext cx="4267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172026"/>
                </a:solidFill>
              </a:defRPr>
            </a:pPr>
            <a:r>
              <a:rPr sz="1575" b="0">
                <a:solidFill>
                  <a:srgbClr val="172026"/>
                </a:solidFill>
              </a:rPr>
              <a:t>Neuromonitoring and pressure/flow targets per protocol</a:t>
            </a:r>
          </a:p>
        </p:txBody>
      </p:sp>
      <p:sp>
        <p:nvSpPr>
          <p:cNvPr id="14" name="Rectangle 13">
            <a:extLst xmlns:a="http://schemas.openxmlformats.org/drawingml/2006/main">
              <a:ext uri="{FF2B5EF4-FFF2-40B4-BE49-F238E27FC236}">
                <a16:creationId xmlns:a16="http://schemas.microsoft.com/office/drawing/2014/main" id="{83938FC4-16B6-4A8E-8F83-149A0F491719}"/>
              </a:ext>
            </a:extLst>
          </p:cNvPr>
          <p:cNvSpPr>
            <a:spLocks xmlns:a="http://schemas.openxmlformats.org/drawingml/2006/main" noGrp="1"/>
          </p:cNvSpPr>
          <p:nvPr/>
        </p:nvSpPr>
        <p:spPr>
          <a:xfrm xmlns:a="http://schemas.openxmlformats.org/drawingml/2006/main">
            <a:off x="6572250" y="4429125"/>
            <a:ext cx="95250" cy="95250"/>
          </a:xfrm>
          <a:prstGeom xmlns:a="http://schemas.openxmlformats.org/drawingml/2006/main" prst="rect">
            <a:avLst/>
          </a:prstGeom>
          <a:solidFill xmlns:a="http://schemas.openxmlformats.org/drawingml/2006/main">
            <a:srgbClr val="A33B3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5" name="text">
            <a:extLst xmlns:a="http://schemas.openxmlformats.org/drawingml/2006/main">
              <a:ext uri="{FF2B5EF4-FFF2-40B4-BE49-F238E27FC236}">
                <a16:creationId xmlns:a16="http://schemas.microsoft.com/office/drawing/2014/main" id="{C954F394-511A-4349-9BD6-3E2A88456675}"/>
              </a:ext>
            </a:extLst>
          </p:cNvPr>
          <p:cNvSpPr>
            <a:spLocks xmlns:a="http://schemas.openxmlformats.org/drawingml/2006/main" noGrp="1"/>
          </p:cNvSpPr>
          <p:nvPr/>
        </p:nvSpPr>
        <p:spPr>
          <a:xfrm xmlns:a="http://schemas.openxmlformats.org/drawingml/2006/main">
            <a:off x="6781800" y="4352925"/>
            <a:ext cx="4267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172026"/>
                </a:solidFill>
              </a:defRPr>
            </a:pPr>
            <a:r>
              <a:rPr sz="1575" b="0">
                <a:solidFill>
                  <a:srgbClr val="172026"/>
                </a:solidFill>
              </a:rPr>
              <a:t>Shortest feasible no-flow intervals</a:t>
            </a:r>
          </a:p>
        </p:txBody>
      </p:sp>
      <p:sp>
        <p:nvSpPr>
          <p:cNvPr id="16" name="source">
            <a:extLst xmlns:a="http://schemas.openxmlformats.org/drawingml/2006/main">
              <a:ext uri="{FF2B5EF4-FFF2-40B4-BE49-F238E27FC236}">
                <a16:creationId xmlns:a16="http://schemas.microsoft.com/office/drawing/2014/main" id="{E4A67974-23AC-48C3-9C16-46AD21BC404D}"/>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56636B"/>
                </a:solidFill>
              </a:defRPr>
            </a:pPr>
            <a:r>
              <a:rPr sz="750" b="0">
                <a:solidFill>
                  <a:srgbClr val="56636B"/>
                </a:solidFill>
              </a:rPr>
              <a:t>Guideline context: 2022 ACC/AHA Aortic Disease; 2024 EACTS/EACTAIC/EBCP CPB.</a:t>
            </a:r>
          </a:p>
        </p:txBody>
      </p:sp>
      <p:sp>
        <p:nvSpPr>
          <p:cNvPr id="17" name="slide-number">
            <a:extLst xmlns:a="http://schemas.openxmlformats.org/drawingml/2006/main">
              <a:ext uri="{FF2B5EF4-FFF2-40B4-BE49-F238E27FC236}">
                <a16:creationId xmlns:a16="http://schemas.microsoft.com/office/drawing/2014/main" id="{B7DCFDC9-7F7B-4B99-A8CE-9DA0A684D989}"/>
              </a:ext>
            </a:extLst>
          </p:cNvPr>
          <p:cNvSpPr>
            <a:spLocks xmlns:a="http://schemas.openxmlformats.org/drawingml/2006/main" noGrp="1"/>
          </p:cNvSpPr>
          <p:nvPr/>
        </p:nvSpPr>
        <p:spPr>
          <a:xfrm xmlns:a="http://schemas.openxmlformats.org/drawingml/2006/main">
            <a:off x="11277600" y="64198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0">
                <a:solidFill>
                  <a:srgbClr val="56636B"/>
                </a:solidFill>
              </a:defRPr>
            </a:pPr>
            <a:r>
              <a:rPr sz="825" b="0">
                <a:solidFill>
                  <a:srgbClr val="56636B"/>
                </a:solidFill>
              </a:rPr>
              <a:t>5</a:t>
            </a:r>
          </a:p>
        </p:txBody>
      </p:sp>
    </p:spTree>
    <p:extLst>
      <p:ext uri="{BB962C8B-B14F-4D97-AF65-F5344CB8AC3E}">
        <p14:creationId xmlns:p14="http://schemas.microsoft.com/office/powerpoint/2010/main" val="14335426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977AE512-311D-4EAD-9EB2-60C463667679}"/>
              </a:ext>
            </a:extLst>
          </p:cNvPr>
          <p:cNvSpPr>
            <a:spLocks xmlns:a="http://schemas.openxmlformats.org/drawingml/2006/main" noGrp="1"/>
          </p:cNvSpPr>
          <p:nvPr/>
        </p:nvSpPr>
        <p:spPr>
          <a:xfrm xmlns:a="http://schemas.openxmlformats.org/drawingml/2006/main">
            <a:off x="666750" y="323850"/>
            <a:ext cx="11068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850" b="1">
                <a:solidFill>
                  <a:srgbClr val="123047"/>
                </a:solidFill>
              </a:defRPr>
            </a:pPr>
            <a:r>
              <a:rPr sz="2850" b="1">
                <a:solidFill>
                  <a:srgbClr val="123047"/>
                </a:solidFill>
              </a:rPr>
              <a:t>Femoral access supported systemic CPB; </a:t>
            </a:r>
            <a:r>
              <a:rPr sz="2850" b="1">
                <a:solidFill>
                  <a:srgbClr val="123047"/>
                </a:solidFill>
              </a:rPr>
              <a:t>A</a:t>
            </a:r>
            <a:r>
              <a:rPr sz="2850" b="1">
                <a:solidFill>
                  <a:srgbClr val="123047"/>
                </a:solidFill>
              </a:rPr>
              <a:t>xillary access enabled antegrade brain flow</a:t>
            </a:r>
          </a:p>
        </p:txBody>
      </p:sp>
      <p:sp>
        <p:nvSpPr>
          <p:cNvPr id="2" name="Straight Connector 1">
            <a:extLst xmlns:a="http://schemas.openxmlformats.org/drawingml/2006/main">
              <a:ext uri="{FF2B5EF4-FFF2-40B4-BE49-F238E27FC236}">
                <a16:creationId xmlns:a16="http://schemas.microsoft.com/office/drawing/2014/main" id="{22EA0B33-1693-4105-BF29-BD6E9BB1898E}"/>
              </a:ext>
            </a:extLst>
          </p:cNvPr>
          <p:cNvSpPr>
            <a:spLocks xmlns:a="http://schemas.openxmlformats.org/drawingml/2006/main" noGrp="1"/>
          </p:cNvSpPr>
          <p:nvPr/>
        </p:nvSpPr>
        <p:spPr>
          <a:xfrm xmlns:a="http://schemas.openxmlformats.org/drawingml/2006/main">
            <a:off x="2857500" y="3286125"/>
            <a:ext cx="6477000" cy="0"/>
          </a:xfrm>
          <a:prstGeom xmlns:a="http://schemas.openxmlformats.org/drawingml/2006/main" prst="line">
            <a:avLst/>
          </a:prstGeom>
          <a:ln xmlns:a="http://schemas.openxmlformats.org/drawingml/2006/main" w="47625">
            <a:solidFill>
              <a:srgbClr val="72B6C9"/>
            </a:solidFill>
            <a:prstDash val="solid"/>
          </a:ln>
        </p:spPr>
        <p:txBody>
          <a:bodyPr xmlns:a="http://schemas.openxmlformats.org/drawingml/2006/main"/>
          <a:lstStyle xmlns:a="http://schemas.openxmlformats.org/drawingml/2006/main"/>
          <a:p xmlns:a="http://schemas.openxmlformats.org/drawingml/2006/main"/>
        </p:txBody>
      </p:sp>
      <p:sp>
        <p:nvSpPr>
          <p:cNvPr id="3" name="Rectangle: Rounded Corners 2">
            <a:extLst xmlns:a="http://schemas.openxmlformats.org/drawingml/2006/main">
              <a:ext uri="{FF2B5EF4-FFF2-40B4-BE49-F238E27FC236}">
                <a16:creationId xmlns:a16="http://schemas.microsoft.com/office/drawing/2014/main" id="{500FF08F-6B70-4931-8F63-C8E3C781E99D}"/>
              </a:ext>
            </a:extLst>
          </p:cNvPr>
          <p:cNvSpPr>
            <a:spLocks xmlns:a="http://schemas.openxmlformats.org/drawingml/2006/main" noGrp="1"/>
          </p:cNvSpPr>
          <p:nvPr/>
        </p:nvSpPr>
        <p:spPr>
          <a:xfrm xmlns:a="http://schemas.openxmlformats.org/drawingml/2006/main">
            <a:off x="666750" y="2000249"/>
            <a:ext cx="3333750" cy="3210847"/>
          </a:xfrm>
          <a:prstGeom xmlns:a="http://schemas.openxmlformats.org/drawingml/2006/main" prst="roundRect">
            <a:avLst>
              <a:gd name="adj" fmla="val 4000"/>
            </a:avLst>
          </a:prstGeom>
          <a:solidFill xmlns:a="http://schemas.openxmlformats.org/drawingml/2006/main">
            <a:srgbClr val="EEF4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 name="text">
            <a:extLst xmlns:a="http://schemas.openxmlformats.org/drawingml/2006/main">
              <a:ext uri="{FF2B5EF4-FFF2-40B4-BE49-F238E27FC236}">
                <a16:creationId xmlns:a16="http://schemas.microsoft.com/office/drawing/2014/main" id="{04194724-7E5C-407F-BDA7-25D3814AF5E3}"/>
              </a:ext>
            </a:extLst>
          </p:cNvPr>
          <p:cNvSpPr>
            <a:spLocks xmlns:a="http://schemas.openxmlformats.org/drawingml/2006/main" noGrp="1"/>
          </p:cNvSpPr>
          <p:nvPr/>
        </p:nvSpPr>
        <p:spPr>
          <a:xfrm xmlns:a="http://schemas.openxmlformats.org/drawingml/2006/main">
            <a:off x="952500" y="2314575"/>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23047"/>
                </a:solidFill>
              </a:defRPr>
            </a:pPr>
            <a:r>
              <a:rPr sz="2100" b="1">
                <a:solidFill>
                  <a:srgbClr val="123047"/>
                </a:solidFill>
              </a:rPr>
              <a:t>Femoral cannulation</a:t>
            </a:r>
          </a:p>
        </p:txBody>
      </p:sp>
      <p:sp>
        <p:nvSpPr>
          <p:cNvPr id="5" name="text">
            <a:extLst xmlns:a="http://schemas.openxmlformats.org/drawingml/2006/main">
              <a:ext uri="{FF2B5EF4-FFF2-40B4-BE49-F238E27FC236}">
                <a16:creationId xmlns:a16="http://schemas.microsoft.com/office/drawing/2014/main" id="{370B6562-F6E3-4C5D-9C88-D5E8C2058BD6}"/>
              </a:ext>
            </a:extLst>
          </p:cNvPr>
          <p:cNvSpPr>
            <a:spLocks xmlns:a="http://schemas.openxmlformats.org/drawingml/2006/main" noGrp="1"/>
          </p:cNvSpPr>
          <p:nvPr/>
        </p:nvSpPr>
        <p:spPr>
          <a:xfrm xmlns:a="http://schemas.openxmlformats.org/drawingml/2006/main">
            <a:off x="952500" y="2924175"/>
            <a:ext cx="2667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172026"/>
                </a:solidFill>
              </a:defRPr>
            </a:pPr>
            <a:r>
              <a:rPr sz="1575" b="0">
                <a:solidFill>
                  <a:srgbClr val="172026"/>
                </a:solidFill>
              </a:rPr>
              <a:t>Rapid peripheral route for venous drainage </a:t>
            </a:r>
            <a:r>
              <a:rPr sz="1575">
                <a:solidFill>
                  <a:srgbClr val="172026"/>
                </a:solidFill>
              </a:rPr>
              <a:t>using a 25F Medtronic </a:t>
            </a:r>
            <a:r>
              <a:rPr sz="1575">
                <a:solidFill>
                  <a:srgbClr val="172026"/>
                </a:solidFill>
              </a:rPr>
              <a:t>Biomedicaus</a:t>
            </a:r>
            <a:r>
              <a:rPr sz="1575">
                <a:solidFill>
                  <a:srgbClr val="172026"/>
                </a:solidFill>
              </a:rPr>
              <a:t> cannula. </a:t>
            </a:r>
          </a:p>
        </p:txBody>
      </p:sp>
      <p:sp>
        <p:nvSpPr>
          <p:cNvPr id="6" name="text">
            <a:extLst xmlns:a="http://schemas.openxmlformats.org/drawingml/2006/main">
              <a:ext uri="{FF2B5EF4-FFF2-40B4-BE49-F238E27FC236}">
                <a16:creationId xmlns:a16="http://schemas.microsoft.com/office/drawing/2014/main" id="{E29A7767-08BD-4189-819B-14B3D8098A1D}"/>
              </a:ext>
            </a:extLst>
          </p:cNvPr>
          <p:cNvSpPr>
            <a:spLocks xmlns:a="http://schemas.openxmlformats.org/drawingml/2006/main" noGrp="1"/>
          </p:cNvSpPr>
          <p:nvPr/>
        </p:nvSpPr>
        <p:spPr>
          <a:xfrm xmlns:a="http://schemas.openxmlformats.org/drawingml/2006/main">
            <a:off x="952500" y="43434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A33B3B"/>
                </a:solidFill>
              </a:defRPr>
            </a:pPr>
            <a:r>
              <a:rPr sz="1350" b="1">
                <a:solidFill>
                  <a:srgbClr val="A33B3B"/>
                </a:solidFill>
              </a:rPr>
              <a:t>Primary role in this case</a:t>
            </a:r>
          </a:p>
        </p:txBody>
      </p:sp>
      <p:sp>
        <p:nvSpPr>
          <p:cNvPr id="7" name="text">
            <a:extLst xmlns:a="http://schemas.openxmlformats.org/drawingml/2006/main">
              <a:ext uri="{FF2B5EF4-FFF2-40B4-BE49-F238E27FC236}">
                <a16:creationId xmlns:a16="http://schemas.microsoft.com/office/drawing/2014/main" id="{9F963ED5-CEE1-4320-8DA1-48AE7EA15AE0}"/>
              </a:ext>
            </a:extLst>
          </p:cNvPr>
          <p:cNvSpPr>
            <a:spLocks xmlns:a="http://schemas.openxmlformats.org/drawingml/2006/main" noGrp="1"/>
          </p:cNvSpPr>
          <p:nvPr/>
        </p:nvSpPr>
        <p:spPr>
          <a:xfrm xmlns:a="http://schemas.openxmlformats.org/drawingml/2006/main">
            <a:off x="952500" y="46482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72026"/>
                </a:solidFill>
              </a:defRPr>
            </a:pPr>
            <a:r>
              <a:rPr sz="1500" b="1">
                <a:solidFill>
                  <a:srgbClr val="172026"/>
                </a:solidFill>
              </a:rPr>
              <a:t>Whole-body bypass and cooling</a:t>
            </a:r>
          </a:p>
        </p:txBody>
      </p:sp>
      <p:sp>
        <p:nvSpPr>
          <p:cNvPr id="8" name="Rectangle: Rounded Corners 7">
            <a:extLst xmlns:a="http://schemas.openxmlformats.org/drawingml/2006/main">
              <a:ext uri="{FF2B5EF4-FFF2-40B4-BE49-F238E27FC236}">
                <a16:creationId xmlns:a16="http://schemas.microsoft.com/office/drawing/2014/main" id="{5CF2BA40-79F8-4835-B93B-DC3665467460}"/>
              </a:ext>
            </a:extLst>
          </p:cNvPr>
          <p:cNvSpPr>
            <a:spLocks xmlns:a="http://schemas.openxmlformats.org/drawingml/2006/main" noGrp="1"/>
          </p:cNvSpPr>
          <p:nvPr/>
        </p:nvSpPr>
        <p:spPr>
          <a:xfrm xmlns:a="http://schemas.openxmlformats.org/drawingml/2006/main">
            <a:off x="7905750" y="2000249"/>
            <a:ext cx="3460340" cy="3309169"/>
          </a:xfrm>
          <a:prstGeom xmlns:a="http://schemas.openxmlformats.org/drawingml/2006/main" prst="roundRect">
            <a:avLst>
              <a:gd name="adj" fmla="val 4000"/>
            </a:avLst>
          </a:prstGeom>
          <a:solidFill xmlns:a="http://schemas.openxmlformats.org/drawingml/2006/main">
            <a:srgbClr val="F7F3E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text">
            <a:extLst xmlns:a="http://schemas.openxmlformats.org/drawingml/2006/main">
              <a:ext uri="{FF2B5EF4-FFF2-40B4-BE49-F238E27FC236}">
                <a16:creationId xmlns:a16="http://schemas.microsoft.com/office/drawing/2014/main" id="{91DE0A2F-2041-406E-A143-EB386B020A99}"/>
              </a:ext>
            </a:extLst>
          </p:cNvPr>
          <p:cNvSpPr>
            <a:spLocks xmlns:a="http://schemas.openxmlformats.org/drawingml/2006/main" noGrp="1"/>
          </p:cNvSpPr>
          <p:nvPr/>
        </p:nvSpPr>
        <p:spPr>
          <a:xfrm xmlns:a="http://schemas.openxmlformats.org/drawingml/2006/main">
            <a:off x="8191500" y="2314575"/>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23047"/>
                </a:solidFill>
              </a:defRPr>
            </a:pPr>
            <a:r>
              <a:rPr sz="2100" b="1">
                <a:solidFill>
                  <a:srgbClr val="123047"/>
                </a:solidFill>
              </a:rPr>
              <a:t>Axillary cannulation</a:t>
            </a:r>
          </a:p>
        </p:txBody>
      </p:sp>
      <p:sp>
        <p:nvSpPr>
          <p:cNvPr id="10" name="text">
            <a:extLst xmlns:a="http://schemas.openxmlformats.org/drawingml/2006/main">
              <a:ext uri="{FF2B5EF4-FFF2-40B4-BE49-F238E27FC236}">
                <a16:creationId xmlns:a16="http://schemas.microsoft.com/office/drawing/2014/main" id="{D07CE173-0594-4398-9B3C-BB250B8CF340}"/>
              </a:ext>
            </a:extLst>
          </p:cNvPr>
          <p:cNvSpPr>
            <a:spLocks xmlns:a="http://schemas.openxmlformats.org/drawingml/2006/main" noGrp="1"/>
          </p:cNvSpPr>
          <p:nvPr/>
        </p:nvSpPr>
        <p:spPr>
          <a:xfrm xmlns:a="http://schemas.openxmlformats.org/drawingml/2006/main">
            <a:off x="8191500" y="2924175"/>
            <a:ext cx="2667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172026"/>
                </a:solidFill>
              </a:defRPr>
            </a:pPr>
            <a:r>
              <a:rPr sz="1575" b="0">
                <a:solidFill>
                  <a:srgbClr val="172026"/>
                </a:solidFill>
              </a:rPr>
              <a:t>Antegrade arterial access that can continue directed cerebral perfusion when distal systemic flow is stopped</a:t>
            </a:r>
            <a:r>
              <a:rPr sz="1575" b="0">
                <a:solidFill>
                  <a:srgbClr val="172026"/>
                </a:solidFill>
              </a:rPr>
              <a:t> using a 8mm </a:t>
            </a:r>
            <a:r>
              <a:rPr sz="1575" b="0">
                <a:solidFill>
                  <a:srgbClr val="172026"/>
                </a:solidFill>
              </a:rPr>
              <a:t>dacron</a:t>
            </a:r>
            <a:r>
              <a:rPr sz="1575" b="0">
                <a:solidFill>
                  <a:srgbClr val="172026"/>
                </a:solidFill>
              </a:rPr>
              <a:t> graft connected to a 3/8 tubing</a:t>
            </a:r>
            <a:r>
              <a:rPr sz="1575" b="0">
                <a:solidFill>
                  <a:srgbClr val="172026"/>
                </a:solidFill>
              </a:rPr>
              <a:t>.</a:t>
            </a:r>
          </a:p>
        </p:txBody>
      </p:sp>
      <p:sp>
        <p:nvSpPr>
          <p:cNvPr id="11" name="text">
            <a:extLst xmlns:a="http://schemas.openxmlformats.org/drawingml/2006/main">
              <a:ext uri="{FF2B5EF4-FFF2-40B4-BE49-F238E27FC236}">
                <a16:creationId xmlns:a16="http://schemas.microsoft.com/office/drawing/2014/main" id="{22DBB16B-16AE-4D17-B07B-CC7E8ED8A869}"/>
              </a:ext>
            </a:extLst>
          </p:cNvPr>
          <p:cNvSpPr>
            <a:spLocks xmlns:a="http://schemas.openxmlformats.org/drawingml/2006/main" noGrp="1"/>
          </p:cNvSpPr>
          <p:nvPr/>
        </p:nvSpPr>
        <p:spPr>
          <a:xfrm xmlns:a="http://schemas.openxmlformats.org/drawingml/2006/main">
            <a:off x="8191500" y="4438652"/>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A33B3B"/>
                </a:solidFill>
              </a:defRPr>
            </a:pPr>
            <a:r>
              <a:rPr sz="1350" b="1">
                <a:solidFill>
                  <a:srgbClr val="A33B3B"/>
                </a:solidFill>
              </a:rPr>
              <a:t>Primary role in this case</a:t>
            </a:r>
          </a:p>
        </p:txBody>
      </p:sp>
      <p:sp>
        <p:nvSpPr>
          <p:cNvPr id="12" name="text">
            <a:extLst xmlns:a="http://schemas.openxmlformats.org/drawingml/2006/main">
              <a:ext uri="{FF2B5EF4-FFF2-40B4-BE49-F238E27FC236}">
                <a16:creationId xmlns:a16="http://schemas.microsoft.com/office/drawing/2014/main" id="{126F0959-653B-4CEB-A819-BAB583FAE6BF}"/>
              </a:ext>
            </a:extLst>
          </p:cNvPr>
          <p:cNvSpPr>
            <a:spLocks xmlns:a="http://schemas.openxmlformats.org/drawingml/2006/main" noGrp="1"/>
          </p:cNvSpPr>
          <p:nvPr/>
        </p:nvSpPr>
        <p:spPr>
          <a:xfrm xmlns:a="http://schemas.openxmlformats.org/drawingml/2006/main">
            <a:off x="8191500" y="46482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72026"/>
                </a:solidFill>
              </a:defRPr>
            </a:pPr>
            <a:r>
              <a:rPr sz="1500" b="1">
                <a:solidFill>
                  <a:srgbClr val="172026"/>
                </a:solidFill>
              </a:rPr>
              <a:t>Whole – body bypass and </a:t>
            </a:r>
            <a:r>
              <a:rPr sz="1500" b="1">
                <a:solidFill>
                  <a:srgbClr val="172026"/>
                </a:solidFill>
              </a:rPr>
              <a:t>ACP during aortic reconstruction</a:t>
            </a:r>
          </a:p>
        </p:txBody>
      </p:sp>
      <p:sp>
        <p:nvSpPr>
          <p:cNvPr id="13" name="text">
            <a:extLst xmlns:a="http://schemas.openxmlformats.org/drawingml/2006/main">
              <a:ext uri="{FF2B5EF4-FFF2-40B4-BE49-F238E27FC236}">
                <a16:creationId xmlns:a16="http://schemas.microsoft.com/office/drawing/2014/main" id="{878B6910-E512-48F3-A7FE-D71F90F8B6EB}"/>
              </a:ext>
            </a:extLst>
          </p:cNvPr>
          <p:cNvSpPr>
            <a:spLocks xmlns:a="http://schemas.openxmlformats.org/drawingml/2006/main" noGrp="1"/>
          </p:cNvSpPr>
          <p:nvPr/>
        </p:nvSpPr>
        <p:spPr>
          <a:xfrm xmlns:a="http://schemas.openxmlformats.org/drawingml/2006/main">
            <a:off x="4648200" y="30003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a:solidFill>
                  <a:srgbClr val="2D6F8E"/>
                </a:solidFill>
              </a:defRPr>
            </a:pPr>
            <a:r>
              <a:rPr sz="1650" b="1">
                <a:solidFill>
                  <a:srgbClr val="2D6F8E"/>
                </a:solidFill>
              </a:rPr>
              <a:t>dual arterial strategy</a:t>
            </a:r>
          </a:p>
        </p:txBody>
      </p:sp>
      <p:sp>
        <p:nvSpPr>
          <p:cNvPr id="15" name="slide-number">
            <a:extLst xmlns:a="http://schemas.openxmlformats.org/drawingml/2006/main">
              <a:ext uri="{FF2B5EF4-FFF2-40B4-BE49-F238E27FC236}">
                <a16:creationId xmlns:a16="http://schemas.microsoft.com/office/drawing/2014/main" id="{E0DFBAAE-08EC-458C-A7EA-2CFCBF4B1137}"/>
              </a:ext>
            </a:extLst>
          </p:cNvPr>
          <p:cNvSpPr>
            <a:spLocks xmlns:a="http://schemas.openxmlformats.org/drawingml/2006/main" noGrp="1"/>
          </p:cNvSpPr>
          <p:nvPr/>
        </p:nvSpPr>
        <p:spPr>
          <a:xfrm xmlns:a="http://schemas.openxmlformats.org/drawingml/2006/main">
            <a:off x="11277600" y="64198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0">
                <a:solidFill>
                  <a:srgbClr val="56636B"/>
                </a:solidFill>
              </a:defRPr>
            </a:pPr>
            <a:r>
              <a:rPr sz="825" b="0">
                <a:solidFill>
                  <a:srgbClr val="56636B"/>
                </a:solidFill>
              </a:rPr>
              <a:t>6</a:t>
            </a:r>
          </a:p>
        </p:txBody>
      </p:sp>
    </p:spTree>
    <p:extLst>
      <p:ext uri="{BB962C8B-B14F-4D97-AF65-F5344CB8AC3E}">
        <p14:creationId xmlns:p14="http://schemas.microsoft.com/office/powerpoint/2010/main" val="72408309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071C1D86-5518-4210-9F8D-6D3A79F9CF80}"/>
              </a:ext>
            </a:extLst>
          </p:cNvPr>
          <p:cNvSpPr>
            <a:spLocks xmlns:a="http://schemas.openxmlformats.org/drawingml/2006/main" noGrp="1"/>
          </p:cNvSpPr>
          <p:nvPr/>
        </p:nvSpPr>
        <p:spPr>
          <a:xfrm xmlns:a="http://schemas.openxmlformats.org/drawingml/2006/main">
            <a:off x="457200" y="323850"/>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23047"/>
                </a:solidFill>
              </a:defRPr>
            </a:pPr>
            <a:r>
              <a:rPr sz="2850" b="1">
                <a:solidFill>
                  <a:srgbClr val="123047"/>
                </a:solidFill>
              </a:rPr>
              <a:t>Bypass and cooling were established before the sternotomy</a:t>
            </a:r>
          </a:p>
        </p:txBody>
      </p:sp>
      <p:sp>
        <p:nvSpPr>
          <p:cNvPr id="2" name="Rectangle: Rounded Corners 1">
            <a:extLst xmlns:a="http://schemas.openxmlformats.org/drawingml/2006/main">
              <a:ext uri="{FF2B5EF4-FFF2-40B4-BE49-F238E27FC236}">
                <a16:creationId xmlns:a16="http://schemas.microsoft.com/office/drawing/2014/main" id="{7B6D588A-00F7-4457-8086-2BA3DFA15660}"/>
              </a:ext>
            </a:extLst>
          </p:cNvPr>
          <p:cNvSpPr>
            <a:spLocks xmlns:a="http://schemas.openxmlformats.org/drawingml/2006/main" noGrp="1"/>
          </p:cNvSpPr>
          <p:nvPr/>
        </p:nvSpPr>
        <p:spPr>
          <a:xfrm xmlns:a="http://schemas.openxmlformats.org/drawingml/2006/main">
            <a:off x="457200" y="1809750"/>
            <a:ext cx="2571750" cy="3143250"/>
          </a:xfrm>
          <a:prstGeom xmlns:a="http://schemas.openxmlformats.org/drawingml/2006/main" prst="roundRect">
            <a:avLst>
              <a:gd name="adj" fmla="val 4444"/>
            </a:avLst>
          </a:prstGeom>
          <a:solidFill xmlns:a="http://schemas.openxmlformats.org/drawingml/2006/main">
            <a:srgbClr val="EEF4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text">
            <a:extLst xmlns:a="http://schemas.openxmlformats.org/drawingml/2006/main">
              <a:ext uri="{FF2B5EF4-FFF2-40B4-BE49-F238E27FC236}">
                <a16:creationId xmlns:a16="http://schemas.microsoft.com/office/drawing/2014/main" id="{AEFA9559-B130-4783-B903-66AF923150E7}"/>
              </a:ext>
            </a:extLst>
          </p:cNvPr>
          <p:cNvSpPr>
            <a:spLocks xmlns:a="http://schemas.openxmlformats.org/drawingml/2006/main" noGrp="1"/>
          </p:cNvSpPr>
          <p:nvPr/>
        </p:nvSpPr>
        <p:spPr>
          <a:xfrm xmlns:a="http://schemas.openxmlformats.org/drawingml/2006/main">
            <a:off x="685800" y="2066925"/>
            <a:ext cx="47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550" b="1">
                <a:solidFill>
                  <a:srgbClr val="A33B3B"/>
                </a:solidFill>
              </a:defRPr>
            </a:pPr>
            <a:r>
              <a:rPr sz="2550" b="1">
                <a:solidFill>
                  <a:srgbClr val="A33B3B"/>
                </a:solidFill>
              </a:rPr>
              <a:t>1</a:t>
            </a:r>
          </a:p>
        </p:txBody>
      </p:sp>
      <p:sp>
        <p:nvSpPr>
          <p:cNvPr id="4" name="text">
            <a:extLst xmlns:a="http://schemas.openxmlformats.org/drawingml/2006/main">
              <a:ext uri="{FF2B5EF4-FFF2-40B4-BE49-F238E27FC236}">
                <a16:creationId xmlns:a16="http://schemas.microsoft.com/office/drawing/2014/main" id="{A496D014-8B9D-4DC5-A4FF-BF22D3489594}"/>
              </a:ext>
            </a:extLst>
          </p:cNvPr>
          <p:cNvSpPr>
            <a:spLocks xmlns:a="http://schemas.openxmlformats.org/drawingml/2006/main" noGrp="1"/>
          </p:cNvSpPr>
          <p:nvPr/>
        </p:nvSpPr>
        <p:spPr>
          <a:xfrm xmlns:a="http://schemas.openxmlformats.org/drawingml/2006/main">
            <a:off x="685800" y="27146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23047"/>
                </a:solidFill>
              </a:defRPr>
            </a:pPr>
            <a:r>
              <a:rPr sz="1875" b="1">
                <a:solidFill>
                  <a:srgbClr val="123047"/>
                </a:solidFill>
              </a:rPr>
              <a:t>Cannulate</a:t>
            </a:r>
          </a:p>
        </p:txBody>
      </p:sp>
      <p:sp>
        <p:nvSpPr>
          <p:cNvPr id="5" name="text">
            <a:extLst xmlns:a="http://schemas.openxmlformats.org/drawingml/2006/main">
              <a:ext uri="{FF2B5EF4-FFF2-40B4-BE49-F238E27FC236}">
                <a16:creationId xmlns:a16="http://schemas.microsoft.com/office/drawing/2014/main" id="{25F13D10-887D-4F40-ACA2-DA82652D8F4E}"/>
              </a:ext>
            </a:extLst>
          </p:cNvPr>
          <p:cNvSpPr>
            <a:spLocks xmlns:a="http://schemas.openxmlformats.org/drawingml/2006/main" noGrp="1"/>
          </p:cNvSpPr>
          <p:nvPr/>
        </p:nvSpPr>
        <p:spPr>
          <a:xfrm xmlns:a="http://schemas.openxmlformats.org/drawingml/2006/main">
            <a:off x="685800" y="3257550"/>
            <a:ext cx="2095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172026"/>
                </a:solidFill>
              </a:defRPr>
            </a:pPr>
            <a:r>
              <a:rPr sz="1425" b="0">
                <a:solidFill>
                  <a:srgbClr val="172026"/>
                </a:solidFill>
              </a:rPr>
              <a:t>Femoral and axillary access established before chest incision.</a:t>
            </a:r>
          </a:p>
        </p:txBody>
      </p:sp>
      <p:sp>
        <p:nvSpPr>
          <p:cNvPr id="6" name="Rectangle: Rounded Corners 5">
            <a:extLst xmlns:a="http://schemas.openxmlformats.org/drawingml/2006/main">
              <a:ext uri="{FF2B5EF4-FFF2-40B4-BE49-F238E27FC236}">
                <a16:creationId xmlns:a16="http://schemas.microsoft.com/office/drawing/2014/main" id="{D2183670-0ED0-4150-9B89-BB0E1459D258}"/>
              </a:ext>
            </a:extLst>
          </p:cNvPr>
          <p:cNvSpPr>
            <a:spLocks xmlns:a="http://schemas.openxmlformats.org/drawingml/2006/main" noGrp="1"/>
          </p:cNvSpPr>
          <p:nvPr/>
        </p:nvSpPr>
        <p:spPr>
          <a:xfrm xmlns:a="http://schemas.openxmlformats.org/drawingml/2006/main">
            <a:off x="3314700" y="1809750"/>
            <a:ext cx="2571750" cy="3143250"/>
          </a:xfrm>
          <a:prstGeom xmlns:a="http://schemas.openxmlformats.org/drawingml/2006/main" prst="roundRect">
            <a:avLst>
              <a:gd name="adj" fmla="val 4444"/>
            </a:avLst>
          </a:prstGeom>
          <a:solidFill xmlns:a="http://schemas.openxmlformats.org/drawingml/2006/main">
            <a:srgbClr val="F7F3E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 name="text">
            <a:extLst xmlns:a="http://schemas.openxmlformats.org/drawingml/2006/main">
              <a:ext uri="{FF2B5EF4-FFF2-40B4-BE49-F238E27FC236}">
                <a16:creationId xmlns:a16="http://schemas.microsoft.com/office/drawing/2014/main" id="{FE8264FC-13F6-4356-9369-D9333D557F2B}"/>
              </a:ext>
            </a:extLst>
          </p:cNvPr>
          <p:cNvSpPr>
            <a:spLocks xmlns:a="http://schemas.openxmlformats.org/drawingml/2006/main" noGrp="1"/>
          </p:cNvSpPr>
          <p:nvPr/>
        </p:nvSpPr>
        <p:spPr>
          <a:xfrm xmlns:a="http://schemas.openxmlformats.org/drawingml/2006/main">
            <a:off x="3543300" y="2066925"/>
            <a:ext cx="47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550" b="1">
                <a:solidFill>
                  <a:srgbClr val="A33B3B"/>
                </a:solidFill>
              </a:defRPr>
            </a:pPr>
            <a:r>
              <a:rPr sz="2550" b="1">
                <a:solidFill>
                  <a:srgbClr val="A33B3B"/>
                </a:solidFill>
              </a:rPr>
              <a:t>2</a:t>
            </a:r>
          </a:p>
        </p:txBody>
      </p:sp>
      <p:sp>
        <p:nvSpPr>
          <p:cNvPr id="8" name="text">
            <a:extLst xmlns:a="http://schemas.openxmlformats.org/drawingml/2006/main">
              <a:ext uri="{FF2B5EF4-FFF2-40B4-BE49-F238E27FC236}">
                <a16:creationId xmlns:a16="http://schemas.microsoft.com/office/drawing/2014/main" id="{9E9872B5-370D-49FA-AE06-8CD9F2BF9F19}"/>
              </a:ext>
            </a:extLst>
          </p:cNvPr>
          <p:cNvSpPr>
            <a:spLocks xmlns:a="http://schemas.openxmlformats.org/drawingml/2006/main" noGrp="1"/>
          </p:cNvSpPr>
          <p:nvPr/>
        </p:nvSpPr>
        <p:spPr>
          <a:xfrm xmlns:a="http://schemas.openxmlformats.org/drawingml/2006/main">
            <a:off x="3543300" y="27146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23047"/>
                </a:solidFill>
              </a:defRPr>
            </a:pPr>
            <a:r>
              <a:rPr sz="1875" b="1">
                <a:solidFill>
                  <a:srgbClr val="123047"/>
                </a:solidFill>
              </a:rPr>
              <a:t>Anticoagulate</a:t>
            </a:r>
          </a:p>
        </p:txBody>
      </p:sp>
      <p:sp>
        <p:nvSpPr>
          <p:cNvPr id="9" name="text">
            <a:extLst xmlns:a="http://schemas.openxmlformats.org/drawingml/2006/main">
              <a:ext uri="{FF2B5EF4-FFF2-40B4-BE49-F238E27FC236}">
                <a16:creationId xmlns:a16="http://schemas.microsoft.com/office/drawing/2014/main" id="{8F368EFD-A443-4C37-ABD3-C16985C7DE02}"/>
              </a:ext>
            </a:extLst>
          </p:cNvPr>
          <p:cNvSpPr>
            <a:spLocks xmlns:a="http://schemas.openxmlformats.org/drawingml/2006/main" noGrp="1"/>
          </p:cNvSpPr>
          <p:nvPr/>
        </p:nvSpPr>
        <p:spPr>
          <a:xfrm xmlns:a="http://schemas.openxmlformats.org/drawingml/2006/main">
            <a:off x="3543300" y="3257550"/>
            <a:ext cx="2095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172026"/>
                </a:solidFill>
              </a:defRPr>
            </a:pPr>
            <a:r>
              <a:rPr sz="1425" b="0">
                <a:solidFill>
                  <a:srgbClr val="172026"/>
                </a:solidFill>
              </a:rPr>
              <a:t>Systemic heparinization before CPB</a:t>
            </a:r>
            <a:r>
              <a:rPr sz="1425" b="0">
                <a:solidFill>
                  <a:srgbClr val="172026"/>
                </a:solidFill>
              </a:rPr>
              <a:t> using 47,000 units of Heparin and 10,000 in prime: ACT reached 1005</a:t>
            </a:r>
            <a:r>
              <a:rPr sz="1425" b="0">
                <a:solidFill>
                  <a:srgbClr val="172026"/>
                </a:solidFill>
              </a:rPr>
              <a:t>.</a:t>
            </a:r>
          </a:p>
        </p:txBody>
      </p:sp>
      <p:sp>
        <p:nvSpPr>
          <p:cNvPr id="10" name="Rectangle: Rounded Corners 9">
            <a:extLst xmlns:a="http://schemas.openxmlformats.org/drawingml/2006/main">
              <a:ext uri="{FF2B5EF4-FFF2-40B4-BE49-F238E27FC236}">
                <a16:creationId xmlns:a16="http://schemas.microsoft.com/office/drawing/2014/main" id="{7A22E6B5-0E17-4AEB-A3A7-0251450884AF}"/>
              </a:ext>
            </a:extLst>
          </p:cNvPr>
          <p:cNvSpPr>
            <a:spLocks xmlns:a="http://schemas.openxmlformats.org/drawingml/2006/main" noGrp="1"/>
          </p:cNvSpPr>
          <p:nvPr/>
        </p:nvSpPr>
        <p:spPr>
          <a:xfrm xmlns:a="http://schemas.openxmlformats.org/drawingml/2006/main">
            <a:off x="6172200" y="1809750"/>
            <a:ext cx="2571750" cy="3143250"/>
          </a:xfrm>
          <a:prstGeom xmlns:a="http://schemas.openxmlformats.org/drawingml/2006/main" prst="roundRect">
            <a:avLst>
              <a:gd name="adj" fmla="val 4444"/>
            </a:avLst>
          </a:prstGeom>
          <a:solidFill xmlns:a="http://schemas.openxmlformats.org/drawingml/2006/main">
            <a:srgbClr val="EEF4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text">
            <a:extLst xmlns:a="http://schemas.openxmlformats.org/drawingml/2006/main">
              <a:ext uri="{FF2B5EF4-FFF2-40B4-BE49-F238E27FC236}">
                <a16:creationId xmlns:a16="http://schemas.microsoft.com/office/drawing/2014/main" id="{5838E359-C134-4DF1-9F1E-75DE37A70D11}"/>
              </a:ext>
            </a:extLst>
          </p:cNvPr>
          <p:cNvSpPr>
            <a:spLocks xmlns:a="http://schemas.openxmlformats.org/drawingml/2006/main" noGrp="1"/>
          </p:cNvSpPr>
          <p:nvPr/>
        </p:nvSpPr>
        <p:spPr>
          <a:xfrm xmlns:a="http://schemas.openxmlformats.org/drawingml/2006/main">
            <a:off x="6400800" y="2066925"/>
            <a:ext cx="47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550" b="1">
                <a:solidFill>
                  <a:srgbClr val="A33B3B"/>
                </a:solidFill>
              </a:defRPr>
            </a:pPr>
            <a:r>
              <a:rPr sz="2550" b="1">
                <a:solidFill>
                  <a:srgbClr val="A33B3B"/>
                </a:solidFill>
              </a:rPr>
              <a:t>3</a:t>
            </a:r>
          </a:p>
        </p:txBody>
      </p:sp>
      <p:sp>
        <p:nvSpPr>
          <p:cNvPr id="12" name="text">
            <a:extLst xmlns:a="http://schemas.openxmlformats.org/drawingml/2006/main">
              <a:ext uri="{FF2B5EF4-FFF2-40B4-BE49-F238E27FC236}">
                <a16:creationId xmlns:a16="http://schemas.microsoft.com/office/drawing/2014/main" id="{331A49F5-CA85-44BC-9BB3-414AF8C352B1}"/>
              </a:ext>
            </a:extLst>
          </p:cNvPr>
          <p:cNvSpPr>
            <a:spLocks xmlns:a="http://schemas.openxmlformats.org/drawingml/2006/main" noGrp="1"/>
          </p:cNvSpPr>
          <p:nvPr/>
        </p:nvSpPr>
        <p:spPr>
          <a:xfrm xmlns:a="http://schemas.openxmlformats.org/drawingml/2006/main">
            <a:off x="6400800" y="27146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23047"/>
                </a:solidFill>
              </a:defRPr>
            </a:pPr>
            <a:r>
              <a:rPr sz="1875" b="1">
                <a:solidFill>
                  <a:srgbClr val="123047"/>
                </a:solidFill>
              </a:rPr>
              <a:t>Initiate CPB</a:t>
            </a:r>
          </a:p>
        </p:txBody>
      </p:sp>
      <p:sp>
        <p:nvSpPr>
          <p:cNvPr id="13" name="text">
            <a:extLst xmlns:a="http://schemas.openxmlformats.org/drawingml/2006/main">
              <a:ext uri="{FF2B5EF4-FFF2-40B4-BE49-F238E27FC236}">
                <a16:creationId xmlns:a16="http://schemas.microsoft.com/office/drawing/2014/main" id="{DA57D7CF-6244-4BE2-9970-03E53C817E0B}"/>
              </a:ext>
            </a:extLst>
          </p:cNvPr>
          <p:cNvSpPr>
            <a:spLocks xmlns:a="http://schemas.openxmlformats.org/drawingml/2006/main" noGrp="1"/>
          </p:cNvSpPr>
          <p:nvPr/>
        </p:nvSpPr>
        <p:spPr>
          <a:xfrm xmlns:a="http://schemas.openxmlformats.org/drawingml/2006/main">
            <a:off x="6400800" y="3257550"/>
            <a:ext cx="2095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172026"/>
                </a:solidFill>
              </a:defRPr>
            </a:pPr>
            <a:r>
              <a:rPr sz="1425">
                <a:solidFill>
                  <a:srgbClr val="172026"/>
                </a:solidFill>
              </a:rPr>
              <a:t>R</a:t>
            </a:r>
            <a:r>
              <a:rPr sz="1425" b="0">
                <a:solidFill>
                  <a:srgbClr val="172026"/>
                </a:solidFill>
              </a:rPr>
              <a:t>eported full flow of </a:t>
            </a:r>
            <a:r>
              <a:rPr sz="1425">
                <a:solidFill>
                  <a:srgbClr val="172026"/>
                </a:solidFill>
              </a:rPr>
              <a:t>3.4</a:t>
            </a:r>
            <a:r>
              <a:rPr sz="1425" b="0">
                <a:solidFill>
                  <a:srgbClr val="172026"/>
                </a:solidFill>
              </a:rPr>
              <a:t> L/min</a:t>
            </a:r>
            <a:r>
              <a:rPr sz="1425" b="0">
                <a:solidFill>
                  <a:srgbClr val="172026"/>
                </a:solidFill>
              </a:rPr>
              <a:t> during the initiations with a BSA of 1.87 m2</a:t>
            </a:r>
            <a:r>
              <a:rPr sz="1425" b="0">
                <a:solidFill>
                  <a:srgbClr val="172026"/>
                </a:solidFill>
              </a:rPr>
              <a:t>.</a:t>
            </a:r>
          </a:p>
        </p:txBody>
      </p:sp>
      <p:sp>
        <p:nvSpPr>
          <p:cNvPr id="14" name="Rectangle: Rounded Corners 13">
            <a:extLst xmlns:a="http://schemas.openxmlformats.org/drawingml/2006/main">
              <a:ext uri="{FF2B5EF4-FFF2-40B4-BE49-F238E27FC236}">
                <a16:creationId xmlns:a16="http://schemas.microsoft.com/office/drawing/2014/main" id="{BF5381B5-642F-4796-91AC-144DF7347654}"/>
              </a:ext>
            </a:extLst>
          </p:cNvPr>
          <p:cNvSpPr>
            <a:spLocks xmlns:a="http://schemas.openxmlformats.org/drawingml/2006/main" noGrp="1"/>
          </p:cNvSpPr>
          <p:nvPr/>
        </p:nvSpPr>
        <p:spPr>
          <a:xfrm xmlns:a="http://schemas.openxmlformats.org/drawingml/2006/main">
            <a:off x="9029700" y="1809750"/>
            <a:ext cx="2571750" cy="3143250"/>
          </a:xfrm>
          <a:prstGeom xmlns:a="http://schemas.openxmlformats.org/drawingml/2006/main" prst="roundRect">
            <a:avLst>
              <a:gd name="adj" fmla="val 4444"/>
            </a:avLst>
          </a:prstGeom>
          <a:solidFill xmlns:a="http://schemas.openxmlformats.org/drawingml/2006/main">
            <a:srgbClr val="F7F3E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5" name="text">
            <a:extLst xmlns:a="http://schemas.openxmlformats.org/drawingml/2006/main">
              <a:ext uri="{FF2B5EF4-FFF2-40B4-BE49-F238E27FC236}">
                <a16:creationId xmlns:a16="http://schemas.microsoft.com/office/drawing/2014/main" id="{79E8B28F-7D06-4231-847E-30C91B1F4430}"/>
              </a:ext>
            </a:extLst>
          </p:cNvPr>
          <p:cNvSpPr>
            <a:spLocks xmlns:a="http://schemas.openxmlformats.org/drawingml/2006/main" noGrp="1"/>
          </p:cNvSpPr>
          <p:nvPr/>
        </p:nvSpPr>
        <p:spPr>
          <a:xfrm xmlns:a="http://schemas.openxmlformats.org/drawingml/2006/main">
            <a:off x="9258300" y="2066925"/>
            <a:ext cx="47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550" b="1">
                <a:solidFill>
                  <a:srgbClr val="A33B3B"/>
                </a:solidFill>
              </a:defRPr>
            </a:pPr>
            <a:r>
              <a:rPr sz="2550" b="1">
                <a:solidFill>
                  <a:srgbClr val="A33B3B"/>
                </a:solidFill>
              </a:rPr>
              <a:t>4</a:t>
            </a:r>
          </a:p>
        </p:txBody>
      </p:sp>
      <p:sp>
        <p:nvSpPr>
          <p:cNvPr id="16" name="text">
            <a:extLst xmlns:a="http://schemas.openxmlformats.org/drawingml/2006/main">
              <a:ext uri="{FF2B5EF4-FFF2-40B4-BE49-F238E27FC236}">
                <a16:creationId xmlns:a16="http://schemas.microsoft.com/office/drawing/2014/main" id="{91B15077-66D9-4B83-BE06-EFEDC765DC9C}"/>
              </a:ext>
            </a:extLst>
          </p:cNvPr>
          <p:cNvSpPr>
            <a:spLocks xmlns:a="http://schemas.openxmlformats.org/drawingml/2006/main" noGrp="1"/>
          </p:cNvSpPr>
          <p:nvPr/>
        </p:nvSpPr>
        <p:spPr>
          <a:xfrm xmlns:a="http://schemas.openxmlformats.org/drawingml/2006/main">
            <a:off x="9258300" y="27146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23047"/>
                </a:solidFill>
              </a:defRPr>
            </a:pPr>
            <a:r>
              <a:rPr sz="1875" b="1">
                <a:solidFill>
                  <a:srgbClr val="123047"/>
                </a:solidFill>
              </a:rPr>
              <a:t>Cool</a:t>
            </a:r>
          </a:p>
        </p:txBody>
      </p:sp>
      <p:sp>
        <p:nvSpPr>
          <p:cNvPr id="17" name="text">
            <a:extLst xmlns:a="http://schemas.openxmlformats.org/drawingml/2006/main">
              <a:ext uri="{FF2B5EF4-FFF2-40B4-BE49-F238E27FC236}">
                <a16:creationId xmlns:a16="http://schemas.microsoft.com/office/drawing/2014/main" id="{CFD76F2E-C70B-424A-845D-A64A99873192}"/>
              </a:ext>
            </a:extLst>
          </p:cNvPr>
          <p:cNvSpPr>
            <a:spLocks xmlns:a="http://schemas.openxmlformats.org/drawingml/2006/main" noGrp="1"/>
          </p:cNvSpPr>
          <p:nvPr/>
        </p:nvSpPr>
        <p:spPr>
          <a:xfrm xmlns:a="http://schemas.openxmlformats.org/drawingml/2006/main">
            <a:off x="9258300" y="3257550"/>
            <a:ext cx="2095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172026"/>
                </a:solidFill>
              </a:defRPr>
            </a:pPr>
            <a:r>
              <a:rPr sz="1425" b="0">
                <a:solidFill>
                  <a:srgbClr val="172026"/>
                </a:solidFill>
              </a:rPr>
              <a:t>Core temperature reduced </a:t>
            </a:r>
            <a:r>
              <a:rPr sz="1425" b="0">
                <a:solidFill>
                  <a:srgbClr val="172026"/>
                </a:solidFill>
              </a:rPr>
              <a:t>on the initiation of bypass </a:t>
            </a:r>
            <a:r>
              <a:rPr sz="1425" b="0">
                <a:solidFill>
                  <a:srgbClr val="172026"/>
                </a:solidFill>
              </a:rPr>
              <a:t>to 28 °C </a:t>
            </a:r>
            <a:r>
              <a:rPr sz="1425" b="0">
                <a:solidFill>
                  <a:srgbClr val="172026"/>
                </a:solidFill>
              </a:rPr>
              <a:t>core temperature </a:t>
            </a:r>
            <a:r>
              <a:rPr sz="1425" b="0">
                <a:solidFill>
                  <a:srgbClr val="172026"/>
                </a:solidFill>
              </a:rPr>
              <a:t>before skin incision.</a:t>
            </a:r>
          </a:p>
        </p:txBody>
      </p:sp>
      <p:sp>
        <p:nvSpPr>
          <p:cNvPr id="20" name="slide-number">
            <a:extLst xmlns:a="http://schemas.openxmlformats.org/drawingml/2006/main">
              <a:ext uri="{FF2B5EF4-FFF2-40B4-BE49-F238E27FC236}">
                <a16:creationId xmlns:a16="http://schemas.microsoft.com/office/drawing/2014/main" id="{35B39F9E-7928-4361-83F1-59271489BD27}"/>
              </a:ext>
            </a:extLst>
          </p:cNvPr>
          <p:cNvSpPr>
            <a:spLocks xmlns:a="http://schemas.openxmlformats.org/drawingml/2006/main" noGrp="1"/>
          </p:cNvSpPr>
          <p:nvPr/>
        </p:nvSpPr>
        <p:spPr>
          <a:xfrm xmlns:a="http://schemas.openxmlformats.org/drawingml/2006/main">
            <a:off x="11277600" y="64198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0">
                <a:solidFill>
                  <a:srgbClr val="56636B"/>
                </a:solidFill>
              </a:defRPr>
            </a:pPr>
            <a:r>
              <a:rPr sz="825" b="0">
                <a:solidFill>
                  <a:srgbClr val="56636B"/>
                </a:solidFill>
              </a:rPr>
              <a:t>7</a:t>
            </a:r>
          </a:p>
        </p:txBody>
      </p:sp>
    </p:spTree>
    <p:extLst>
      <p:ext uri="{BB962C8B-B14F-4D97-AF65-F5344CB8AC3E}">
        <p14:creationId xmlns:p14="http://schemas.microsoft.com/office/powerpoint/2010/main" val="7660670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412EA6A4-DBDC-4992-B686-2751AD2C845E}"/>
              </a:ext>
            </a:extLst>
          </p:cNvPr>
          <p:cNvSpPr>
            <a:spLocks xmlns:a="http://schemas.openxmlformats.org/drawingml/2006/main" noGrp="1"/>
          </p:cNvSpPr>
          <p:nvPr/>
        </p:nvSpPr>
        <p:spPr>
          <a:xfrm xmlns:a="http://schemas.openxmlformats.org/drawingml/2006/main">
            <a:off x="457200" y="323850"/>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850" b="1">
                <a:solidFill>
                  <a:srgbClr val="123047"/>
                </a:solidFill>
              </a:defRPr>
            </a:pPr>
            <a:r>
              <a:rPr sz="2850" b="1">
                <a:solidFill>
                  <a:srgbClr val="123047"/>
                </a:solidFill>
              </a:rPr>
              <a:t>Sternotomy converted the plan from controlled cooling to active blood conservation</a:t>
            </a:r>
          </a:p>
        </p:txBody>
      </p:sp>
      <p:sp>
        <p:nvSpPr>
          <p:cNvPr id="2" name="Rectangle: Rounded Corners 1">
            <a:extLst xmlns:a="http://schemas.openxmlformats.org/drawingml/2006/main">
              <a:ext uri="{FF2B5EF4-FFF2-40B4-BE49-F238E27FC236}">
                <a16:creationId xmlns:a16="http://schemas.microsoft.com/office/drawing/2014/main" id="{EC75D066-F256-4C51-B1B0-6D396ED06F83}"/>
              </a:ext>
            </a:extLst>
          </p:cNvPr>
          <p:cNvSpPr>
            <a:spLocks xmlns:a="http://schemas.openxmlformats.org/drawingml/2006/main" noGrp="1"/>
          </p:cNvSpPr>
          <p:nvPr/>
        </p:nvSpPr>
        <p:spPr>
          <a:xfrm xmlns:a="http://schemas.openxmlformats.org/drawingml/2006/main">
            <a:off x="457200" y="1714500"/>
            <a:ext cx="4953000" cy="3543300"/>
          </a:xfrm>
          <a:prstGeom xmlns:a="http://schemas.openxmlformats.org/drawingml/2006/main" prst="roundRect">
            <a:avLst>
              <a:gd name="adj" fmla="val 3226"/>
            </a:avLst>
          </a:prstGeom>
          <a:solidFill xmlns:a="http://schemas.openxmlformats.org/drawingml/2006/main">
            <a:srgbClr val="F7F3E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text">
            <a:extLst xmlns:a="http://schemas.openxmlformats.org/drawingml/2006/main">
              <a:ext uri="{FF2B5EF4-FFF2-40B4-BE49-F238E27FC236}">
                <a16:creationId xmlns:a16="http://schemas.microsoft.com/office/drawing/2014/main" id="{EA36CC2F-2A30-48BD-81F3-DEE24F18834D}"/>
              </a:ext>
            </a:extLst>
          </p:cNvPr>
          <p:cNvSpPr>
            <a:spLocks xmlns:a="http://schemas.openxmlformats.org/drawingml/2006/main" noGrp="1"/>
          </p:cNvSpPr>
          <p:nvPr/>
        </p:nvSpPr>
        <p:spPr>
          <a:xfrm xmlns:a="http://schemas.openxmlformats.org/drawingml/2006/main">
            <a:off x="742950" y="20002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A33B3B"/>
                </a:solidFill>
              </a:defRPr>
            </a:pPr>
            <a:r>
              <a:rPr sz="1650" b="1">
                <a:solidFill>
                  <a:srgbClr val="A33B3B"/>
                </a:solidFill>
              </a:rPr>
              <a:t>Trigger</a:t>
            </a:r>
          </a:p>
        </p:txBody>
      </p:sp>
      <p:sp>
        <p:nvSpPr>
          <p:cNvPr id="4" name="text">
            <a:extLst xmlns:a="http://schemas.openxmlformats.org/drawingml/2006/main">
              <a:ext uri="{FF2B5EF4-FFF2-40B4-BE49-F238E27FC236}">
                <a16:creationId xmlns:a16="http://schemas.microsoft.com/office/drawing/2014/main" id="{7010EB00-04D1-40D2-83F5-164A8E5AE020}"/>
              </a:ext>
            </a:extLst>
          </p:cNvPr>
          <p:cNvSpPr>
            <a:spLocks xmlns:a="http://schemas.openxmlformats.org/drawingml/2006/main" noGrp="1"/>
          </p:cNvSpPr>
          <p:nvPr/>
        </p:nvSpPr>
        <p:spPr>
          <a:xfrm xmlns:a="http://schemas.openxmlformats.org/drawingml/2006/main">
            <a:off x="742950" y="2505075"/>
            <a:ext cx="4095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72026"/>
                </a:solidFill>
              </a:defRPr>
            </a:pPr>
            <a:r>
              <a:rPr sz="2025" b="1">
                <a:solidFill>
                  <a:srgbClr val="172026"/>
                </a:solidFill>
              </a:rPr>
              <a:t>After skin incision and median sternotomy, bleeding increased once the chest was opened.</a:t>
            </a:r>
          </a:p>
        </p:txBody>
      </p:sp>
      <p:sp>
        <p:nvSpPr>
          <p:cNvPr id="5" name="text">
            <a:extLst xmlns:a="http://schemas.openxmlformats.org/drawingml/2006/main">
              <a:ext uri="{FF2B5EF4-FFF2-40B4-BE49-F238E27FC236}">
                <a16:creationId xmlns:a16="http://schemas.microsoft.com/office/drawing/2014/main" id="{132119AC-6B6A-4872-B175-6EE7E805A88B}"/>
              </a:ext>
            </a:extLst>
          </p:cNvPr>
          <p:cNvSpPr>
            <a:spLocks xmlns:a="http://schemas.openxmlformats.org/drawingml/2006/main" noGrp="1"/>
          </p:cNvSpPr>
          <p:nvPr/>
        </p:nvSpPr>
        <p:spPr>
          <a:xfrm xmlns:a="http://schemas.openxmlformats.org/drawingml/2006/main">
            <a:off x="742950" y="3895725"/>
            <a:ext cx="4095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56636B"/>
                </a:solidFill>
              </a:defRPr>
            </a:pPr>
          </a:p>
        </p:txBody>
      </p:sp>
      <p:sp>
        <p:nvSpPr>
          <p:cNvPr id="6" name="Rectangle: Rounded Corners 5">
            <a:extLst xmlns:a="http://schemas.openxmlformats.org/drawingml/2006/main">
              <a:ext uri="{FF2B5EF4-FFF2-40B4-BE49-F238E27FC236}">
                <a16:creationId xmlns:a16="http://schemas.microsoft.com/office/drawing/2014/main" id="{60E7F717-0665-41C9-85AD-F5E0BB661636}"/>
              </a:ext>
            </a:extLst>
          </p:cNvPr>
          <p:cNvSpPr>
            <a:spLocks xmlns:a="http://schemas.openxmlformats.org/drawingml/2006/main" noGrp="1"/>
          </p:cNvSpPr>
          <p:nvPr/>
        </p:nvSpPr>
        <p:spPr>
          <a:xfrm xmlns:a="http://schemas.openxmlformats.org/drawingml/2006/main">
            <a:off x="5886450" y="1714500"/>
            <a:ext cx="5848350" cy="3543300"/>
          </a:xfrm>
          <a:prstGeom xmlns:a="http://schemas.openxmlformats.org/drawingml/2006/main" prst="roundRect">
            <a:avLst>
              <a:gd name="adj" fmla="val 3226"/>
            </a:avLst>
          </a:prstGeom>
          <a:solidFill xmlns:a="http://schemas.openxmlformats.org/drawingml/2006/main">
            <a:srgbClr val="EEF4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 name="text">
            <a:extLst xmlns:a="http://schemas.openxmlformats.org/drawingml/2006/main">
              <a:ext uri="{FF2B5EF4-FFF2-40B4-BE49-F238E27FC236}">
                <a16:creationId xmlns:a16="http://schemas.microsoft.com/office/drawing/2014/main" id="{10946140-01F2-46C9-9799-9E7EE4960720}"/>
              </a:ext>
            </a:extLst>
          </p:cNvPr>
          <p:cNvSpPr>
            <a:spLocks xmlns:a="http://schemas.openxmlformats.org/drawingml/2006/main" noGrp="1"/>
          </p:cNvSpPr>
          <p:nvPr/>
        </p:nvSpPr>
        <p:spPr>
          <a:xfrm xmlns:a="http://schemas.openxmlformats.org/drawingml/2006/main">
            <a:off x="6191250" y="20002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23047"/>
                </a:solidFill>
              </a:defRPr>
            </a:pPr>
            <a:r>
              <a:rPr sz="1650" b="1">
                <a:solidFill>
                  <a:srgbClr val="123047"/>
                </a:solidFill>
              </a:rPr>
              <a:t>Perfusion response</a:t>
            </a:r>
          </a:p>
        </p:txBody>
      </p:sp>
      <p:sp>
        <p:nvSpPr>
          <p:cNvPr id="8" name="text">
            <a:extLst xmlns:a="http://schemas.openxmlformats.org/drawingml/2006/main">
              <a:ext uri="{FF2B5EF4-FFF2-40B4-BE49-F238E27FC236}">
                <a16:creationId xmlns:a16="http://schemas.microsoft.com/office/drawing/2014/main" id="{3C10399D-46D4-43B8-95FF-CC5A70CE622A}"/>
              </a:ext>
            </a:extLst>
          </p:cNvPr>
          <p:cNvSpPr>
            <a:spLocks xmlns:a="http://schemas.openxmlformats.org/drawingml/2006/main" noGrp="1"/>
          </p:cNvSpPr>
          <p:nvPr/>
        </p:nvSpPr>
        <p:spPr>
          <a:xfrm xmlns:a="http://schemas.openxmlformats.org/drawingml/2006/main">
            <a:off x="6191250" y="2571750"/>
            <a:ext cx="1143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5400" b="1">
                <a:solidFill>
                  <a:srgbClr val="A33B3B"/>
                </a:solidFill>
              </a:defRPr>
            </a:pPr>
            <a:r>
              <a:rPr sz="5400" b="1">
                <a:solidFill>
                  <a:srgbClr val="A33B3B"/>
                </a:solidFill>
              </a:rPr>
              <a:t>3</a:t>
            </a:r>
          </a:p>
        </p:txBody>
      </p:sp>
      <p:sp>
        <p:nvSpPr>
          <p:cNvPr id="9" name="text">
            <a:extLst xmlns:a="http://schemas.openxmlformats.org/drawingml/2006/main">
              <a:ext uri="{FF2B5EF4-FFF2-40B4-BE49-F238E27FC236}">
                <a16:creationId xmlns:a16="http://schemas.microsoft.com/office/drawing/2014/main" id="{BA741FA8-F48B-4DAF-A84B-052BC0B4328C}"/>
              </a:ext>
            </a:extLst>
          </p:cNvPr>
          <p:cNvSpPr>
            <a:spLocks xmlns:a="http://schemas.openxmlformats.org/drawingml/2006/main" noGrp="1"/>
          </p:cNvSpPr>
          <p:nvPr/>
        </p:nvSpPr>
        <p:spPr>
          <a:xfrm xmlns:a="http://schemas.openxmlformats.org/drawingml/2006/main">
            <a:off x="6619875" y="2847975"/>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23047"/>
                </a:solidFill>
              </a:defRPr>
            </a:pPr>
            <a:r>
              <a:rPr sz="2025" b="1">
                <a:solidFill>
                  <a:srgbClr val="123047"/>
                </a:solidFill>
              </a:rPr>
              <a:t>field suckers</a:t>
            </a:r>
          </a:p>
        </p:txBody>
      </p:sp>
      <p:sp>
        <p:nvSpPr>
          <p:cNvPr id="10" name="text">
            <a:extLst xmlns:a="http://schemas.openxmlformats.org/drawingml/2006/main">
              <a:ext uri="{FF2B5EF4-FFF2-40B4-BE49-F238E27FC236}">
                <a16:creationId xmlns:a16="http://schemas.microsoft.com/office/drawing/2014/main" id="{9FD7D532-63C2-43DC-AC68-8E4F164B5183}"/>
              </a:ext>
            </a:extLst>
          </p:cNvPr>
          <p:cNvSpPr>
            <a:spLocks xmlns:a="http://schemas.openxmlformats.org/drawingml/2006/main" noGrp="1"/>
          </p:cNvSpPr>
          <p:nvPr/>
        </p:nvSpPr>
        <p:spPr>
          <a:xfrm xmlns:a="http://schemas.openxmlformats.org/drawingml/2006/main">
            <a:off x="6334125" y="3400425"/>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550" b="1">
                <a:solidFill>
                  <a:srgbClr val="172026"/>
                </a:solidFill>
              </a:defRPr>
            </a:pPr>
            <a:r>
              <a:rPr sz="2550" b="1">
                <a:solidFill>
                  <a:srgbClr val="172026"/>
                </a:solidFill>
              </a:rPr>
              <a:t>~1 L/min each</a:t>
            </a:r>
          </a:p>
        </p:txBody>
      </p:sp>
      <p:sp>
        <p:nvSpPr>
          <p:cNvPr id="12" name="source">
            <a:extLst xmlns:a="http://schemas.openxmlformats.org/drawingml/2006/main">
              <a:ext uri="{FF2B5EF4-FFF2-40B4-BE49-F238E27FC236}">
                <a16:creationId xmlns:a16="http://schemas.microsoft.com/office/drawing/2014/main" id="{2027FF24-2FBD-4FF2-B1A3-1EE8106DF730}"/>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p:txBody>
      </p:sp>
      <p:sp>
        <p:nvSpPr>
          <p:cNvPr id="13" name="slide-number">
            <a:extLst xmlns:a="http://schemas.openxmlformats.org/drawingml/2006/main">
              <a:ext uri="{FF2B5EF4-FFF2-40B4-BE49-F238E27FC236}">
                <a16:creationId xmlns:a16="http://schemas.microsoft.com/office/drawing/2014/main" id="{9787E37E-EE11-434E-BD31-1213D838BC8E}"/>
              </a:ext>
            </a:extLst>
          </p:cNvPr>
          <p:cNvSpPr>
            <a:spLocks xmlns:a="http://schemas.openxmlformats.org/drawingml/2006/main" noGrp="1"/>
          </p:cNvSpPr>
          <p:nvPr/>
        </p:nvSpPr>
        <p:spPr>
          <a:xfrm xmlns:a="http://schemas.openxmlformats.org/drawingml/2006/main">
            <a:off x="11277600" y="64198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0">
                <a:solidFill>
                  <a:srgbClr val="56636B"/>
                </a:solidFill>
              </a:defRPr>
            </a:pPr>
            <a:r>
              <a:rPr sz="825" b="0">
                <a:solidFill>
                  <a:srgbClr val="56636B"/>
                </a:solidFill>
              </a:rPr>
              <a:t>8</a:t>
            </a:r>
          </a:p>
        </p:txBody>
      </p:sp>
    </p:spTree>
    <p:extLst>
      <p:ext uri="{BB962C8B-B14F-4D97-AF65-F5344CB8AC3E}">
        <p14:creationId xmlns:p14="http://schemas.microsoft.com/office/powerpoint/2010/main" val="171923419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B8ACA980-FE3E-411B-BCAE-2D5ED63E76D1}"/>
              </a:ext>
            </a:extLst>
          </p:cNvPr>
          <p:cNvSpPr>
            <a:spLocks xmlns:a="http://schemas.openxmlformats.org/drawingml/2006/main" noGrp="1"/>
          </p:cNvSpPr>
          <p:nvPr/>
        </p:nvSpPr>
        <p:spPr>
          <a:xfrm xmlns:a="http://schemas.openxmlformats.org/drawingml/2006/main">
            <a:off x="1961536" y="21907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23047"/>
                </a:solidFill>
              </a:defRPr>
            </a:pPr>
            <a:r>
              <a:rPr sz="2850" b="1">
                <a:solidFill>
                  <a:srgbClr val="123047"/>
                </a:solidFill>
              </a:rPr>
              <a:t>Cardioplegia</a:t>
            </a:r>
            <a:r>
              <a:rPr sz="2850" b="1">
                <a:solidFill>
                  <a:srgbClr val="123047"/>
                </a:solidFill>
              </a:rPr>
              <a:t> preceded selective brain-only perfusion</a:t>
            </a:r>
          </a:p>
        </p:txBody>
      </p:sp>
      <p:sp>
        <p:nvSpPr>
          <p:cNvPr id="2" name="Straight Connector 1">
            <a:extLst xmlns:a="http://schemas.openxmlformats.org/drawingml/2006/main">
              <a:ext uri="{FF2B5EF4-FFF2-40B4-BE49-F238E27FC236}">
                <a16:creationId xmlns:a16="http://schemas.microsoft.com/office/drawing/2014/main" id="{DE2E3BC4-F1E9-416C-A3BC-307975663188}"/>
              </a:ext>
            </a:extLst>
          </p:cNvPr>
          <p:cNvSpPr>
            <a:spLocks xmlns:a="http://schemas.openxmlformats.org/drawingml/2006/main" noGrp="1"/>
          </p:cNvSpPr>
          <p:nvPr/>
        </p:nvSpPr>
        <p:spPr>
          <a:xfrm xmlns:a="http://schemas.openxmlformats.org/drawingml/2006/main">
            <a:off x="1047750" y="2438400"/>
            <a:ext cx="9906000" cy="0"/>
          </a:xfrm>
          <a:prstGeom xmlns:a="http://schemas.openxmlformats.org/drawingml/2006/main" prst="line">
            <a:avLst/>
          </a:prstGeom>
          <a:ln xmlns:a="http://schemas.openxmlformats.org/drawingml/2006/main" w="38100">
            <a:solidFill>
              <a:srgbClr val="123047"/>
            </a:solidFill>
            <a:prstDash val="solid"/>
          </a:ln>
        </p:spPr>
        <p:txBody>
          <a:bodyPr xmlns:a="http://schemas.openxmlformats.org/drawingml/2006/main"/>
          <a:lstStyle xmlns:a="http://schemas.openxmlformats.org/drawingml/2006/main"/>
          <a:p xmlns:a="http://schemas.openxmlformats.org/drawingml/2006/main"/>
        </p:txBody>
      </p:sp>
      <p:sp>
        <p:nvSpPr>
          <p:cNvPr id="3" name="Rectangle: Rounded Corners 2">
            <a:extLst xmlns:a="http://schemas.openxmlformats.org/drawingml/2006/main">
              <a:ext uri="{FF2B5EF4-FFF2-40B4-BE49-F238E27FC236}">
                <a16:creationId xmlns:a16="http://schemas.microsoft.com/office/drawing/2014/main" id="{799D64FA-C617-443E-B78E-6E0A4E5BB980}"/>
              </a:ext>
            </a:extLst>
          </p:cNvPr>
          <p:cNvSpPr>
            <a:spLocks xmlns:a="http://schemas.openxmlformats.org/drawingml/2006/main" noGrp="1"/>
          </p:cNvSpPr>
          <p:nvPr/>
        </p:nvSpPr>
        <p:spPr>
          <a:xfrm xmlns:a="http://schemas.openxmlformats.org/drawingml/2006/main">
            <a:off x="857250" y="2266950"/>
            <a:ext cx="381000" cy="381000"/>
          </a:xfrm>
          <a:prstGeom xmlns:a="http://schemas.openxmlformats.org/drawingml/2006/main" prst="roundRect">
            <a:avLst>
              <a:gd name="adj" fmla="val 30000"/>
            </a:avLst>
          </a:prstGeom>
          <a:solidFill xmlns:a="http://schemas.openxmlformats.org/drawingml/2006/main">
            <a:srgbClr val="12304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 name="text">
            <a:extLst xmlns:a="http://schemas.openxmlformats.org/drawingml/2006/main">
              <a:ext uri="{FF2B5EF4-FFF2-40B4-BE49-F238E27FC236}">
                <a16:creationId xmlns:a16="http://schemas.microsoft.com/office/drawing/2014/main" id="{6D3FA5CC-B187-4EBE-A0C2-86070D6E3F5F}"/>
              </a:ext>
            </a:extLst>
          </p:cNvPr>
          <p:cNvSpPr>
            <a:spLocks xmlns:a="http://schemas.openxmlformats.org/drawingml/2006/main" noGrp="1"/>
          </p:cNvSpPr>
          <p:nvPr/>
        </p:nvSpPr>
        <p:spPr>
          <a:xfrm xmlns:a="http://schemas.openxmlformats.org/drawingml/2006/main">
            <a:off x="809625" y="31432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23047"/>
                </a:solidFill>
              </a:defRPr>
            </a:pPr>
            <a:r>
              <a:rPr sz="1950" b="1">
                <a:solidFill>
                  <a:srgbClr val="123047"/>
                </a:solidFill>
              </a:rPr>
              <a:t>Cross-clamp</a:t>
            </a:r>
          </a:p>
        </p:txBody>
      </p:sp>
      <p:sp>
        <p:nvSpPr>
          <p:cNvPr id="5" name="text">
            <a:extLst xmlns:a="http://schemas.openxmlformats.org/drawingml/2006/main">
              <a:ext uri="{FF2B5EF4-FFF2-40B4-BE49-F238E27FC236}">
                <a16:creationId xmlns:a16="http://schemas.microsoft.com/office/drawing/2014/main" id="{E74FCCDC-8D64-4519-A653-24241C4195AE}"/>
              </a:ext>
            </a:extLst>
          </p:cNvPr>
          <p:cNvSpPr>
            <a:spLocks xmlns:a="http://schemas.openxmlformats.org/drawingml/2006/main" noGrp="1"/>
          </p:cNvSpPr>
          <p:nvPr/>
        </p:nvSpPr>
        <p:spPr>
          <a:xfrm xmlns:a="http://schemas.openxmlformats.org/drawingml/2006/main">
            <a:off x="809625" y="3638550"/>
            <a:ext cx="285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172026"/>
                </a:solidFill>
              </a:defRPr>
            </a:pPr>
            <a:r>
              <a:rPr sz="1500" b="0">
                <a:solidFill>
                  <a:srgbClr val="172026"/>
                </a:solidFill>
              </a:rPr>
              <a:t>Aortic cross-clamp applied</a:t>
            </a:r>
          </a:p>
        </p:txBody>
      </p:sp>
      <p:sp>
        <p:nvSpPr>
          <p:cNvPr id="6" name="Rectangle: Rounded Corners 5">
            <a:extLst xmlns:a="http://schemas.openxmlformats.org/drawingml/2006/main">
              <a:ext uri="{FF2B5EF4-FFF2-40B4-BE49-F238E27FC236}">
                <a16:creationId xmlns:a16="http://schemas.microsoft.com/office/drawing/2014/main" id="{1342A87D-FCDE-492B-B01C-9BD23AE59B14}"/>
              </a:ext>
            </a:extLst>
          </p:cNvPr>
          <p:cNvSpPr>
            <a:spLocks xmlns:a="http://schemas.openxmlformats.org/drawingml/2006/main" noGrp="1"/>
          </p:cNvSpPr>
          <p:nvPr/>
        </p:nvSpPr>
        <p:spPr>
          <a:xfrm xmlns:a="http://schemas.openxmlformats.org/drawingml/2006/main">
            <a:off x="4572000" y="2266950"/>
            <a:ext cx="381000" cy="381000"/>
          </a:xfrm>
          <a:prstGeom xmlns:a="http://schemas.openxmlformats.org/drawingml/2006/main" prst="roundRect">
            <a:avLst>
              <a:gd name="adj" fmla="val 30000"/>
            </a:avLst>
          </a:prstGeom>
          <a:solidFill xmlns:a="http://schemas.openxmlformats.org/drawingml/2006/main">
            <a:srgbClr val="12304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 name="text">
            <a:extLst xmlns:a="http://schemas.openxmlformats.org/drawingml/2006/main">
              <a:ext uri="{FF2B5EF4-FFF2-40B4-BE49-F238E27FC236}">
                <a16:creationId xmlns:a16="http://schemas.microsoft.com/office/drawing/2014/main" id="{FCC96678-5C4C-458A-A912-A939CEE46018}"/>
              </a:ext>
            </a:extLst>
          </p:cNvPr>
          <p:cNvSpPr>
            <a:spLocks xmlns:a="http://schemas.openxmlformats.org/drawingml/2006/main" noGrp="1"/>
          </p:cNvSpPr>
          <p:nvPr/>
        </p:nvSpPr>
        <p:spPr>
          <a:xfrm xmlns:a="http://schemas.openxmlformats.org/drawingml/2006/main">
            <a:off x="4524375" y="31432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23047"/>
                </a:solidFill>
              </a:defRPr>
            </a:pPr>
            <a:r>
              <a:rPr sz="1950" b="1">
                <a:solidFill>
                  <a:srgbClr val="123047"/>
                </a:solidFill>
              </a:rPr>
              <a:t>Cardioplegia</a:t>
            </a:r>
          </a:p>
        </p:txBody>
      </p:sp>
      <p:sp>
        <p:nvSpPr>
          <p:cNvPr id="8" name="text">
            <a:extLst xmlns:a="http://schemas.openxmlformats.org/drawingml/2006/main">
              <a:ext uri="{FF2B5EF4-FFF2-40B4-BE49-F238E27FC236}">
                <a16:creationId xmlns:a16="http://schemas.microsoft.com/office/drawing/2014/main" id="{377724E0-9AFF-4731-8C70-CE0B72EE5515}"/>
              </a:ext>
            </a:extLst>
          </p:cNvPr>
          <p:cNvSpPr>
            <a:spLocks xmlns:a="http://schemas.openxmlformats.org/drawingml/2006/main" noGrp="1"/>
          </p:cNvSpPr>
          <p:nvPr/>
        </p:nvSpPr>
        <p:spPr>
          <a:xfrm xmlns:a="http://schemas.openxmlformats.org/drawingml/2006/main">
            <a:off x="4524375" y="3638550"/>
            <a:ext cx="285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172026"/>
                </a:solidFill>
              </a:defRPr>
            </a:pPr>
            <a:r>
              <a:rPr sz="1500" b="0">
                <a:solidFill>
                  <a:srgbClr val="172026"/>
                </a:solidFill>
              </a:rPr>
              <a:t>1 L retrograde </a:t>
            </a:r>
            <a:r>
              <a:rPr sz="1500" b="0">
                <a:solidFill>
                  <a:srgbClr val="172026"/>
                </a:solidFill>
              </a:rPr>
              <a:t>of 25 </a:t>
            </a:r>
            <a:r>
              <a:rPr sz="1500" b="0">
                <a:solidFill>
                  <a:srgbClr val="172026"/>
                </a:solidFill>
              </a:rPr>
              <a:t>mEq</a:t>
            </a:r>
            <a:r>
              <a:rPr sz="1500" b="0">
                <a:solidFill>
                  <a:srgbClr val="172026"/>
                </a:solidFill>
              </a:rPr>
              <a:t> of potassium and 8 </a:t>
            </a:r>
            <a:r>
              <a:rPr sz="1500" b="0">
                <a:solidFill>
                  <a:srgbClr val="172026"/>
                </a:solidFill>
              </a:rPr>
              <a:t>mEq</a:t>
            </a:r>
            <a:r>
              <a:rPr sz="1500" b="0">
                <a:solidFill>
                  <a:srgbClr val="172026"/>
                </a:solidFill>
              </a:rPr>
              <a:t> of cardioplegia additive of Magnesium and Adenosine </a:t>
            </a:r>
            <a:r>
              <a:rPr sz="1500" b="0">
                <a:solidFill>
                  <a:srgbClr val="172026"/>
                </a:solidFill>
              </a:rPr>
              <a:t>dose reported</a:t>
            </a:r>
          </a:p>
        </p:txBody>
      </p:sp>
      <p:sp>
        <p:nvSpPr>
          <p:cNvPr id="9" name="Rectangle: Rounded Corners 8">
            <a:extLst xmlns:a="http://schemas.openxmlformats.org/drawingml/2006/main">
              <a:ext uri="{FF2B5EF4-FFF2-40B4-BE49-F238E27FC236}">
                <a16:creationId xmlns:a16="http://schemas.microsoft.com/office/drawing/2014/main" id="{E734D3F4-C582-4ACC-8CDC-3B3B9CAE5A0B}"/>
              </a:ext>
            </a:extLst>
          </p:cNvPr>
          <p:cNvSpPr>
            <a:spLocks xmlns:a="http://schemas.openxmlformats.org/drawingml/2006/main" noGrp="1"/>
          </p:cNvSpPr>
          <p:nvPr/>
        </p:nvSpPr>
        <p:spPr>
          <a:xfrm xmlns:a="http://schemas.openxmlformats.org/drawingml/2006/main">
            <a:off x="8286750" y="2266950"/>
            <a:ext cx="381000" cy="381000"/>
          </a:xfrm>
          <a:prstGeom xmlns:a="http://schemas.openxmlformats.org/drawingml/2006/main" prst="roundRect">
            <a:avLst>
              <a:gd name="adj" fmla="val 30000"/>
            </a:avLst>
          </a:prstGeom>
          <a:solidFill xmlns:a="http://schemas.openxmlformats.org/drawingml/2006/main">
            <a:srgbClr val="A33B3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text">
            <a:extLst xmlns:a="http://schemas.openxmlformats.org/drawingml/2006/main">
              <a:ext uri="{FF2B5EF4-FFF2-40B4-BE49-F238E27FC236}">
                <a16:creationId xmlns:a16="http://schemas.microsoft.com/office/drawing/2014/main" id="{FA487503-DD7A-4AAB-AFCE-85BC4F7A1155}"/>
              </a:ext>
            </a:extLst>
          </p:cNvPr>
          <p:cNvSpPr>
            <a:spLocks xmlns:a="http://schemas.openxmlformats.org/drawingml/2006/main" noGrp="1"/>
          </p:cNvSpPr>
          <p:nvPr/>
        </p:nvSpPr>
        <p:spPr>
          <a:xfrm xmlns:a="http://schemas.openxmlformats.org/drawingml/2006/main">
            <a:off x="8239125" y="31432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23047"/>
                </a:solidFill>
              </a:defRPr>
            </a:pPr>
            <a:r>
              <a:rPr sz="1950" b="1">
                <a:solidFill>
                  <a:srgbClr val="123047"/>
                </a:solidFill>
              </a:rPr>
              <a:t>ACP</a:t>
            </a:r>
          </a:p>
        </p:txBody>
      </p:sp>
      <p:sp>
        <p:nvSpPr>
          <p:cNvPr id="11" name="text">
            <a:extLst xmlns:a="http://schemas.openxmlformats.org/drawingml/2006/main">
              <a:ext uri="{FF2B5EF4-FFF2-40B4-BE49-F238E27FC236}">
                <a16:creationId xmlns:a16="http://schemas.microsoft.com/office/drawing/2014/main" id="{2F4E4598-B688-42D3-B7D1-973E4625E2EB}"/>
              </a:ext>
            </a:extLst>
          </p:cNvPr>
          <p:cNvSpPr>
            <a:spLocks xmlns:a="http://schemas.openxmlformats.org/drawingml/2006/main" noGrp="1"/>
          </p:cNvSpPr>
          <p:nvPr/>
        </p:nvSpPr>
        <p:spPr>
          <a:xfrm xmlns:a="http://schemas.openxmlformats.org/drawingml/2006/main">
            <a:off x="8239125" y="3638550"/>
            <a:ext cx="285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172026"/>
                </a:solidFill>
              </a:defRPr>
            </a:pPr>
            <a:r>
              <a:rPr sz="1500" b="0">
                <a:solidFill>
                  <a:srgbClr val="172026"/>
                </a:solidFill>
              </a:rPr>
              <a:t>Systemic flow reduced</a:t>
            </a:r>
            <a:r>
              <a:rPr sz="1500" b="0">
                <a:solidFill>
                  <a:srgbClr val="172026"/>
                </a:solidFill>
              </a:rPr>
              <a:t> to 10 mL/kg/min with a flow of 700 mL; </a:t>
            </a:r>
            <a:r>
              <a:rPr sz="1500" b="0">
                <a:solidFill>
                  <a:srgbClr val="172026"/>
                </a:solidFill>
              </a:rPr>
              <a:t>brain-only antegrade perfusion</a:t>
            </a:r>
            <a:r>
              <a:rPr sz="1500" b="0">
                <a:solidFill>
                  <a:srgbClr val="172026"/>
                </a:solidFill>
              </a:rPr>
              <a:t> for 12 </a:t>
            </a:r>
            <a:r>
              <a:rPr sz="1500" b="0">
                <a:solidFill>
                  <a:srgbClr val="172026"/>
                </a:solidFill>
              </a:rPr>
              <a:t>minues</a:t>
            </a:r>
            <a:r>
              <a:rPr sz="1500" b="0">
                <a:solidFill>
                  <a:srgbClr val="172026"/>
                </a:solidFill>
              </a:rPr>
              <a:t> </a:t>
            </a:r>
          </a:p>
        </p:txBody>
      </p:sp>
      <p:sp>
        <p:nvSpPr>
          <p:cNvPr id="14" name="source">
            <a:extLst xmlns:a="http://schemas.openxmlformats.org/drawingml/2006/main">
              <a:ext uri="{FF2B5EF4-FFF2-40B4-BE49-F238E27FC236}">
                <a16:creationId xmlns:a16="http://schemas.microsoft.com/office/drawing/2014/main" id="{759C75A7-11F3-439A-944A-CC5CE39AAE7F}"/>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p:txBody>
      </p:sp>
      <p:sp>
        <p:nvSpPr>
          <p:cNvPr id="15" name="slide-number">
            <a:extLst xmlns:a="http://schemas.openxmlformats.org/drawingml/2006/main">
              <a:ext uri="{FF2B5EF4-FFF2-40B4-BE49-F238E27FC236}">
                <a16:creationId xmlns:a16="http://schemas.microsoft.com/office/drawing/2014/main" id="{415D7A61-D652-494C-863B-121BDCCE1571}"/>
              </a:ext>
            </a:extLst>
          </p:cNvPr>
          <p:cNvSpPr>
            <a:spLocks xmlns:a="http://schemas.openxmlformats.org/drawingml/2006/main" noGrp="1"/>
          </p:cNvSpPr>
          <p:nvPr/>
        </p:nvSpPr>
        <p:spPr>
          <a:xfrm xmlns:a="http://schemas.openxmlformats.org/drawingml/2006/main">
            <a:off x="11277600" y="64198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0">
                <a:solidFill>
                  <a:srgbClr val="56636B"/>
                </a:solidFill>
              </a:defRPr>
            </a:pPr>
            <a:r>
              <a:rPr sz="825" b="0">
                <a:solidFill>
                  <a:srgbClr val="56636B"/>
                </a:solidFill>
              </a:rPr>
              <a:t>9</a:t>
            </a:r>
          </a:p>
        </p:txBody>
      </p:sp>
    </p:spTree>
    <p:extLst>
      <p:ext uri="{BB962C8B-B14F-4D97-AF65-F5344CB8AC3E}">
        <p14:creationId xmlns:p14="http://schemas.microsoft.com/office/powerpoint/2010/main" val="63465204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9A1CBEAE-8339-442E-B3E7-15DC2EBAF6FD}"/>
              </a:ext>
            </a:extLst>
          </p:cNvPr>
          <p:cNvSpPr>
            <a:spLocks xmlns:a="http://schemas.openxmlformats.org/drawingml/2006/main" noGrp="1"/>
          </p:cNvSpPr>
          <p:nvPr/>
        </p:nvSpPr>
        <p:spPr>
          <a:xfrm xmlns:a="http://schemas.openxmlformats.org/drawingml/2006/main">
            <a:off x="1410929" y="2762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23047"/>
                </a:solidFill>
              </a:defRPr>
            </a:pPr>
            <a:r>
              <a:rPr sz="2850" b="1">
                <a:solidFill>
                  <a:srgbClr val="123047"/>
                </a:solidFill>
              </a:rPr>
              <a:t>Aortic grafting required a brief interruption of cerebral flow</a:t>
            </a:r>
          </a:p>
        </p:txBody>
      </p:sp>
      <p:sp>
        <p:nvSpPr>
          <p:cNvPr id="2" name="Rectangle: Rounded Corners 1">
            <a:extLst xmlns:a="http://schemas.openxmlformats.org/drawingml/2006/main">
              <a:ext uri="{FF2B5EF4-FFF2-40B4-BE49-F238E27FC236}">
                <a16:creationId xmlns:a16="http://schemas.microsoft.com/office/drawing/2014/main" id="{6BE002CF-D373-4930-82CC-B3D73D817194}"/>
              </a:ext>
            </a:extLst>
          </p:cNvPr>
          <p:cNvSpPr>
            <a:spLocks xmlns:a="http://schemas.openxmlformats.org/drawingml/2006/main" noGrp="1"/>
          </p:cNvSpPr>
          <p:nvPr/>
        </p:nvSpPr>
        <p:spPr>
          <a:xfrm xmlns:a="http://schemas.openxmlformats.org/drawingml/2006/main">
            <a:off x="457200" y="1714500"/>
            <a:ext cx="3476625" cy="3562350"/>
          </a:xfrm>
          <a:prstGeom xmlns:a="http://schemas.openxmlformats.org/drawingml/2006/main" prst="roundRect">
            <a:avLst>
              <a:gd name="adj" fmla="val 3288"/>
            </a:avLst>
          </a:prstGeom>
          <a:solidFill xmlns:a="http://schemas.openxmlformats.org/drawingml/2006/main">
            <a:srgbClr val="EEF4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text">
            <a:extLst xmlns:a="http://schemas.openxmlformats.org/drawingml/2006/main">
              <a:ext uri="{FF2B5EF4-FFF2-40B4-BE49-F238E27FC236}">
                <a16:creationId xmlns:a16="http://schemas.microsoft.com/office/drawing/2014/main" id="{E1E3C012-1EFD-4FB1-B217-0D882F1C5990}"/>
              </a:ext>
            </a:extLst>
          </p:cNvPr>
          <p:cNvSpPr>
            <a:spLocks xmlns:a="http://schemas.openxmlformats.org/drawingml/2006/main" noGrp="1"/>
          </p:cNvSpPr>
          <p:nvPr/>
        </p:nvSpPr>
        <p:spPr>
          <a:xfrm xmlns:a="http://schemas.openxmlformats.org/drawingml/2006/main">
            <a:off x="742950" y="20383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950" b="1">
                <a:solidFill>
                  <a:srgbClr val="123047"/>
                </a:solidFill>
              </a:defRPr>
            </a:pPr>
            <a:r>
              <a:rPr sz="1950" b="1">
                <a:solidFill>
                  <a:srgbClr val="123047"/>
                </a:solidFill>
              </a:rPr>
              <a:t>Ascending </a:t>
            </a:r>
            <a:r>
              <a:rPr sz="1950" b="1">
                <a:solidFill>
                  <a:srgbClr val="123047"/>
                </a:solidFill>
              </a:rPr>
              <a:t>and Aortic arch </a:t>
            </a:r>
            <a:r>
              <a:rPr sz="1950" b="1">
                <a:solidFill>
                  <a:srgbClr val="123047"/>
                </a:solidFill>
              </a:rPr>
              <a:t>graft</a:t>
            </a:r>
          </a:p>
        </p:txBody>
      </p:sp>
      <p:sp>
        <p:nvSpPr>
          <p:cNvPr id="4" name="text">
            <a:extLst xmlns:a="http://schemas.openxmlformats.org/drawingml/2006/main">
              <a:ext uri="{FF2B5EF4-FFF2-40B4-BE49-F238E27FC236}">
                <a16:creationId xmlns:a16="http://schemas.microsoft.com/office/drawing/2014/main" id="{FBED4DB9-E44E-4220-BA78-6BF0B11CC71D}"/>
              </a:ext>
            </a:extLst>
          </p:cNvPr>
          <p:cNvSpPr>
            <a:spLocks xmlns:a="http://schemas.openxmlformats.org/drawingml/2006/main" noGrp="1"/>
          </p:cNvSpPr>
          <p:nvPr/>
        </p:nvSpPr>
        <p:spPr>
          <a:xfrm xmlns:a="http://schemas.openxmlformats.org/drawingml/2006/main">
            <a:off x="742950" y="2647950"/>
            <a:ext cx="271462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172026"/>
                </a:solidFill>
              </a:defRPr>
            </a:pPr>
            <a:r>
              <a:rPr sz="1575" b="0">
                <a:solidFill>
                  <a:srgbClr val="172026"/>
                </a:solidFill>
              </a:rPr>
              <a:t>The ascending aorta was opened/resected and reconstructed with a vascular </a:t>
            </a:r>
            <a:r>
              <a:rPr sz="1575" b="0">
                <a:solidFill>
                  <a:srgbClr val="172026"/>
                </a:solidFill>
              </a:rPr>
              <a:t>28 mm </a:t>
            </a:r>
            <a:r>
              <a:rPr sz="1575" b="0">
                <a:solidFill>
                  <a:srgbClr val="172026"/>
                </a:solidFill>
              </a:rPr>
              <a:t>Gelweace</a:t>
            </a:r>
            <a:r>
              <a:rPr sz="1575" b="0">
                <a:solidFill>
                  <a:srgbClr val="172026"/>
                </a:solidFill>
              </a:rPr>
              <a:t> </a:t>
            </a:r>
            <a:r>
              <a:rPr sz="1575">
                <a:solidFill>
                  <a:srgbClr val="172026"/>
                </a:solidFill>
              </a:rPr>
              <a:t>Terumo </a:t>
            </a:r>
            <a:r>
              <a:rPr sz="1575" b="0">
                <a:solidFill>
                  <a:srgbClr val="172026"/>
                </a:solidFill>
              </a:rPr>
              <a:t>graft </a:t>
            </a:r>
            <a:r>
              <a:rPr sz="1575" b="0">
                <a:solidFill>
                  <a:srgbClr val="172026"/>
                </a:solidFill>
              </a:rPr>
              <a:t>and the arch was replace with the same graft </a:t>
            </a:r>
            <a:r>
              <a:rPr sz="1575" b="0">
                <a:solidFill>
                  <a:srgbClr val="172026"/>
                </a:solidFill>
              </a:rPr>
              <a:t>under arrest with ACP.</a:t>
            </a:r>
            <a:r>
              <a:rPr sz="1575" b="0">
                <a:solidFill>
                  <a:srgbClr val="172026"/>
                </a:solidFill>
              </a:rPr>
              <a:t> NIRS went down 5% from baseline and MAP was reading 34.</a:t>
            </a:r>
          </a:p>
        </p:txBody>
      </p:sp>
      <p:sp>
        <p:nvSpPr>
          <p:cNvPr id="5" name="Rectangle: Rounded Corners 4">
            <a:extLst xmlns:a="http://schemas.openxmlformats.org/drawingml/2006/main">
              <a:ext uri="{FF2B5EF4-FFF2-40B4-BE49-F238E27FC236}">
                <a16:creationId xmlns:a16="http://schemas.microsoft.com/office/drawing/2014/main" id="{CBC039EE-3D27-4BD6-BFE0-C2B3CF51552F}"/>
              </a:ext>
            </a:extLst>
          </p:cNvPr>
          <p:cNvSpPr>
            <a:spLocks xmlns:a="http://schemas.openxmlformats.org/drawingml/2006/main" noGrp="1"/>
          </p:cNvSpPr>
          <p:nvPr/>
        </p:nvSpPr>
        <p:spPr>
          <a:xfrm xmlns:a="http://schemas.openxmlformats.org/drawingml/2006/main">
            <a:off x="4352925" y="1714500"/>
            <a:ext cx="3476625" cy="3562350"/>
          </a:xfrm>
          <a:prstGeom xmlns:a="http://schemas.openxmlformats.org/drawingml/2006/main" prst="roundRect">
            <a:avLst>
              <a:gd name="adj" fmla="val 3288"/>
            </a:avLst>
          </a:prstGeom>
          <a:solidFill xmlns:a="http://schemas.openxmlformats.org/drawingml/2006/main">
            <a:srgbClr val="F7F3E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text">
            <a:extLst xmlns:a="http://schemas.openxmlformats.org/drawingml/2006/main">
              <a:ext uri="{FF2B5EF4-FFF2-40B4-BE49-F238E27FC236}">
                <a16:creationId xmlns:a16="http://schemas.microsoft.com/office/drawing/2014/main" id="{E3978E7B-2B91-42EA-A4D4-42F19DA048F2}"/>
              </a:ext>
            </a:extLst>
          </p:cNvPr>
          <p:cNvSpPr>
            <a:spLocks xmlns:a="http://schemas.openxmlformats.org/drawingml/2006/main" noGrp="1"/>
          </p:cNvSpPr>
          <p:nvPr/>
        </p:nvSpPr>
        <p:spPr>
          <a:xfrm xmlns:a="http://schemas.openxmlformats.org/drawingml/2006/main">
            <a:off x="4638675" y="20383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23047"/>
                </a:solidFill>
              </a:defRPr>
            </a:pPr>
            <a:r>
              <a:rPr sz="1950" b="1">
                <a:solidFill>
                  <a:srgbClr val="123047"/>
                </a:solidFill>
              </a:rPr>
              <a:t>Right subclavian base</a:t>
            </a:r>
          </a:p>
        </p:txBody>
      </p:sp>
      <p:sp>
        <p:nvSpPr>
          <p:cNvPr id="7" name="text">
            <a:extLst xmlns:a="http://schemas.openxmlformats.org/drawingml/2006/main">
              <a:ext uri="{FF2B5EF4-FFF2-40B4-BE49-F238E27FC236}">
                <a16:creationId xmlns:a16="http://schemas.microsoft.com/office/drawing/2014/main" id="{8998B437-3544-493A-B6C1-D3060516D1F2}"/>
              </a:ext>
            </a:extLst>
          </p:cNvPr>
          <p:cNvSpPr>
            <a:spLocks xmlns:a="http://schemas.openxmlformats.org/drawingml/2006/main" noGrp="1"/>
          </p:cNvSpPr>
          <p:nvPr/>
        </p:nvSpPr>
        <p:spPr>
          <a:xfrm xmlns:a="http://schemas.openxmlformats.org/drawingml/2006/main">
            <a:off x="4638675" y="2647950"/>
            <a:ext cx="27146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172026"/>
                </a:solidFill>
              </a:defRPr>
            </a:pPr>
            <a:r>
              <a:rPr sz="1575" b="0">
                <a:solidFill>
                  <a:srgbClr val="172026"/>
                </a:solidFill>
              </a:rPr>
              <a:t>Th</a:t>
            </a:r>
            <a:r>
              <a:rPr sz="1575" b="0">
                <a:solidFill>
                  <a:srgbClr val="172026"/>
                </a:solidFill>
              </a:rPr>
              <a:t>is case had an instance of</a:t>
            </a:r>
            <a:r>
              <a:rPr sz="1575" b="0">
                <a:solidFill>
                  <a:srgbClr val="172026"/>
                </a:solidFill>
              </a:rPr>
              <a:t> “zero cerebral flow” </a:t>
            </a:r>
            <a:r>
              <a:rPr sz="1575" b="0">
                <a:solidFill>
                  <a:srgbClr val="172026"/>
                </a:solidFill>
              </a:rPr>
              <a:t>for 6 minutes </a:t>
            </a:r>
            <a:r>
              <a:rPr sz="1575" b="0">
                <a:solidFill>
                  <a:srgbClr val="172026"/>
                </a:solidFill>
              </a:rPr>
              <a:t>during repair at the base of the right subclavian artery.</a:t>
            </a:r>
            <a:r>
              <a:rPr sz="1575" b="0">
                <a:solidFill>
                  <a:srgbClr val="172026"/>
                </a:solidFill>
              </a:rPr>
              <a:t> NIRS went down 18% from baseline.</a:t>
            </a:r>
          </a:p>
        </p:txBody>
      </p:sp>
      <p:sp>
        <p:nvSpPr>
          <p:cNvPr id="8" name="text">
            <a:extLst xmlns:a="http://schemas.openxmlformats.org/drawingml/2006/main">
              <a:ext uri="{FF2B5EF4-FFF2-40B4-BE49-F238E27FC236}">
                <a16:creationId xmlns:a16="http://schemas.microsoft.com/office/drawing/2014/main" id="{C9A03206-302E-4AB0-8C1F-1D8E91EF7D6B}"/>
              </a:ext>
            </a:extLst>
          </p:cNvPr>
          <p:cNvSpPr>
            <a:spLocks xmlns:a="http://schemas.openxmlformats.org/drawingml/2006/main" noGrp="1"/>
          </p:cNvSpPr>
          <p:nvPr/>
        </p:nvSpPr>
        <p:spPr>
          <a:xfrm xmlns:a="http://schemas.openxmlformats.org/drawingml/2006/main">
            <a:off x="4638675" y="4276725"/>
            <a:ext cx="2714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A33B3B"/>
                </a:solidFill>
              </a:defRPr>
            </a:pPr>
          </a:p>
        </p:txBody>
      </p:sp>
      <p:sp>
        <p:nvSpPr>
          <p:cNvPr id="9" name="Rectangle: Rounded Corners 8">
            <a:extLst xmlns:a="http://schemas.openxmlformats.org/drawingml/2006/main">
              <a:ext uri="{FF2B5EF4-FFF2-40B4-BE49-F238E27FC236}">
                <a16:creationId xmlns:a16="http://schemas.microsoft.com/office/drawing/2014/main" id="{AE71907D-5E05-4CCA-8890-C42444B62B99}"/>
              </a:ext>
            </a:extLst>
          </p:cNvPr>
          <p:cNvSpPr>
            <a:spLocks xmlns:a="http://schemas.openxmlformats.org/drawingml/2006/main" noGrp="1"/>
          </p:cNvSpPr>
          <p:nvPr/>
        </p:nvSpPr>
        <p:spPr>
          <a:xfrm xmlns:a="http://schemas.openxmlformats.org/drawingml/2006/main">
            <a:off x="8248650" y="1714500"/>
            <a:ext cx="3486150" cy="3562350"/>
          </a:xfrm>
          <a:prstGeom xmlns:a="http://schemas.openxmlformats.org/drawingml/2006/main" prst="roundRect">
            <a:avLst>
              <a:gd name="adj" fmla="val 3279"/>
            </a:avLst>
          </a:prstGeom>
          <a:solidFill xmlns:a="http://schemas.openxmlformats.org/drawingml/2006/main">
            <a:srgbClr val="F1F0F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text">
            <a:extLst xmlns:a="http://schemas.openxmlformats.org/drawingml/2006/main">
              <a:ext uri="{FF2B5EF4-FFF2-40B4-BE49-F238E27FC236}">
                <a16:creationId xmlns:a16="http://schemas.microsoft.com/office/drawing/2014/main" id="{154F8963-14D0-4FF8-8972-492BDD56E36D}"/>
              </a:ext>
            </a:extLst>
          </p:cNvPr>
          <p:cNvSpPr>
            <a:spLocks xmlns:a="http://schemas.openxmlformats.org/drawingml/2006/main" noGrp="1"/>
          </p:cNvSpPr>
          <p:nvPr/>
        </p:nvSpPr>
        <p:spPr>
          <a:xfrm xmlns:a="http://schemas.openxmlformats.org/drawingml/2006/main">
            <a:off x="8534400" y="20383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23047"/>
                </a:solidFill>
              </a:defRPr>
            </a:pPr>
            <a:r>
              <a:rPr sz="1950" b="1">
                <a:solidFill>
                  <a:srgbClr val="123047"/>
                </a:solidFill>
              </a:rPr>
              <a:t>Flow restored</a:t>
            </a:r>
          </a:p>
        </p:txBody>
      </p:sp>
      <p:sp>
        <p:nvSpPr>
          <p:cNvPr id="11" name="text">
            <a:extLst xmlns:a="http://schemas.openxmlformats.org/drawingml/2006/main">
              <a:ext uri="{FF2B5EF4-FFF2-40B4-BE49-F238E27FC236}">
                <a16:creationId xmlns:a16="http://schemas.microsoft.com/office/drawing/2014/main" id="{476FF5BC-9F98-4206-891A-E220D80586FA}"/>
              </a:ext>
            </a:extLst>
          </p:cNvPr>
          <p:cNvSpPr>
            <a:spLocks xmlns:a="http://schemas.openxmlformats.org/drawingml/2006/main" noGrp="1"/>
          </p:cNvSpPr>
          <p:nvPr/>
        </p:nvSpPr>
        <p:spPr>
          <a:xfrm xmlns:a="http://schemas.openxmlformats.org/drawingml/2006/main">
            <a:off x="8534400" y="2647950"/>
            <a:ext cx="271462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172026"/>
                </a:solidFill>
              </a:defRPr>
            </a:pPr>
            <a:r>
              <a:rPr sz="1575" b="0">
                <a:solidFill>
                  <a:srgbClr val="172026"/>
                </a:solidFill>
              </a:rPr>
              <a:t>After completion of the critical distal repair, perfusion returned from selective cerebral flow to full-body flow</a:t>
            </a:r>
            <a:r>
              <a:rPr sz="1575" b="0">
                <a:solidFill>
                  <a:srgbClr val="172026"/>
                </a:solidFill>
              </a:rPr>
              <a:t> of 4.27 L</a:t>
            </a:r>
            <a:r>
              <a:rPr sz="1575" b="0">
                <a:solidFill>
                  <a:srgbClr val="172026"/>
                </a:solidFill>
              </a:rPr>
              <a:t>.</a:t>
            </a:r>
          </a:p>
        </p:txBody>
      </p:sp>
      <p:sp>
        <p:nvSpPr>
          <p:cNvPr id="13" name="slide-number">
            <a:extLst xmlns:a="http://schemas.openxmlformats.org/drawingml/2006/main">
              <a:ext uri="{FF2B5EF4-FFF2-40B4-BE49-F238E27FC236}">
                <a16:creationId xmlns:a16="http://schemas.microsoft.com/office/drawing/2014/main" id="{4DA21727-250C-42D9-9757-CDEA2227D359}"/>
              </a:ext>
            </a:extLst>
          </p:cNvPr>
          <p:cNvSpPr>
            <a:spLocks xmlns:a="http://schemas.openxmlformats.org/drawingml/2006/main" noGrp="1"/>
          </p:cNvSpPr>
          <p:nvPr/>
        </p:nvSpPr>
        <p:spPr>
          <a:xfrm xmlns:a="http://schemas.openxmlformats.org/drawingml/2006/main">
            <a:off x="11277600" y="64198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0">
                <a:solidFill>
                  <a:srgbClr val="56636B"/>
                </a:solidFill>
              </a:defRPr>
            </a:pPr>
            <a:r>
              <a:rPr sz="825" b="0">
                <a:solidFill>
                  <a:srgbClr val="56636B"/>
                </a:solidFill>
              </a:rPr>
              <a:t>10</a:t>
            </a:r>
          </a:p>
        </p:txBody>
      </p:sp>
    </p:spTree>
    <p:extLst>
      <p:ext uri="{BB962C8B-B14F-4D97-AF65-F5344CB8AC3E}">
        <p14:creationId xmlns:p14="http://schemas.microsoft.com/office/powerpoint/2010/main" val="179086753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3104AC1B-263C-4F6C-93A0-ABA100CA7A19}"/>
              </a:ext>
            </a:extLst>
          </p:cNvPr>
          <p:cNvSpPr>
            <a:spLocks xmlns:a="http://schemas.openxmlformats.org/drawingml/2006/main" noGrp="1"/>
          </p:cNvSpPr>
          <p:nvPr/>
        </p:nvSpPr>
        <p:spPr>
          <a:xfrm xmlns:a="http://schemas.openxmlformats.org/drawingml/2006/main">
            <a:off x="457200" y="323850"/>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850" b="1">
                <a:solidFill>
                  <a:srgbClr val="123047"/>
                </a:solidFill>
              </a:defRPr>
            </a:pPr>
            <a:r>
              <a:rPr sz="2850" b="1">
                <a:solidFill>
                  <a:srgbClr val="123047"/>
                </a:solidFill>
              </a:rPr>
              <a:t>Full-body perfusion supported valve replacement, rewarming and separation from CPB</a:t>
            </a:r>
          </a:p>
        </p:txBody>
      </p:sp>
      <p:sp>
        <p:nvSpPr>
          <p:cNvPr id="2" name="Rectangle: Rounded Corners 1">
            <a:extLst xmlns:a="http://schemas.openxmlformats.org/drawingml/2006/main">
              <a:ext uri="{FF2B5EF4-FFF2-40B4-BE49-F238E27FC236}">
                <a16:creationId xmlns:a16="http://schemas.microsoft.com/office/drawing/2014/main" id="{C0DD9BCA-9D9A-4F44-9D64-1A6CB81B77A3}"/>
              </a:ext>
            </a:extLst>
          </p:cNvPr>
          <p:cNvSpPr>
            <a:spLocks xmlns:a="http://schemas.openxmlformats.org/drawingml/2006/main" noGrp="1"/>
          </p:cNvSpPr>
          <p:nvPr/>
        </p:nvSpPr>
        <p:spPr>
          <a:xfrm xmlns:a="http://schemas.openxmlformats.org/drawingml/2006/main">
            <a:off x="457200" y="1924050"/>
            <a:ext cx="2000250" cy="2428875"/>
          </a:xfrm>
          <a:prstGeom xmlns:a="http://schemas.openxmlformats.org/drawingml/2006/main" prst="roundRect">
            <a:avLst>
              <a:gd name="adj" fmla="val 5714"/>
            </a:avLst>
          </a:prstGeom>
          <a:solidFill xmlns:a="http://schemas.openxmlformats.org/drawingml/2006/main">
            <a:srgbClr val="EEF4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text">
            <a:extLst xmlns:a="http://schemas.openxmlformats.org/drawingml/2006/main">
              <a:ext uri="{FF2B5EF4-FFF2-40B4-BE49-F238E27FC236}">
                <a16:creationId xmlns:a16="http://schemas.microsoft.com/office/drawing/2014/main" id="{E7331027-8107-4E44-A498-2481F90473FB}"/>
              </a:ext>
            </a:extLst>
          </p:cNvPr>
          <p:cNvSpPr>
            <a:spLocks xmlns:a="http://schemas.openxmlformats.org/drawingml/2006/main" noGrp="1"/>
          </p:cNvSpPr>
          <p:nvPr/>
        </p:nvSpPr>
        <p:spPr>
          <a:xfrm xmlns:a="http://schemas.openxmlformats.org/drawingml/2006/main">
            <a:off x="666750" y="2143125"/>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A33B3B"/>
                </a:solidFill>
              </a:defRPr>
            </a:pPr>
            <a:r>
              <a:rPr sz="2100" b="1">
                <a:solidFill>
                  <a:srgbClr val="A33B3B"/>
                </a:solidFill>
              </a:rPr>
              <a:t>1</a:t>
            </a:r>
          </a:p>
        </p:txBody>
      </p:sp>
      <p:sp>
        <p:nvSpPr>
          <p:cNvPr id="4" name="text">
            <a:extLst xmlns:a="http://schemas.openxmlformats.org/drawingml/2006/main">
              <a:ext uri="{FF2B5EF4-FFF2-40B4-BE49-F238E27FC236}">
                <a16:creationId xmlns:a16="http://schemas.microsoft.com/office/drawing/2014/main" id="{6ECE0AF1-4E8C-480B-9FD0-F1EBA52D75E1}"/>
              </a:ext>
            </a:extLst>
          </p:cNvPr>
          <p:cNvSpPr>
            <a:spLocks xmlns:a="http://schemas.openxmlformats.org/drawingml/2006/main" noGrp="1"/>
          </p:cNvSpPr>
          <p:nvPr/>
        </p:nvSpPr>
        <p:spPr>
          <a:xfrm xmlns:a="http://schemas.openxmlformats.org/drawingml/2006/main">
            <a:off x="666750" y="2847975"/>
            <a:ext cx="15811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23047"/>
                </a:solidFill>
              </a:defRPr>
            </a:pPr>
            <a:r>
              <a:rPr sz="1650" b="1">
                <a:solidFill>
                  <a:srgbClr val="123047"/>
                </a:solidFill>
              </a:rPr>
              <a:t>Restore systemic flow</a:t>
            </a:r>
            <a:r>
              <a:rPr sz="1650" b="1">
                <a:solidFill>
                  <a:srgbClr val="123047"/>
                </a:solidFill>
              </a:rPr>
              <a:t> and start to re-warm to 37 degrees Celsius </a:t>
            </a:r>
          </a:p>
        </p:txBody>
      </p:sp>
      <p:sp>
        <p:nvSpPr>
          <p:cNvPr id="5" name="Rectangle: Rounded Corners 4">
            <a:extLst xmlns:a="http://schemas.openxmlformats.org/drawingml/2006/main">
              <a:ext uri="{FF2B5EF4-FFF2-40B4-BE49-F238E27FC236}">
                <a16:creationId xmlns:a16="http://schemas.microsoft.com/office/drawing/2014/main" id="{45949099-5C6B-42A7-9F8D-34A60C2DC61D}"/>
              </a:ext>
            </a:extLst>
          </p:cNvPr>
          <p:cNvSpPr>
            <a:spLocks xmlns:a="http://schemas.openxmlformats.org/drawingml/2006/main" noGrp="1"/>
          </p:cNvSpPr>
          <p:nvPr/>
        </p:nvSpPr>
        <p:spPr>
          <a:xfrm xmlns:a="http://schemas.openxmlformats.org/drawingml/2006/main">
            <a:off x="2724150" y="1924050"/>
            <a:ext cx="2000250" cy="2428875"/>
          </a:xfrm>
          <a:prstGeom xmlns:a="http://schemas.openxmlformats.org/drawingml/2006/main" prst="roundRect">
            <a:avLst>
              <a:gd name="adj" fmla="val 5714"/>
            </a:avLst>
          </a:prstGeom>
          <a:solidFill xmlns:a="http://schemas.openxmlformats.org/drawingml/2006/main">
            <a:srgbClr val="EEF4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text">
            <a:extLst xmlns:a="http://schemas.openxmlformats.org/drawingml/2006/main">
              <a:ext uri="{FF2B5EF4-FFF2-40B4-BE49-F238E27FC236}">
                <a16:creationId xmlns:a16="http://schemas.microsoft.com/office/drawing/2014/main" id="{D369555E-CAD4-4018-947E-595FD580A296}"/>
              </a:ext>
            </a:extLst>
          </p:cNvPr>
          <p:cNvSpPr>
            <a:spLocks xmlns:a="http://schemas.openxmlformats.org/drawingml/2006/main" noGrp="1"/>
          </p:cNvSpPr>
          <p:nvPr/>
        </p:nvSpPr>
        <p:spPr>
          <a:xfrm xmlns:a="http://schemas.openxmlformats.org/drawingml/2006/main">
            <a:off x="2933700" y="2143125"/>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A33B3B"/>
                </a:solidFill>
              </a:defRPr>
            </a:pPr>
            <a:r>
              <a:rPr sz="2100" b="1">
                <a:solidFill>
                  <a:srgbClr val="A33B3B"/>
                </a:solidFill>
              </a:rPr>
              <a:t>2</a:t>
            </a:r>
          </a:p>
        </p:txBody>
      </p:sp>
      <p:sp>
        <p:nvSpPr>
          <p:cNvPr id="7" name="text">
            <a:extLst xmlns:a="http://schemas.openxmlformats.org/drawingml/2006/main">
              <a:ext uri="{FF2B5EF4-FFF2-40B4-BE49-F238E27FC236}">
                <a16:creationId xmlns:a16="http://schemas.microsoft.com/office/drawing/2014/main" id="{F96AF5E1-A093-4603-A425-B2C32AF3E831}"/>
              </a:ext>
            </a:extLst>
          </p:cNvPr>
          <p:cNvSpPr>
            <a:spLocks xmlns:a="http://schemas.openxmlformats.org/drawingml/2006/main" noGrp="1"/>
          </p:cNvSpPr>
          <p:nvPr/>
        </p:nvSpPr>
        <p:spPr>
          <a:xfrm xmlns:a="http://schemas.openxmlformats.org/drawingml/2006/main">
            <a:off x="2933700" y="2847975"/>
            <a:ext cx="15811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23047"/>
                </a:solidFill>
              </a:defRPr>
            </a:pPr>
            <a:r>
              <a:rPr sz="1650" b="1">
                <a:solidFill>
                  <a:srgbClr val="123047"/>
                </a:solidFill>
              </a:rPr>
              <a:t>Resect subaortic membrane</a:t>
            </a:r>
          </a:p>
        </p:txBody>
      </p:sp>
      <p:sp>
        <p:nvSpPr>
          <p:cNvPr id="8" name="Rectangle: Rounded Corners 7">
            <a:extLst xmlns:a="http://schemas.openxmlformats.org/drawingml/2006/main">
              <a:ext uri="{FF2B5EF4-FFF2-40B4-BE49-F238E27FC236}">
                <a16:creationId xmlns:a16="http://schemas.microsoft.com/office/drawing/2014/main" id="{8DFB3101-7407-4075-B20D-B831F85EDDF5}"/>
              </a:ext>
            </a:extLst>
          </p:cNvPr>
          <p:cNvSpPr>
            <a:spLocks xmlns:a="http://schemas.openxmlformats.org/drawingml/2006/main" noGrp="1"/>
          </p:cNvSpPr>
          <p:nvPr/>
        </p:nvSpPr>
        <p:spPr>
          <a:xfrm xmlns:a="http://schemas.openxmlformats.org/drawingml/2006/main">
            <a:off x="4991100" y="1924050"/>
            <a:ext cx="2000250" cy="2428875"/>
          </a:xfrm>
          <a:prstGeom xmlns:a="http://schemas.openxmlformats.org/drawingml/2006/main" prst="roundRect">
            <a:avLst>
              <a:gd name="adj" fmla="val 5714"/>
            </a:avLst>
          </a:prstGeom>
          <a:solidFill xmlns:a="http://schemas.openxmlformats.org/drawingml/2006/main">
            <a:srgbClr val="EEF4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text">
            <a:extLst xmlns:a="http://schemas.openxmlformats.org/drawingml/2006/main">
              <a:ext uri="{FF2B5EF4-FFF2-40B4-BE49-F238E27FC236}">
                <a16:creationId xmlns:a16="http://schemas.microsoft.com/office/drawing/2014/main" id="{32F3CFBD-A8AC-49C4-A9CA-551106EF24BB}"/>
              </a:ext>
            </a:extLst>
          </p:cNvPr>
          <p:cNvSpPr>
            <a:spLocks xmlns:a="http://schemas.openxmlformats.org/drawingml/2006/main" noGrp="1"/>
          </p:cNvSpPr>
          <p:nvPr/>
        </p:nvSpPr>
        <p:spPr>
          <a:xfrm xmlns:a="http://schemas.openxmlformats.org/drawingml/2006/main">
            <a:off x="5200650" y="2143125"/>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A33B3B"/>
                </a:solidFill>
              </a:defRPr>
            </a:pPr>
            <a:r>
              <a:rPr sz="2100" b="1">
                <a:solidFill>
                  <a:srgbClr val="A33B3B"/>
                </a:solidFill>
              </a:rPr>
              <a:t>3</a:t>
            </a:r>
          </a:p>
        </p:txBody>
      </p:sp>
      <p:sp>
        <p:nvSpPr>
          <p:cNvPr id="10" name="text">
            <a:extLst xmlns:a="http://schemas.openxmlformats.org/drawingml/2006/main">
              <a:ext uri="{FF2B5EF4-FFF2-40B4-BE49-F238E27FC236}">
                <a16:creationId xmlns:a16="http://schemas.microsoft.com/office/drawing/2014/main" id="{B9D3F405-39B3-45FB-A04F-A232178CB195}"/>
              </a:ext>
            </a:extLst>
          </p:cNvPr>
          <p:cNvSpPr>
            <a:spLocks xmlns:a="http://schemas.openxmlformats.org/drawingml/2006/main" noGrp="1"/>
          </p:cNvSpPr>
          <p:nvPr/>
        </p:nvSpPr>
        <p:spPr>
          <a:xfrm xmlns:a="http://schemas.openxmlformats.org/drawingml/2006/main">
            <a:off x="5105400" y="2476500"/>
            <a:ext cx="15811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23047"/>
                </a:solidFill>
              </a:defRPr>
            </a:pPr>
            <a:r>
              <a:rPr sz="1650" b="1">
                <a:solidFill>
                  <a:srgbClr val="123047"/>
                </a:solidFill>
              </a:rPr>
              <a:t>Implant mechanical aortic valve</a:t>
            </a:r>
            <a:r>
              <a:rPr sz="1650" b="1">
                <a:solidFill>
                  <a:srgbClr val="123047"/>
                </a:solidFill>
              </a:rPr>
              <a:t> using a 25mm St. Jude mechanical valve</a:t>
            </a:r>
          </a:p>
        </p:txBody>
      </p:sp>
      <p:sp>
        <p:nvSpPr>
          <p:cNvPr id="11" name="Rectangle: Rounded Corners 10">
            <a:extLst xmlns:a="http://schemas.openxmlformats.org/drawingml/2006/main">
              <a:ext uri="{FF2B5EF4-FFF2-40B4-BE49-F238E27FC236}">
                <a16:creationId xmlns:a16="http://schemas.microsoft.com/office/drawing/2014/main" id="{7BF231C6-6106-4B03-BB02-700FE19518B8}"/>
              </a:ext>
            </a:extLst>
          </p:cNvPr>
          <p:cNvSpPr>
            <a:spLocks xmlns:a="http://schemas.openxmlformats.org/drawingml/2006/main" noGrp="1"/>
          </p:cNvSpPr>
          <p:nvPr/>
        </p:nvSpPr>
        <p:spPr>
          <a:xfrm xmlns:a="http://schemas.openxmlformats.org/drawingml/2006/main">
            <a:off x="7258050" y="1924050"/>
            <a:ext cx="2000250" cy="2428875"/>
          </a:xfrm>
          <a:prstGeom xmlns:a="http://schemas.openxmlformats.org/drawingml/2006/main" prst="roundRect">
            <a:avLst>
              <a:gd name="adj" fmla="val 5714"/>
            </a:avLst>
          </a:prstGeom>
          <a:solidFill xmlns:a="http://schemas.openxmlformats.org/drawingml/2006/main">
            <a:srgbClr val="EEF4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2" name="text">
            <a:extLst xmlns:a="http://schemas.openxmlformats.org/drawingml/2006/main">
              <a:ext uri="{FF2B5EF4-FFF2-40B4-BE49-F238E27FC236}">
                <a16:creationId xmlns:a16="http://schemas.microsoft.com/office/drawing/2014/main" id="{A7FDF010-9205-4771-B722-3DDD821A2560}"/>
              </a:ext>
            </a:extLst>
          </p:cNvPr>
          <p:cNvSpPr>
            <a:spLocks xmlns:a="http://schemas.openxmlformats.org/drawingml/2006/main" noGrp="1"/>
          </p:cNvSpPr>
          <p:nvPr/>
        </p:nvSpPr>
        <p:spPr>
          <a:xfrm xmlns:a="http://schemas.openxmlformats.org/drawingml/2006/main">
            <a:off x="7467600" y="2143125"/>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A33B3B"/>
                </a:solidFill>
              </a:defRPr>
            </a:pPr>
            <a:r>
              <a:rPr sz="2100" b="1">
                <a:solidFill>
                  <a:srgbClr val="A33B3B"/>
                </a:solidFill>
              </a:rPr>
              <a:t>4</a:t>
            </a:r>
          </a:p>
        </p:txBody>
      </p:sp>
      <p:sp>
        <p:nvSpPr>
          <p:cNvPr id="13" name="text">
            <a:extLst xmlns:a="http://schemas.openxmlformats.org/drawingml/2006/main">
              <a:ext uri="{FF2B5EF4-FFF2-40B4-BE49-F238E27FC236}">
                <a16:creationId xmlns:a16="http://schemas.microsoft.com/office/drawing/2014/main" id="{B9B8BB57-2F69-42CF-92AE-6D69F5CE5A89}"/>
              </a:ext>
            </a:extLst>
          </p:cNvPr>
          <p:cNvSpPr>
            <a:spLocks xmlns:a="http://schemas.openxmlformats.org/drawingml/2006/main" noGrp="1"/>
          </p:cNvSpPr>
          <p:nvPr/>
        </p:nvSpPr>
        <p:spPr>
          <a:xfrm xmlns:a="http://schemas.openxmlformats.org/drawingml/2006/main">
            <a:off x="7467600" y="2847975"/>
            <a:ext cx="15811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23047"/>
                </a:solidFill>
              </a:defRPr>
            </a:pPr>
            <a:r>
              <a:rPr sz="1650" b="1">
                <a:solidFill>
                  <a:srgbClr val="123047"/>
                </a:solidFill>
              </a:rPr>
              <a:t>Rewarm and de-air</a:t>
            </a:r>
            <a:r>
              <a:rPr sz="1650" b="1">
                <a:solidFill>
                  <a:srgbClr val="123047"/>
                </a:solidFill>
              </a:rPr>
              <a:t> using the Root Vent and LV Sump on high</a:t>
            </a:r>
          </a:p>
        </p:txBody>
      </p:sp>
      <p:sp>
        <p:nvSpPr>
          <p:cNvPr id="14" name="Rectangle: Rounded Corners 13">
            <a:extLst xmlns:a="http://schemas.openxmlformats.org/drawingml/2006/main">
              <a:ext uri="{FF2B5EF4-FFF2-40B4-BE49-F238E27FC236}">
                <a16:creationId xmlns:a16="http://schemas.microsoft.com/office/drawing/2014/main" id="{A16A571E-9F7A-4B7C-A89E-8143B82DAD23}"/>
              </a:ext>
            </a:extLst>
          </p:cNvPr>
          <p:cNvSpPr>
            <a:spLocks xmlns:a="http://schemas.openxmlformats.org/drawingml/2006/main" noGrp="1"/>
          </p:cNvSpPr>
          <p:nvPr/>
        </p:nvSpPr>
        <p:spPr>
          <a:xfrm xmlns:a="http://schemas.openxmlformats.org/drawingml/2006/main">
            <a:off x="9525000" y="1924050"/>
            <a:ext cx="2000250" cy="2428875"/>
          </a:xfrm>
          <a:prstGeom xmlns:a="http://schemas.openxmlformats.org/drawingml/2006/main" prst="roundRect">
            <a:avLst>
              <a:gd name="adj" fmla="val 5714"/>
            </a:avLst>
          </a:prstGeom>
          <a:solidFill xmlns:a="http://schemas.openxmlformats.org/drawingml/2006/main">
            <a:srgbClr val="12304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5" name="text">
            <a:extLst xmlns:a="http://schemas.openxmlformats.org/drawingml/2006/main">
              <a:ext uri="{FF2B5EF4-FFF2-40B4-BE49-F238E27FC236}">
                <a16:creationId xmlns:a16="http://schemas.microsoft.com/office/drawing/2014/main" id="{E808A203-C170-4996-8E6B-8D28839E1260}"/>
              </a:ext>
            </a:extLst>
          </p:cNvPr>
          <p:cNvSpPr>
            <a:spLocks xmlns:a="http://schemas.openxmlformats.org/drawingml/2006/main" noGrp="1"/>
          </p:cNvSpPr>
          <p:nvPr/>
        </p:nvSpPr>
        <p:spPr>
          <a:xfrm xmlns:a="http://schemas.openxmlformats.org/drawingml/2006/main">
            <a:off x="9734550" y="2143125"/>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72B6C9"/>
                </a:solidFill>
              </a:defRPr>
            </a:pPr>
            <a:r>
              <a:rPr sz="2100" b="1">
                <a:solidFill>
                  <a:srgbClr val="72B6C9"/>
                </a:solidFill>
              </a:rPr>
              <a:t>5</a:t>
            </a:r>
          </a:p>
        </p:txBody>
      </p:sp>
      <p:sp>
        <p:nvSpPr>
          <p:cNvPr id="16" name="text">
            <a:extLst xmlns:a="http://schemas.openxmlformats.org/drawingml/2006/main">
              <a:ext uri="{FF2B5EF4-FFF2-40B4-BE49-F238E27FC236}">
                <a16:creationId xmlns:a16="http://schemas.microsoft.com/office/drawing/2014/main" id="{24348837-581E-4E77-BB9A-B5B02A21CA3C}"/>
              </a:ext>
            </a:extLst>
          </p:cNvPr>
          <p:cNvSpPr>
            <a:spLocks xmlns:a="http://schemas.openxmlformats.org/drawingml/2006/main" noGrp="1"/>
          </p:cNvSpPr>
          <p:nvPr/>
        </p:nvSpPr>
        <p:spPr>
          <a:xfrm xmlns:a="http://schemas.openxmlformats.org/drawingml/2006/main">
            <a:off x="9734550" y="2847975"/>
            <a:ext cx="15811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FFFFFF"/>
                </a:solidFill>
              </a:defRPr>
            </a:pPr>
            <a:r>
              <a:rPr sz="1650" b="1">
                <a:solidFill>
                  <a:srgbClr val="FFFFFF"/>
                </a:solidFill>
              </a:rPr>
              <a:t>Wean successfully</a:t>
            </a:r>
          </a:p>
        </p:txBody>
      </p:sp>
      <p:sp>
        <p:nvSpPr>
          <p:cNvPr id="19" name="source">
            <a:extLst xmlns:a="http://schemas.openxmlformats.org/drawingml/2006/main">
              <a:ext uri="{FF2B5EF4-FFF2-40B4-BE49-F238E27FC236}">
                <a16:creationId xmlns:a16="http://schemas.microsoft.com/office/drawing/2014/main" id="{93D77BCB-BD1C-4E70-8688-949183857D49}"/>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p:txBody>
      </p:sp>
      <p:sp>
        <p:nvSpPr>
          <p:cNvPr id="20" name="slide-number">
            <a:extLst xmlns:a="http://schemas.openxmlformats.org/drawingml/2006/main">
              <a:ext uri="{FF2B5EF4-FFF2-40B4-BE49-F238E27FC236}">
                <a16:creationId xmlns:a16="http://schemas.microsoft.com/office/drawing/2014/main" id="{22441970-3B84-466C-8B2F-521A05811EC9}"/>
              </a:ext>
            </a:extLst>
          </p:cNvPr>
          <p:cNvSpPr>
            <a:spLocks xmlns:a="http://schemas.openxmlformats.org/drawingml/2006/main" noGrp="1"/>
          </p:cNvSpPr>
          <p:nvPr/>
        </p:nvSpPr>
        <p:spPr>
          <a:xfrm xmlns:a="http://schemas.openxmlformats.org/drawingml/2006/main">
            <a:off x="11277600" y="64198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0">
                <a:solidFill>
                  <a:srgbClr val="56636B"/>
                </a:solidFill>
              </a:defRPr>
            </a:pPr>
            <a:r>
              <a:rPr sz="825" b="0">
                <a:solidFill>
                  <a:srgbClr val="56636B"/>
                </a:solidFill>
              </a:rPr>
              <a:t>11</a:t>
            </a:r>
          </a:p>
        </p:txBody>
      </p:sp>
    </p:spTree>
    <p:extLst>
      <p:ext uri="{BB962C8B-B14F-4D97-AF65-F5344CB8AC3E}">
        <p14:creationId xmlns:p14="http://schemas.microsoft.com/office/powerpoint/2010/main" val="461735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a:extLst xmlns:a="http://schemas.openxmlformats.org/drawingml/2006/main">
              <a:ext uri="{FF2B5EF4-FFF2-40B4-BE49-F238E27FC236}">
                <a16:creationId xmlns:a16="http://schemas.microsoft.com/office/drawing/2014/main" id="{E2FE9F69-398E-496E-BFA8-30AC56D4A2D7}"/>
              </a:ext>
            </a:extLst>
          </p:cNvPr>
          <p:cNvSpPr>
            <a:spLocks xmlns:a="http://schemas.openxmlformats.org/drawingml/2006/main" noGrp="1"/>
          </p:cNvSpPr>
          <p:nvPr/>
        </p:nvSpPr>
        <p:spPr>
          <a:xfrm xmlns:a="http://schemas.openxmlformats.org/drawingml/2006/main">
            <a:off x="457200" y="323850"/>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23047"/>
                </a:solidFill>
              </a:defRPr>
            </a:pPr>
            <a:r>
              <a:rPr sz="2850" b="1">
                <a:solidFill>
                  <a:srgbClr val="123047"/>
                </a:solidFill>
              </a:rPr>
              <a:t>The operative timeline concentrated risk into a 20-minute arrest window</a:t>
            </a:r>
          </a:p>
        </p:txBody>
      </p:sp>
      <p:sp>
        <p:nvSpPr>
          <p:cNvPr id="2" name="Straight Connector 1">
            <a:extLst xmlns:a="http://schemas.openxmlformats.org/drawingml/2006/main">
              <a:ext uri="{FF2B5EF4-FFF2-40B4-BE49-F238E27FC236}">
                <a16:creationId xmlns:a16="http://schemas.microsoft.com/office/drawing/2014/main" id="{CA13E85F-BB5E-4E80-8F1E-3A60E3328CFA}"/>
              </a:ext>
            </a:extLst>
          </p:cNvPr>
          <p:cNvSpPr>
            <a:spLocks xmlns:a="http://schemas.openxmlformats.org/drawingml/2006/main" noGrp="1"/>
          </p:cNvSpPr>
          <p:nvPr/>
        </p:nvSpPr>
        <p:spPr>
          <a:xfrm xmlns:a="http://schemas.openxmlformats.org/drawingml/2006/main">
            <a:off x="904875" y="3143250"/>
            <a:ext cx="8953500" cy="0"/>
          </a:xfrm>
          <a:prstGeom xmlns:a="http://schemas.openxmlformats.org/drawingml/2006/main" prst="line">
            <a:avLst/>
          </a:prstGeom>
          <a:ln xmlns:a="http://schemas.openxmlformats.org/drawingml/2006/main" w="114300">
            <a:solidFill>
              <a:srgbClr val="123047"/>
            </a:solidFill>
            <a:prstDash val="solid"/>
          </a:ln>
        </p:spPr>
        <p:txBody>
          <a:bodyPr xmlns:a="http://schemas.openxmlformats.org/drawingml/2006/main"/>
          <a:lstStyle xmlns:a="http://schemas.openxmlformats.org/drawingml/2006/main"/>
          <a:p xmlns:a="http://schemas.openxmlformats.org/drawingml/2006/main"/>
        </p:txBody>
      </p:sp>
      <p:sp>
        <p:nvSpPr>
          <p:cNvPr id="3" name="Rectangle 2">
            <a:extLst xmlns:a="http://schemas.openxmlformats.org/drawingml/2006/main">
              <a:ext uri="{FF2B5EF4-FFF2-40B4-BE49-F238E27FC236}">
                <a16:creationId xmlns:a16="http://schemas.microsoft.com/office/drawing/2014/main" id="{859A595D-3D70-4A48-9253-CAE43DABB77C}"/>
              </a:ext>
            </a:extLst>
          </p:cNvPr>
          <p:cNvSpPr>
            <a:spLocks xmlns:a="http://schemas.openxmlformats.org/drawingml/2006/main" noGrp="1"/>
          </p:cNvSpPr>
          <p:nvPr/>
        </p:nvSpPr>
        <p:spPr>
          <a:xfrm xmlns:a="http://schemas.openxmlformats.org/drawingml/2006/main">
            <a:off x="904875" y="2733675"/>
            <a:ext cx="8953500" cy="819150"/>
          </a:xfrm>
          <a:prstGeom xmlns:a="http://schemas.openxmlformats.org/drawingml/2006/main" prst="rect">
            <a:avLst/>
          </a:prstGeom>
          <a:noFill xmlns:a="http://schemas.openxmlformats.org/drawingml/2006/main"/>
          <a:ln xmlns:a="http://schemas.openxmlformats.org/drawingml/2006/main" w="9525">
            <a:solidFill>
              <a:srgbClr val="123047"/>
            </a:solidFill>
            <a:prstDash val="solid"/>
          </a:ln>
        </p:spPr>
        <p:txBody>
          <a:bodyPr xmlns:a="http://schemas.openxmlformats.org/drawingml/2006/main"/>
          <a:lstStyle xmlns:a="http://schemas.openxmlformats.org/drawingml/2006/main"/>
          <a:p xmlns:a="http://schemas.openxmlformats.org/drawingml/2006/main"/>
        </p:txBody>
      </p:sp>
      <p:sp>
        <p:nvSpPr>
          <p:cNvPr id="4" name="text">
            <a:extLst xmlns:a="http://schemas.openxmlformats.org/drawingml/2006/main">
              <a:ext uri="{FF2B5EF4-FFF2-40B4-BE49-F238E27FC236}">
                <a16:creationId xmlns:a16="http://schemas.microsoft.com/office/drawing/2014/main" id="{5492C005-B8D2-406D-B652-1A14BA76F2D8}"/>
              </a:ext>
            </a:extLst>
          </p:cNvPr>
          <p:cNvSpPr>
            <a:spLocks xmlns:a="http://schemas.openxmlformats.org/drawingml/2006/main" noGrp="1"/>
          </p:cNvSpPr>
          <p:nvPr/>
        </p:nvSpPr>
        <p:spPr>
          <a:xfrm xmlns:a="http://schemas.openxmlformats.org/drawingml/2006/main">
            <a:off x="904875" y="22669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23047"/>
                </a:solidFill>
              </a:defRPr>
            </a:pPr>
            <a:r>
              <a:rPr sz="1350" b="1">
                <a:solidFill>
                  <a:srgbClr val="123047"/>
                </a:solidFill>
              </a:rPr>
              <a:t>TOTAL CPB</a:t>
            </a:r>
          </a:p>
        </p:txBody>
      </p:sp>
      <p:sp>
        <p:nvSpPr>
          <p:cNvPr id="5" name="text">
            <a:extLst xmlns:a="http://schemas.openxmlformats.org/drawingml/2006/main">
              <a:ext uri="{FF2B5EF4-FFF2-40B4-BE49-F238E27FC236}">
                <a16:creationId xmlns:a16="http://schemas.microsoft.com/office/drawing/2014/main" id="{5B9679A2-88C1-4210-80C1-EF4F055A0CC6}"/>
              </a:ext>
            </a:extLst>
          </p:cNvPr>
          <p:cNvSpPr>
            <a:spLocks xmlns:a="http://schemas.openxmlformats.org/drawingml/2006/main" noGrp="1"/>
          </p:cNvSpPr>
          <p:nvPr/>
        </p:nvSpPr>
        <p:spPr>
          <a:xfrm xmlns:a="http://schemas.openxmlformats.org/drawingml/2006/main">
            <a:off x="8429625" y="22669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950" b="1">
                <a:solidFill>
                  <a:srgbClr val="123047"/>
                </a:solidFill>
              </a:defRPr>
            </a:pPr>
            <a:r>
              <a:rPr sz="1950" b="1">
                <a:solidFill>
                  <a:srgbClr val="123047"/>
                </a:solidFill>
              </a:rPr>
              <a:t>100 min</a:t>
            </a:r>
          </a:p>
        </p:txBody>
      </p:sp>
      <p:sp>
        <p:nvSpPr>
          <p:cNvPr id="6" name="Rectangle: Rounded Corners 5">
            <a:extLst xmlns:a="http://schemas.openxmlformats.org/drawingml/2006/main">
              <a:ext uri="{FF2B5EF4-FFF2-40B4-BE49-F238E27FC236}">
                <a16:creationId xmlns:a16="http://schemas.microsoft.com/office/drawing/2014/main" id="{4862789B-6CC3-41E5-B141-B5FC09CF81FF}"/>
              </a:ext>
            </a:extLst>
          </p:cNvPr>
          <p:cNvSpPr>
            <a:spLocks xmlns:a="http://schemas.openxmlformats.org/drawingml/2006/main" noGrp="1"/>
          </p:cNvSpPr>
          <p:nvPr/>
        </p:nvSpPr>
        <p:spPr>
          <a:xfrm xmlns:a="http://schemas.openxmlformats.org/drawingml/2006/main">
            <a:off x="10048875" y="1952625"/>
            <a:ext cx="1428750" cy="1143000"/>
          </a:xfrm>
          <a:prstGeom xmlns:a="http://schemas.openxmlformats.org/drawingml/2006/main" prst="roundRect">
            <a:avLst>
              <a:gd name="adj" fmla="val 10000"/>
            </a:avLst>
          </a:prstGeom>
          <a:solidFill xmlns:a="http://schemas.openxmlformats.org/drawingml/2006/main">
            <a:srgbClr val="EEF4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 name="text">
            <a:extLst xmlns:a="http://schemas.openxmlformats.org/drawingml/2006/main">
              <a:ext uri="{FF2B5EF4-FFF2-40B4-BE49-F238E27FC236}">
                <a16:creationId xmlns:a16="http://schemas.microsoft.com/office/drawing/2014/main" id="{1D2AF207-F94F-4A84-BFBC-1B6F878E0E84}"/>
              </a:ext>
            </a:extLst>
          </p:cNvPr>
          <p:cNvSpPr>
            <a:spLocks xmlns:a="http://schemas.openxmlformats.org/drawingml/2006/main" noGrp="1"/>
          </p:cNvSpPr>
          <p:nvPr/>
        </p:nvSpPr>
        <p:spPr>
          <a:xfrm xmlns:a="http://schemas.openxmlformats.org/drawingml/2006/main">
            <a:off x="10248900" y="21336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56636B"/>
                </a:solidFill>
              </a:defRPr>
            </a:pPr>
            <a:r>
              <a:rPr sz="1350" b="1">
                <a:solidFill>
                  <a:srgbClr val="56636B"/>
                </a:solidFill>
              </a:rPr>
              <a:t>Clamp</a:t>
            </a:r>
          </a:p>
        </p:txBody>
      </p:sp>
      <p:sp>
        <p:nvSpPr>
          <p:cNvPr id="8" name="text">
            <a:extLst xmlns:a="http://schemas.openxmlformats.org/drawingml/2006/main">
              <a:ext uri="{FF2B5EF4-FFF2-40B4-BE49-F238E27FC236}">
                <a16:creationId xmlns:a16="http://schemas.microsoft.com/office/drawing/2014/main" id="{55EE2D52-F5AB-4BBE-A739-C03808E687C4}"/>
              </a:ext>
            </a:extLst>
          </p:cNvPr>
          <p:cNvSpPr>
            <a:spLocks xmlns:a="http://schemas.openxmlformats.org/drawingml/2006/main" noGrp="1"/>
          </p:cNvSpPr>
          <p:nvPr/>
        </p:nvSpPr>
        <p:spPr>
          <a:xfrm xmlns:a="http://schemas.openxmlformats.org/drawingml/2006/main">
            <a:off x="10248900" y="2476500"/>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A33B3B"/>
                </a:solidFill>
              </a:defRPr>
            </a:pPr>
            <a:r>
              <a:rPr sz="2850" b="1">
                <a:solidFill>
                  <a:srgbClr val="A33B3B"/>
                </a:solidFill>
              </a:rPr>
              <a:t>55</a:t>
            </a:r>
          </a:p>
        </p:txBody>
      </p:sp>
      <p:sp>
        <p:nvSpPr>
          <p:cNvPr id="9" name="text">
            <a:extLst xmlns:a="http://schemas.openxmlformats.org/drawingml/2006/main">
              <a:ext uri="{FF2B5EF4-FFF2-40B4-BE49-F238E27FC236}">
                <a16:creationId xmlns:a16="http://schemas.microsoft.com/office/drawing/2014/main" id="{82F90F56-EB0F-40EB-AD98-5D60FA3DB574}"/>
              </a:ext>
            </a:extLst>
          </p:cNvPr>
          <p:cNvSpPr>
            <a:spLocks xmlns:a="http://schemas.openxmlformats.org/drawingml/2006/main" noGrp="1"/>
          </p:cNvSpPr>
          <p:nvPr/>
        </p:nvSpPr>
        <p:spPr>
          <a:xfrm xmlns:a="http://schemas.openxmlformats.org/drawingml/2006/main">
            <a:off x="10744201" y="260985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6636B"/>
                </a:solidFill>
              </a:defRPr>
            </a:pPr>
            <a:r>
              <a:rPr sz="1350" b="0">
                <a:solidFill>
                  <a:srgbClr val="56636B"/>
                </a:solidFill>
              </a:rPr>
              <a:t>min</a:t>
            </a:r>
          </a:p>
        </p:txBody>
      </p:sp>
      <p:sp>
        <p:nvSpPr>
          <p:cNvPr id="10" name="Rectangle: Rounded Corners 9">
            <a:extLst xmlns:a="http://schemas.openxmlformats.org/drawingml/2006/main">
              <a:ext uri="{FF2B5EF4-FFF2-40B4-BE49-F238E27FC236}">
                <a16:creationId xmlns:a16="http://schemas.microsoft.com/office/drawing/2014/main" id="{00B90250-E9A4-4769-9C3A-B52E3F890EE7}"/>
              </a:ext>
            </a:extLst>
          </p:cNvPr>
          <p:cNvSpPr>
            <a:spLocks xmlns:a="http://schemas.openxmlformats.org/drawingml/2006/main" noGrp="1"/>
          </p:cNvSpPr>
          <p:nvPr/>
        </p:nvSpPr>
        <p:spPr>
          <a:xfrm xmlns:a="http://schemas.openxmlformats.org/drawingml/2006/main">
            <a:off x="10048875" y="3333750"/>
            <a:ext cx="1428750" cy="1143000"/>
          </a:xfrm>
          <a:prstGeom xmlns:a="http://schemas.openxmlformats.org/drawingml/2006/main" prst="roundRect">
            <a:avLst>
              <a:gd name="adj" fmla="val 10000"/>
            </a:avLst>
          </a:prstGeom>
          <a:solidFill xmlns:a="http://schemas.openxmlformats.org/drawingml/2006/main">
            <a:srgbClr val="F7F3E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text">
            <a:extLst xmlns:a="http://schemas.openxmlformats.org/drawingml/2006/main">
              <a:ext uri="{FF2B5EF4-FFF2-40B4-BE49-F238E27FC236}">
                <a16:creationId xmlns:a16="http://schemas.microsoft.com/office/drawing/2014/main" id="{3DF17481-7B63-40D5-B0C9-775BD266F6E1}"/>
              </a:ext>
            </a:extLst>
          </p:cNvPr>
          <p:cNvSpPr>
            <a:spLocks xmlns:a="http://schemas.openxmlformats.org/drawingml/2006/main" noGrp="1"/>
          </p:cNvSpPr>
          <p:nvPr/>
        </p:nvSpPr>
        <p:spPr>
          <a:xfrm xmlns:a="http://schemas.openxmlformats.org/drawingml/2006/main">
            <a:off x="10248900" y="3514725"/>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56636B"/>
                </a:solidFill>
              </a:defRPr>
            </a:pPr>
            <a:r>
              <a:rPr sz="1350" b="1">
                <a:solidFill>
                  <a:srgbClr val="56636B"/>
                </a:solidFill>
              </a:rPr>
              <a:t>Arrest</a:t>
            </a:r>
          </a:p>
        </p:txBody>
      </p:sp>
      <p:sp>
        <p:nvSpPr>
          <p:cNvPr id="12" name="text">
            <a:extLst xmlns:a="http://schemas.openxmlformats.org/drawingml/2006/main">
              <a:ext uri="{FF2B5EF4-FFF2-40B4-BE49-F238E27FC236}">
                <a16:creationId xmlns:a16="http://schemas.microsoft.com/office/drawing/2014/main" id="{030598DE-087A-4CCA-B7F5-8E9EF71C1373}"/>
              </a:ext>
            </a:extLst>
          </p:cNvPr>
          <p:cNvSpPr>
            <a:spLocks xmlns:a="http://schemas.openxmlformats.org/drawingml/2006/main" noGrp="1"/>
          </p:cNvSpPr>
          <p:nvPr/>
        </p:nvSpPr>
        <p:spPr>
          <a:xfrm xmlns:a="http://schemas.openxmlformats.org/drawingml/2006/main">
            <a:off x="10248900" y="3857625"/>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A33B3B"/>
                </a:solidFill>
              </a:defRPr>
            </a:pPr>
            <a:r>
              <a:rPr sz="2850" b="1">
                <a:solidFill>
                  <a:srgbClr val="A33B3B"/>
                </a:solidFill>
              </a:rPr>
              <a:t>12</a:t>
            </a:r>
          </a:p>
        </p:txBody>
      </p:sp>
      <p:sp>
        <p:nvSpPr>
          <p:cNvPr id="13" name="text">
            <a:extLst xmlns:a="http://schemas.openxmlformats.org/drawingml/2006/main">
              <a:ext uri="{FF2B5EF4-FFF2-40B4-BE49-F238E27FC236}">
                <a16:creationId xmlns:a16="http://schemas.microsoft.com/office/drawing/2014/main" id="{8BABE224-1917-4FD9-AC50-FA413BB54240}"/>
              </a:ext>
            </a:extLst>
          </p:cNvPr>
          <p:cNvSpPr>
            <a:spLocks xmlns:a="http://schemas.openxmlformats.org/drawingml/2006/main" noGrp="1"/>
          </p:cNvSpPr>
          <p:nvPr/>
        </p:nvSpPr>
        <p:spPr>
          <a:xfrm xmlns:a="http://schemas.openxmlformats.org/drawingml/2006/main">
            <a:off x="10744201" y="3990975"/>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6636B"/>
                </a:solidFill>
              </a:defRPr>
            </a:pPr>
            <a:r>
              <a:rPr sz="1350" b="0">
                <a:solidFill>
                  <a:srgbClr val="56636B"/>
                </a:solidFill>
              </a:rPr>
              <a:t>min</a:t>
            </a:r>
          </a:p>
        </p:txBody>
      </p:sp>
      <p:sp>
        <p:nvSpPr>
          <p:cNvPr id="14" name="text">
            <a:extLst xmlns:a="http://schemas.openxmlformats.org/drawingml/2006/main">
              <a:ext uri="{FF2B5EF4-FFF2-40B4-BE49-F238E27FC236}">
                <a16:creationId xmlns:a16="http://schemas.microsoft.com/office/drawing/2014/main" id="{7BF8BF36-921D-44CA-AFD8-5C9CDBA1DFE0}"/>
              </a:ext>
            </a:extLst>
          </p:cNvPr>
          <p:cNvSpPr>
            <a:spLocks xmlns:a="http://schemas.openxmlformats.org/drawingml/2006/main" noGrp="1"/>
          </p:cNvSpPr>
          <p:nvPr/>
        </p:nvSpPr>
        <p:spPr>
          <a:xfrm xmlns:a="http://schemas.openxmlformats.org/drawingml/2006/main">
            <a:off x="904875" y="4010025"/>
            <a:ext cx="8763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72026"/>
                </a:solidFill>
              </a:defRPr>
            </a:pPr>
            <a:r>
              <a:rPr sz="1650" b="1">
                <a:solidFill>
                  <a:srgbClr val="172026"/>
                </a:solidFill>
              </a:rPr>
              <a:t>Cannulation → full flow → cooling → incision/sternotomy → clamp/cardioplegia → ACP/arrest → graft repair → full-body flow → AVR → wean</a:t>
            </a:r>
          </a:p>
        </p:txBody>
      </p:sp>
      <p:sp>
        <p:nvSpPr>
          <p:cNvPr id="16" name="source">
            <a:extLst xmlns:a="http://schemas.openxmlformats.org/drawingml/2006/main">
              <a:ext uri="{FF2B5EF4-FFF2-40B4-BE49-F238E27FC236}">
                <a16:creationId xmlns:a16="http://schemas.microsoft.com/office/drawing/2014/main" id="{5CD6C43A-BBC9-4F4B-B6B1-AA17D9C5DFB4}"/>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p:txBody>
      </p:sp>
      <p:sp>
        <p:nvSpPr>
          <p:cNvPr id="17" name="slide-number">
            <a:extLst xmlns:a="http://schemas.openxmlformats.org/drawingml/2006/main">
              <a:ext uri="{FF2B5EF4-FFF2-40B4-BE49-F238E27FC236}">
                <a16:creationId xmlns:a16="http://schemas.microsoft.com/office/drawing/2014/main" id="{AABFFA47-DBA8-49D4-9BB1-CA9DF84A3957}"/>
              </a:ext>
            </a:extLst>
          </p:cNvPr>
          <p:cNvSpPr>
            <a:spLocks xmlns:a="http://schemas.openxmlformats.org/drawingml/2006/main" noGrp="1"/>
          </p:cNvSpPr>
          <p:nvPr/>
        </p:nvSpPr>
        <p:spPr>
          <a:xfrm xmlns:a="http://schemas.openxmlformats.org/drawingml/2006/main">
            <a:off x="11277600" y="64198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0">
                <a:solidFill>
                  <a:srgbClr val="56636B"/>
                </a:solidFill>
              </a:defRPr>
            </a:pPr>
            <a:r>
              <a:rPr sz="825" b="0">
                <a:solidFill>
                  <a:srgbClr val="56636B"/>
                </a:solidFill>
              </a:rPr>
              <a:t>12</a:t>
            </a:r>
          </a:p>
        </p:txBody>
      </p:sp>
    </p:spTree>
    <p:extLst>
      <p:ext uri="{BB962C8B-B14F-4D97-AF65-F5344CB8AC3E}">
        <p14:creationId xmlns:p14="http://schemas.microsoft.com/office/powerpoint/2010/main" val="58266638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0D636241-EBED-472F-BBCB-EB6EF3BF79C4}"/>
              </a:ext>
            </a:extLst>
          </p:cNvPr>
          <p:cNvSpPr>
            <a:spLocks xmlns:a="http://schemas.openxmlformats.org/drawingml/2006/main" noGrp="1"/>
          </p:cNvSpPr>
          <p:nvPr/>
        </p:nvSpPr>
        <p:spPr>
          <a:xfrm xmlns:a="http://schemas.openxmlformats.org/drawingml/2006/main">
            <a:off x="457200" y="323850"/>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23047"/>
                </a:solidFill>
              </a:defRPr>
            </a:pPr>
            <a:r>
              <a:rPr sz="2850" b="1">
                <a:solidFill>
                  <a:srgbClr val="123047"/>
                </a:solidFill>
              </a:rPr>
              <a:t>The reported endpoints show efficient separation despite complex flow transitions</a:t>
            </a:r>
          </a:p>
        </p:txBody>
      </p:sp>
      <p:sp>
        <p:nvSpPr>
          <p:cNvPr id="2" name="text">
            <a:extLst xmlns:a="http://schemas.openxmlformats.org/drawingml/2006/main">
              <a:ext uri="{FF2B5EF4-FFF2-40B4-BE49-F238E27FC236}">
                <a16:creationId xmlns:a16="http://schemas.microsoft.com/office/drawing/2014/main" id="{1C3FFD1B-9EC8-4816-8E27-BBA1E748F0D7}"/>
              </a:ext>
            </a:extLst>
          </p:cNvPr>
          <p:cNvSpPr>
            <a:spLocks xmlns:a="http://schemas.openxmlformats.org/drawingml/2006/main" noGrp="1"/>
          </p:cNvSpPr>
          <p:nvPr/>
        </p:nvSpPr>
        <p:spPr>
          <a:xfrm xmlns:a="http://schemas.openxmlformats.org/drawingml/2006/main">
            <a:off x="457200" y="2628900"/>
            <a:ext cx="314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6636B"/>
                </a:solidFill>
              </a:defRPr>
            </a:pPr>
            <a:r>
              <a:rPr sz="1575" b="0">
                <a:solidFill>
                  <a:srgbClr val="56636B"/>
                </a:solidFill>
              </a:rPr>
              <a:t>CARDIOPULMONARY BYPASS</a:t>
            </a:r>
          </a:p>
        </p:txBody>
      </p:sp>
      <p:sp>
        <p:nvSpPr>
          <p:cNvPr id="3" name="text">
            <a:extLst xmlns:a="http://schemas.openxmlformats.org/drawingml/2006/main">
              <a:ext uri="{FF2B5EF4-FFF2-40B4-BE49-F238E27FC236}">
                <a16:creationId xmlns:a16="http://schemas.microsoft.com/office/drawing/2014/main" id="{D89E3BF2-07DA-49EF-875D-F980C9571D95}"/>
              </a:ext>
            </a:extLst>
          </p:cNvPr>
          <p:cNvSpPr>
            <a:spLocks xmlns:a="http://schemas.openxmlformats.org/drawingml/2006/main" noGrp="1"/>
          </p:cNvSpPr>
          <p:nvPr/>
        </p:nvSpPr>
        <p:spPr>
          <a:xfrm xmlns:a="http://schemas.openxmlformats.org/drawingml/2006/main">
            <a:off x="457200" y="3219450"/>
            <a:ext cx="3143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800" b="1">
                <a:solidFill>
                  <a:srgbClr val="123047"/>
                </a:solidFill>
              </a:defRPr>
            </a:pPr>
            <a:r>
              <a:rPr sz="4800" b="1">
                <a:solidFill>
                  <a:srgbClr val="123047"/>
                </a:solidFill>
              </a:rPr>
              <a:t>100 min</a:t>
            </a:r>
          </a:p>
        </p:txBody>
      </p:sp>
      <p:sp>
        <p:nvSpPr>
          <p:cNvPr id="4" name="text">
            <a:extLst xmlns:a="http://schemas.openxmlformats.org/drawingml/2006/main">
              <a:ext uri="{FF2B5EF4-FFF2-40B4-BE49-F238E27FC236}">
                <a16:creationId xmlns:a16="http://schemas.microsoft.com/office/drawing/2014/main" id="{034A541B-CAF5-4DF9-B55A-597DA4513F0E}"/>
              </a:ext>
            </a:extLst>
          </p:cNvPr>
          <p:cNvSpPr>
            <a:spLocks xmlns:a="http://schemas.openxmlformats.org/drawingml/2006/main" noGrp="1"/>
          </p:cNvSpPr>
          <p:nvPr/>
        </p:nvSpPr>
        <p:spPr>
          <a:xfrm xmlns:a="http://schemas.openxmlformats.org/drawingml/2006/main">
            <a:off x="4314825" y="2628900"/>
            <a:ext cx="314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6636B"/>
                </a:solidFill>
              </a:defRPr>
            </a:pPr>
            <a:r>
              <a:rPr sz="1575" b="0">
                <a:solidFill>
                  <a:srgbClr val="56636B"/>
                </a:solidFill>
              </a:rPr>
              <a:t>AORTIC CROSS-CLAMP</a:t>
            </a:r>
          </a:p>
        </p:txBody>
      </p:sp>
      <p:sp>
        <p:nvSpPr>
          <p:cNvPr id="5" name="text">
            <a:extLst xmlns:a="http://schemas.openxmlformats.org/drawingml/2006/main">
              <a:ext uri="{FF2B5EF4-FFF2-40B4-BE49-F238E27FC236}">
                <a16:creationId xmlns:a16="http://schemas.microsoft.com/office/drawing/2014/main" id="{D6559AB8-25CE-480F-BDF4-8A520DDA6C73}"/>
              </a:ext>
            </a:extLst>
          </p:cNvPr>
          <p:cNvSpPr>
            <a:spLocks xmlns:a="http://schemas.openxmlformats.org/drawingml/2006/main" noGrp="1"/>
          </p:cNvSpPr>
          <p:nvPr/>
        </p:nvSpPr>
        <p:spPr>
          <a:xfrm xmlns:a="http://schemas.openxmlformats.org/drawingml/2006/main">
            <a:off x="4314825" y="3219450"/>
            <a:ext cx="3143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800" b="1">
                <a:solidFill>
                  <a:srgbClr val="A33B3B"/>
                </a:solidFill>
              </a:defRPr>
            </a:pPr>
            <a:r>
              <a:rPr sz="4800" b="1">
                <a:solidFill>
                  <a:srgbClr val="A33B3B"/>
                </a:solidFill>
              </a:rPr>
              <a:t>55 min</a:t>
            </a:r>
          </a:p>
        </p:txBody>
      </p:sp>
      <p:sp>
        <p:nvSpPr>
          <p:cNvPr id="6" name="text">
            <a:extLst xmlns:a="http://schemas.openxmlformats.org/drawingml/2006/main">
              <a:ext uri="{FF2B5EF4-FFF2-40B4-BE49-F238E27FC236}">
                <a16:creationId xmlns:a16="http://schemas.microsoft.com/office/drawing/2014/main" id="{C163E3F3-4D77-4487-8772-6B5B4F1B13EB}"/>
              </a:ext>
            </a:extLst>
          </p:cNvPr>
          <p:cNvSpPr>
            <a:spLocks xmlns:a="http://schemas.openxmlformats.org/drawingml/2006/main" noGrp="1"/>
          </p:cNvSpPr>
          <p:nvPr/>
        </p:nvSpPr>
        <p:spPr>
          <a:xfrm xmlns:a="http://schemas.openxmlformats.org/drawingml/2006/main">
            <a:off x="8172450" y="2628900"/>
            <a:ext cx="314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6636B"/>
                </a:solidFill>
              </a:defRPr>
            </a:pPr>
            <a:r>
              <a:rPr sz="1575" b="0">
                <a:solidFill>
                  <a:srgbClr val="56636B"/>
                </a:solidFill>
              </a:rPr>
              <a:t>CIRCULATORY ARREST</a:t>
            </a:r>
          </a:p>
        </p:txBody>
      </p:sp>
      <p:sp>
        <p:nvSpPr>
          <p:cNvPr id="7" name="text">
            <a:extLst xmlns:a="http://schemas.openxmlformats.org/drawingml/2006/main">
              <a:ext uri="{FF2B5EF4-FFF2-40B4-BE49-F238E27FC236}">
                <a16:creationId xmlns:a16="http://schemas.microsoft.com/office/drawing/2014/main" id="{52A1513E-0489-4BDD-B3A8-83A8320744E6}"/>
              </a:ext>
            </a:extLst>
          </p:cNvPr>
          <p:cNvSpPr>
            <a:spLocks xmlns:a="http://schemas.openxmlformats.org/drawingml/2006/main" noGrp="1"/>
          </p:cNvSpPr>
          <p:nvPr/>
        </p:nvSpPr>
        <p:spPr>
          <a:xfrm xmlns:a="http://schemas.openxmlformats.org/drawingml/2006/main">
            <a:off x="8172450" y="3219450"/>
            <a:ext cx="3143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800" b="1">
                <a:solidFill>
                  <a:srgbClr val="A33B3B"/>
                </a:solidFill>
              </a:defRPr>
            </a:pPr>
            <a:r>
              <a:rPr sz="4800" b="1">
                <a:solidFill>
                  <a:srgbClr val="A33B3B"/>
                </a:solidFill>
              </a:rPr>
              <a:t>12</a:t>
            </a:r>
            <a:r>
              <a:rPr sz="4800" b="1">
                <a:solidFill>
                  <a:srgbClr val="A33B3B"/>
                </a:solidFill>
              </a:rPr>
              <a:t> min</a:t>
            </a:r>
          </a:p>
        </p:txBody>
      </p:sp>
      <p:sp>
        <p:nvSpPr>
          <p:cNvPr id="8" name="Rectangle: Rounded Corners 7">
            <a:extLst xmlns:a="http://schemas.openxmlformats.org/drawingml/2006/main">
              <a:ext uri="{FF2B5EF4-FFF2-40B4-BE49-F238E27FC236}">
                <a16:creationId xmlns:a16="http://schemas.microsoft.com/office/drawing/2014/main" id="{6375C70F-8BF5-4FA0-AED1-A13CD85E60DC}"/>
              </a:ext>
            </a:extLst>
          </p:cNvPr>
          <p:cNvSpPr>
            <a:spLocks xmlns:a="http://schemas.openxmlformats.org/drawingml/2006/main" noGrp="1"/>
          </p:cNvSpPr>
          <p:nvPr/>
        </p:nvSpPr>
        <p:spPr>
          <a:xfrm xmlns:a="http://schemas.openxmlformats.org/drawingml/2006/main">
            <a:off x="457200" y="4810125"/>
            <a:ext cx="11277600" cy="1000125"/>
          </a:xfrm>
          <a:prstGeom xmlns:a="http://schemas.openxmlformats.org/drawingml/2006/main" prst="roundRect">
            <a:avLst>
              <a:gd name="adj" fmla="val 11429"/>
            </a:avLst>
          </a:prstGeom>
          <a:solidFill xmlns:a="http://schemas.openxmlformats.org/drawingml/2006/main">
            <a:srgbClr val="EEF4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text">
            <a:extLst xmlns:a="http://schemas.openxmlformats.org/drawingml/2006/main">
              <a:ext uri="{FF2B5EF4-FFF2-40B4-BE49-F238E27FC236}">
                <a16:creationId xmlns:a16="http://schemas.microsoft.com/office/drawing/2014/main" id="{22688A16-4B29-4AFA-866C-E6321AF35200}"/>
              </a:ext>
            </a:extLst>
          </p:cNvPr>
          <p:cNvSpPr>
            <a:spLocks xmlns:a="http://schemas.openxmlformats.org/drawingml/2006/main" noGrp="1"/>
          </p:cNvSpPr>
          <p:nvPr/>
        </p:nvSpPr>
        <p:spPr>
          <a:xfrm xmlns:a="http://schemas.openxmlformats.org/drawingml/2006/main">
            <a:off x="723900" y="50387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23047"/>
                </a:solidFill>
              </a:defRPr>
            </a:pPr>
            <a:r>
              <a:rPr sz="1575" b="1">
                <a:solidFill>
                  <a:srgbClr val="123047"/>
                </a:solidFill>
              </a:rPr>
              <a:t>Key perfusion lesson</a:t>
            </a:r>
          </a:p>
        </p:txBody>
      </p:sp>
      <p:sp>
        <p:nvSpPr>
          <p:cNvPr id="10" name="text">
            <a:extLst xmlns:a="http://schemas.openxmlformats.org/drawingml/2006/main">
              <a:ext uri="{FF2B5EF4-FFF2-40B4-BE49-F238E27FC236}">
                <a16:creationId xmlns:a16="http://schemas.microsoft.com/office/drawing/2014/main" id="{430BBCDF-2BD4-4200-8BB7-254A7248EEB4}"/>
              </a:ext>
            </a:extLst>
          </p:cNvPr>
          <p:cNvSpPr>
            <a:spLocks xmlns:a="http://schemas.openxmlformats.org/drawingml/2006/main" noGrp="1"/>
          </p:cNvSpPr>
          <p:nvPr/>
        </p:nvSpPr>
        <p:spPr>
          <a:xfrm xmlns:a="http://schemas.openxmlformats.org/drawingml/2006/main">
            <a:off x="3000375" y="4981575"/>
            <a:ext cx="8191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72026"/>
                </a:solidFill>
              </a:defRPr>
            </a:pPr>
            <a:r>
              <a:rPr sz="1650" b="0">
                <a:solidFill>
                  <a:srgbClr val="172026"/>
                </a:solidFill>
              </a:rPr>
              <a:t>Peripheral cannulation before incision created a margin for controlled cooling, while axillary access preserved an antegrade cerebral route during open aortic work.</a:t>
            </a:r>
          </a:p>
        </p:txBody>
      </p:sp>
      <p:sp>
        <p:nvSpPr>
          <p:cNvPr id="11" name="source">
            <a:extLst xmlns:a="http://schemas.openxmlformats.org/drawingml/2006/main">
              <a:ext uri="{FF2B5EF4-FFF2-40B4-BE49-F238E27FC236}">
                <a16:creationId xmlns:a16="http://schemas.microsoft.com/office/drawing/2014/main" id="{77D59B76-FBD1-497D-811E-1BDEA8E03028}"/>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p:txBody>
      </p:sp>
      <p:sp>
        <p:nvSpPr>
          <p:cNvPr id="12" name="slide-number">
            <a:extLst xmlns:a="http://schemas.openxmlformats.org/drawingml/2006/main">
              <a:ext uri="{FF2B5EF4-FFF2-40B4-BE49-F238E27FC236}">
                <a16:creationId xmlns:a16="http://schemas.microsoft.com/office/drawing/2014/main" id="{D2884EF4-0C53-4419-883D-F605E09FDA98}"/>
              </a:ext>
            </a:extLst>
          </p:cNvPr>
          <p:cNvSpPr>
            <a:spLocks xmlns:a="http://schemas.openxmlformats.org/drawingml/2006/main" noGrp="1"/>
          </p:cNvSpPr>
          <p:nvPr/>
        </p:nvSpPr>
        <p:spPr>
          <a:xfrm xmlns:a="http://schemas.openxmlformats.org/drawingml/2006/main">
            <a:off x="11277600" y="64198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0">
                <a:solidFill>
                  <a:srgbClr val="56636B"/>
                </a:solidFill>
              </a:defRPr>
            </a:pPr>
            <a:r>
              <a:rPr sz="825" b="0">
                <a:solidFill>
                  <a:srgbClr val="56636B"/>
                </a:solidFill>
              </a:rPr>
              <a:t>13</a:t>
            </a:r>
          </a:p>
        </p:txBody>
      </p:sp>
    </p:spTree>
    <p:extLst>
      <p:ext uri="{BB962C8B-B14F-4D97-AF65-F5344CB8AC3E}">
        <p14:creationId xmlns:p14="http://schemas.microsoft.com/office/powerpoint/2010/main" val="44334193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4A476B5-C057-F651-D265-ED216073E37B}"/>
              </a:ext>
            </a:extLst>
          </p:cNvPr>
          <p:cNvSpPr>
            <a:spLocks xmlns:a="http://schemas.openxmlformats.org/drawingml/2006/main" noGrp="1"/>
          </p:cNvSpPr>
          <p:nvPr/>
        </p:nvSpPr>
        <p:spPr>
          <a:xfrm xmlns:a="http://schemas.openxmlformats.org/drawingml/2006/main">
            <a:off x="666750" y="457200"/>
            <a:ext cx="10858500" cy="59055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defRPr sz="1200">
                <a:solidFill>
                  <a:srgbClr val="000000"/>
                </a:solidFill>
              </a:defRPr>
            </a:pPr>
            <a:r>
              <a:t>References:</a:t>
            </a:r>
          </a:p>
          <a:p xmlns:a="http://schemas.openxmlformats.org/drawingml/2006/main"/>
          <a:p xmlns:a="http://schemas.openxmlformats.org/drawingml/2006/main"/>
          <a:p xmlns:a="http://schemas.openxmlformats.org/drawingml/2006/main"/>
          <a:p xmlns:a="http://schemas.openxmlformats.org/drawingml/2006/main"/>
        </p:txBody>
      </p:sp>
    </p:spTree>
    <p:extLst>
      <p:ext uri="{BB962C8B-B14F-4D97-AF65-F5344CB8AC3E}">
        <p14:creationId xmlns:p14="http://schemas.microsoft.com/office/powerpoint/2010/main" val="28215567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2026-07-23T03:15:46.3770000Z</dcterms:created>
  <dcterms:modified xsi:type="dcterms:W3CDTF">2026-07-23T03:15:46.3770000Z</dcterms:modified>
</coreProperties>
</file>