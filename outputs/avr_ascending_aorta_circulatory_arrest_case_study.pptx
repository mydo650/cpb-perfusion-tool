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7d76a0c8c4183" /><Relationship Type="http://schemas.openxmlformats.org/officeDocument/2006/relationships/extended-properties" Target="/docProps/app.xml" Id="R108caf444c6a4a5a" /><Relationship Type="http://schemas.openxmlformats.org/officeDocument/2006/relationships/officeDocument" Target="/ppt/presentation.xml" Id="Rdd20e9aba8b440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952e644e6a47b5"/>
  </p:sldMasterIdLst>
  <p:notesMasterIdLst>
    <p:notesMasterId xmlns:r="http://schemas.openxmlformats.org/officeDocument/2006/relationships" r:id="R69a46ea83897444f"/>
  </p:notesMasterIdLst>
  <p:sldIdLst>
    <p:sldId xmlns:r="http://schemas.openxmlformats.org/officeDocument/2006/relationships" id="256" r:id="R6710cca12e2b4542"/>
    <p:sldId xmlns:r="http://schemas.openxmlformats.org/officeDocument/2006/relationships" id="257" r:id="Rd4597697b73f4676"/>
    <p:sldId xmlns:r="http://schemas.openxmlformats.org/officeDocument/2006/relationships" id="258" r:id="R6b9360e041ff47c8"/>
    <p:sldId xmlns:r="http://schemas.openxmlformats.org/officeDocument/2006/relationships" id="259" r:id="Reeb99c2dc2c549e8"/>
    <p:sldId xmlns:r="http://schemas.openxmlformats.org/officeDocument/2006/relationships" id="260" r:id="Rf3f1f715d1a847f8"/>
    <p:sldId xmlns:r="http://schemas.openxmlformats.org/officeDocument/2006/relationships" id="261" r:id="R485b005b95bc4499"/>
    <p:sldId xmlns:r="http://schemas.openxmlformats.org/officeDocument/2006/relationships" id="262" r:id="R1ee5ca803d5c4c18"/>
    <p:sldId xmlns:r="http://schemas.openxmlformats.org/officeDocument/2006/relationships" id="263" r:id="Reace0be043aa4daa"/>
    <p:sldId xmlns:r="http://schemas.openxmlformats.org/officeDocument/2006/relationships" id="264" r:id="R4611c0d3f88646a0"/>
    <p:sldId xmlns:r="http://schemas.openxmlformats.org/officeDocument/2006/relationships" id="265" r:id="Raaabfe0b998a46c2"/>
    <p:sldId xmlns:r="http://schemas.openxmlformats.org/officeDocument/2006/relationships" id="266" r:id="R7e59ae2e1bd74649"/>
    <p:sldId xmlns:r="http://schemas.openxmlformats.org/officeDocument/2006/relationships" id="267" r:id="R2ee71718fbda420b"/>
    <p:sldId xmlns:r="http://schemas.openxmlformats.org/officeDocument/2006/relationships" id="268" r:id="Re97acdae81964c6a"/>
    <p:sldId xmlns:r="http://schemas.openxmlformats.org/officeDocument/2006/relationships" id="269" r:id="Rd2241d13323649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fab89da5654bdc" /><Relationship Type="http://schemas.openxmlformats.org/officeDocument/2006/relationships/slideMaster" Target="/ppt/slideMasters/slideMaster1.xml" Id="Ra6952e644e6a47b5" /><Relationship Type="http://schemas.openxmlformats.org/officeDocument/2006/relationships/notesMaster" Target="/ppt/notesMasters/notesMaster1.xml" Id="R69a46ea83897444f" /><Relationship Type="http://schemas.openxmlformats.org/officeDocument/2006/relationships/presProps" Target="/ppt/presProps.xml" Id="Re2213e2f73fb4e7f" /><Relationship Type="http://schemas.openxmlformats.org/officeDocument/2006/relationships/tableStyles" Target="/ppt/tableStyles.xml" Id="R8a8a64732ff4443f" /><Relationship Type="http://schemas.openxmlformats.org/officeDocument/2006/relationships/slide" Target="/ppt/slides/slide1.xml" Id="R6710cca12e2b4542" /><Relationship Type="http://schemas.openxmlformats.org/officeDocument/2006/relationships/slide" Target="/ppt/slides/slide2.xml" Id="Rd4597697b73f4676" /><Relationship Type="http://schemas.openxmlformats.org/officeDocument/2006/relationships/slide" Target="/ppt/slides/slide3.xml" Id="R6b9360e041ff47c8" /><Relationship Type="http://schemas.openxmlformats.org/officeDocument/2006/relationships/slide" Target="/ppt/slides/slide4.xml" Id="Reeb99c2dc2c549e8" /><Relationship Type="http://schemas.openxmlformats.org/officeDocument/2006/relationships/slide" Target="/ppt/slides/slide5.xml" Id="Rf3f1f715d1a847f8" /><Relationship Type="http://schemas.openxmlformats.org/officeDocument/2006/relationships/slide" Target="/ppt/slides/slide6.xml" Id="R485b005b95bc4499" /><Relationship Type="http://schemas.openxmlformats.org/officeDocument/2006/relationships/slide" Target="/ppt/slides/slide7.xml" Id="R1ee5ca803d5c4c18" /><Relationship Type="http://schemas.openxmlformats.org/officeDocument/2006/relationships/slide" Target="/ppt/slides/slide8.xml" Id="Reace0be043aa4daa" /><Relationship Type="http://schemas.openxmlformats.org/officeDocument/2006/relationships/slide" Target="/ppt/slides/slide9.xml" Id="R4611c0d3f88646a0" /><Relationship Type="http://schemas.openxmlformats.org/officeDocument/2006/relationships/slide" Target="/ppt/slides/slide10.xml" Id="Raaabfe0b998a46c2" /><Relationship Type="http://schemas.openxmlformats.org/officeDocument/2006/relationships/slide" Target="/ppt/slides/slide11.xml" Id="R7e59ae2e1bd74649" /><Relationship Type="http://schemas.openxmlformats.org/officeDocument/2006/relationships/slide" Target="/ppt/slides/slide12.xml" Id="R2ee71718fbda420b" /><Relationship Type="http://schemas.openxmlformats.org/officeDocument/2006/relationships/slide" Target="/ppt/slides/slide13.xml" Id="Re97acdae81964c6a" /><Relationship Type="http://schemas.openxmlformats.org/officeDocument/2006/relationships/slide" Target="/ppt/slides/slide14.xml" Id="Rd2241d13323649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8bf86bbf5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d22fe9cd74271" /><Relationship Type="http://schemas.openxmlformats.org/officeDocument/2006/relationships/notesMaster" Target="/ppt/notesMasters/notesMaster1.xml" Id="Rf070c5ff8b26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7f87c90a5646e1" /><Relationship Type="http://schemas.openxmlformats.org/officeDocument/2006/relationships/notesMaster" Target="/ppt/notesMasters/notesMaster1.xml" Id="Rafc4fc908461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6fa7520d9445d6" /><Relationship Type="http://schemas.openxmlformats.org/officeDocument/2006/relationships/notesMaster" Target="/ppt/notesMasters/notesMaster1.xml" Id="R2d861cf50a1643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deacb975274ac5" /><Relationship Type="http://schemas.openxmlformats.org/officeDocument/2006/relationships/notesMaster" Target="/ppt/notesMasters/notesMaster1.xml" Id="R5c6690d4625a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1ac2f0a6940bc" /><Relationship Type="http://schemas.openxmlformats.org/officeDocument/2006/relationships/notesMaster" Target="/ppt/notesMasters/notesMaster1.xml" Id="R99f58e643bda49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8ae586ca5d4e22" /><Relationship Type="http://schemas.openxmlformats.org/officeDocument/2006/relationships/notesMaster" Target="/ppt/notesMasters/notesMaster1.xml" Id="R68cd2a14d768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77330f087d4531" /><Relationship Type="http://schemas.openxmlformats.org/officeDocument/2006/relationships/notesMaster" Target="/ppt/notesMasters/notesMaster1.xml" Id="R2a0b9853a58247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4d81d65144d11" /><Relationship Type="http://schemas.openxmlformats.org/officeDocument/2006/relationships/notesMaster" Target="/ppt/notesMasters/notesMaster1.xml" Id="Rcea974a3ff22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d22ae0d0664df3" /><Relationship Type="http://schemas.openxmlformats.org/officeDocument/2006/relationships/notesMaster" Target="/ppt/notesMasters/notesMaster1.xml" Id="Raf9ce8fbeb67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094fcb6d844d6f" /><Relationship Type="http://schemas.openxmlformats.org/officeDocument/2006/relationships/notesMaster" Target="/ppt/notesMasters/notesMaster1.xml" Id="Ref20cd2a2a2d4b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5e27b982e34538" /><Relationship Type="http://schemas.openxmlformats.org/officeDocument/2006/relationships/notesMaster" Target="/ppt/notesMasters/notesMaster1.xml" Id="Rdab29128bbe74e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e5f2b0f95f421d" /><Relationship Type="http://schemas.openxmlformats.org/officeDocument/2006/relationships/notesMaster" Target="/ppt/notesMasters/notesMaster1.xml" Id="R76a244da678847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dd9ff02c254e9f" /><Relationship Type="http://schemas.openxmlformats.org/officeDocument/2006/relationships/notesMaster" Target="/ppt/notesMasters/notesMaster1.xml" Id="R189ac4ccf2f24e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eafcc319714c40" /><Relationship Type="http://schemas.openxmlformats.org/officeDocument/2006/relationships/notesMaster" Target="/ppt/notesMasters/notesMaster1.xml" Id="Ra98329218c6b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1410c8dc84a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ebb1b523c4606" /><Relationship Type="http://schemas.openxmlformats.org/officeDocument/2006/relationships/slideLayout" Target="/ppt/slideLayouts/slideLayout1.xml" Id="R67276eb112e040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276eb112e040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3324eb9234544" /><Relationship Type="http://schemas.openxmlformats.org/officeDocument/2006/relationships/notesSlide" Target="/ppt/notesSlides/notesSlide1.xml" Id="Rbc895cb08ac0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455c845c4d61" /><Relationship Type="http://schemas.openxmlformats.org/officeDocument/2006/relationships/notesSlide" Target="/ppt/notesSlides/notesSlide2.xml" Id="R393e0e9c06db41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576d9f53f4324" /><Relationship Type="http://schemas.openxmlformats.org/officeDocument/2006/relationships/notesSlide" Target="/ppt/notesSlides/notesSlide3.xml" Id="R0ad90a03131446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70531a27843d2" /><Relationship Type="http://schemas.openxmlformats.org/officeDocument/2006/relationships/notesSlide" Target="/ppt/notesSlides/notesSlide4.xml" Id="R3026566f0e1243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c2385a1f14149" /><Relationship Type="http://schemas.openxmlformats.org/officeDocument/2006/relationships/notesSlide" Target="/ppt/notesSlides/notesSlide5.xml" Id="Rad6c3e19457042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bf90b2d574f26" /><Relationship Type="http://schemas.openxmlformats.org/officeDocument/2006/relationships/notesSlide" Target="/ppt/notesSlides/notesSlide6.xml" Id="Re5c4287c289947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5673d75e64aef" /><Relationship Type="http://schemas.openxmlformats.org/officeDocument/2006/relationships/notesSlide" Target="/ppt/notesSlides/notesSlide7.xml" Id="R70cbb0a9a66c40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75bb0e24c4005" /><Relationship Type="http://schemas.openxmlformats.org/officeDocument/2006/relationships/notesSlide" Target="/ppt/notesSlides/notesSlide8.xml" Id="R019e128297bb43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62f1ae9524f26" /><Relationship Type="http://schemas.openxmlformats.org/officeDocument/2006/relationships/notesSlide" Target="/ppt/notesSlides/notesSlide9.xml" Id="Ra40185d4abc147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9f99bd39942ce" /><Relationship Type="http://schemas.openxmlformats.org/officeDocument/2006/relationships/notesSlide" Target="/ppt/notesSlides/notesSlide10.xml" Id="R603e0932dde448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0fedaa30a4bf4" /><Relationship Type="http://schemas.openxmlformats.org/officeDocument/2006/relationships/notesSlide" Target="/ppt/notesSlides/notesSlide11.xml" Id="R2ad3e9309a5843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5250dfa134f5f" /><Relationship Type="http://schemas.openxmlformats.org/officeDocument/2006/relationships/notesSlide" Target="/ppt/notesSlides/notesSlide12.xml" Id="R6ff733e35e6f4d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0071d7e3c4975" /><Relationship Type="http://schemas.openxmlformats.org/officeDocument/2006/relationships/notesSlide" Target="/ppt/notesSlides/notesSlide13.xml" Id="Rb31dd773bf8e47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8fdab90da40db" /><Relationship Type="http://schemas.openxmlformats.org/officeDocument/2006/relationships/notesSlide" Target="/ppt/notesSlides/notesSlide14.xml" Id="R203ef16c2601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70579-B679-4A9A-9EB0-6294AD42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D07269-F077-40AF-AA04-845F56B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B6C9"/>
                </a:solidFill>
              </a:defRPr>
            </a:pPr>
            <a:r>
              <a:rPr sz="1200" b="1">
                <a:solidFill>
                  <a:srgbClr val="72B6C9"/>
                </a:solidFill>
              </a:rPr>
              <a:t>PERFUSION CASE STUDY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5B1AC29-4834-4542-B34D-DFDB528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AVR with ascending aortic replacement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B78A7E-0EF6-4513-AE83-0F86457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E8EE"/>
                </a:solidFill>
              </a:defRPr>
            </a:pPr>
            <a:r>
              <a:rPr sz="1950" b="0">
                <a:solidFill>
                  <a:srgbClr val="D8E8EE"/>
                </a:solidFill>
              </a:rPr>
              <a:t>Subaortic membrane resection, moderate hypothermia and antegrade cerebral perfusion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D56560-29D5-4A50-BAF2-F45CC4D7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B6C9"/>
                </a:solidFill>
              </a:defRPr>
            </a:pPr>
            <a:r>
              <a:rPr sz="1350" b="1">
                <a:solidFill>
                  <a:srgbClr val="72B6C9"/>
                </a:solidFill>
              </a:rPr>
              <a:t>De-identified educational reconstruction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5C4BAB-84E8-4247-9199-889C0DE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DD5"/>
                </a:solidFill>
              </a:defRPr>
            </a:pPr>
            <a:r>
              <a:rPr sz="1125" b="0">
                <a:solidFill>
                  <a:srgbClr val="B9CDD5"/>
                </a:solidFill>
              </a:rPr>
              <a:t>Reported case data; verify against the operative and perfusion records</a:t>
            </a:r>
          </a:p>
        </p:txBody>
      </p:sp>
    </p:spTree>
    <p:extLst>
      <p:ext uri="{BB962C8B-B14F-4D97-AF65-F5344CB8AC3E}">
        <p14:creationId xmlns:p14="http://schemas.microsoft.com/office/powerpoint/2010/main" val="942112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E734D0D-EF3C-47D2-9545-282AB1A8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Abstract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B14C46-3E45-4AC2-AA2C-4F61696A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36B"/>
                </a:solidFill>
              </a:defRPr>
            </a:pPr>
            <a:r>
              <a:rPr sz="1275" b="0">
                <a:solidFill>
                  <a:srgbClr val="56636B"/>
                </a:solidFill>
              </a:rPr>
              <a:t>A complex open aortic operation required protection before sternotomy and staged redistribution of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40E04-3210-44A4-B83E-60D78ABC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334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DF1871-A806-409E-ACC1-69E866E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3B3B"/>
                </a:solidFill>
              </a:defRPr>
            </a:pPr>
            <a:r>
              <a:rPr sz="1800" b="1">
                <a:solidFill>
                  <a:srgbClr val="A33B3B"/>
                </a:solidFill>
              </a:rPr>
              <a:t>Case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95EC93-4FA8-41ED-AC8A-A9B4538D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6"/>
                </a:solidFill>
              </a:defRPr>
            </a:pPr>
            <a:r>
              <a:rPr sz="1800" b="0">
                <a:solidFill>
                  <a:srgbClr val="172026"/>
                </a:solidFill>
              </a:rPr>
              <a:t>Combined mechanical aortic valve replacement, ascending aortic grafting and subaortic membrane resection. Femoral and axillary cannulation enabled CPB cooling to 28 °C before the chest incision.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2E4B8-04FD-4C17-999E-B5F53D45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38300"/>
            <a:ext cx="56007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6A4855-317E-4D8E-823C-60D6B5B5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9C4B"/>
                </a:solidFill>
              </a:defRPr>
            </a:pPr>
            <a:r>
              <a:rPr sz="1800" b="1">
                <a:solidFill>
                  <a:srgbClr val="C69C4B"/>
                </a:solidFill>
              </a:rPr>
              <a:t>Result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91845F-253F-498B-B07B-694047F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6"/>
                </a:solidFill>
              </a:defRPr>
            </a:pPr>
            <a:r>
              <a:rPr sz="1800" b="0">
                <a:solidFill>
                  <a:srgbClr val="172026"/>
                </a:solidFill>
              </a:rPr>
              <a:t>Reported separation from bypass was successful. CPB time was 100 minutes, aortic cross-clamp time 55 minutes and circulatory arrest time 20 minutes.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849D7B-1CC6-4757-B805-D5FEEC9D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7"/>
                </a:solidFill>
              </a:defRPr>
            </a:pPr>
            <a:r>
              <a:rPr sz="1425" b="1">
                <a:solidFill>
                  <a:srgbClr val="123047"/>
                </a:solidFill>
              </a:rPr>
              <a:t>Central lesson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6C91D9-E83B-4A6B-AA82-92B0D40B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530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6B"/>
                </a:solidFill>
              </a:defRPr>
            </a:pPr>
            <a:r>
              <a:rPr sz="1500" b="0">
                <a:solidFill>
                  <a:srgbClr val="56636B"/>
                </a:solidFill>
              </a:rPr>
              <a:t>Peripheral access created a controlled path to cooling, cerebral protection and definitive repair.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AF4A190A-AD68-40DC-B18A-ADCF7EA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763E1F-D4BF-4D3D-949B-6297D34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2309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575E804-E202-4D5D-B8BD-2E019E4E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What is known — and what still needs chart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5B0D4-3F2F-4E6B-908A-6790733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197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682FE8-D5E3-4562-8331-79FA9470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7"/>
                </a:solidFill>
              </a:defRPr>
            </a:pPr>
            <a:r>
              <a:rPr sz="1800" b="1">
                <a:solidFill>
                  <a:srgbClr val="123047"/>
                </a:solidFill>
              </a:rPr>
              <a:t>Reported in the case narrative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C5D98-1D2F-4B84-9A19-5B93DB81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731CD5-952E-4BF6-B051-ED5F2338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Dual femoral + axillary cannulation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F838A-D33C-426C-B661-580C121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0F70CF-C388-4B21-91D8-72A5F0E3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Full CPB flow reported as 4.0 L/min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1C7F3-6F6D-4A82-A99F-BFEBE9D1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799341-491B-49FB-BE36-8357B9F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Cooling to 28 °C before skin incision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2C3BE-32ED-46E2-BB8A-C4DC07B5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01F332-AA3F-4A95-BEDA-7EB1CAD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Three field suckers increased to ~1 L/min 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4A6DB-602A-4F0A-8AF9-FCA7619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577D0F6-C917-46E8-BA3A-B7C48E3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1 L retrograde cardioplegia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BABE9-DF8A-4793-9BDA-B8DABDC9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0C25154-EECD-4718-AED9-28FBD0F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Successful wean; 100 / 55 / 20 min endpoints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B88DE-7532-4CA9-AFE5-03FBFBF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00200"/>
            <a:ext cx="571500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A91DB67-2BED-49C9-9900-813CA7B5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3B3B"/>
                </a:solidFill>
              </a:defRPr>
            </a:pPr>
            <a:r>
              <a:rPr sz="1800" b="1">
                <a:solidFill>
                  <a:srgbClr val="A33B3B"/>
                </a:solidFill>
              </a:rPr>
              <a:t>Do not infer without the source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2256C-351B-4630-9571-60992ED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D8141F-3015-4244-BB56-4C87B39F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Patient demographics, diagnosis and redo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9A496-E4A9-4E58-98D3-0F3BF19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81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14F0F4-8518-4D67-BA39-834C055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Cannula sizes, exact sites and line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F4181-67DD-4FEC-973A-12A20F4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52EDF2A-3341-4514-B4AD-1D9A9A9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Drug doses, timing, ACT and heparin concentration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06A6E-41CC-46CF-8608-490A787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90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238152E-5F4C-4D66-BB00-1248343B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ACP pressure, flow, temperature and laterality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71913-439F-46F6-AE02-EBA517CD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8CD5C30-D938-4994-9487-8D55584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Blood loss, transfusion, neurologic and renal outcomes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0E6BC-EBEC-4C60-AFDA-3811130D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00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8D99B10-55A7-4FB0-977A-7CCE22B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24425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Meaning and duration of “zero cerebral flow”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66F38FF8-1167-45EF-8144-19213E2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C4E328-EE3B-4F91-9FD9-98C066A9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2235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C49060A-34BC-449C-9A2F-F6F15584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Three lesions were addressed through one arrested-heart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99B54-EFA6-4C8A-93D7-3213EFED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3562350" cy="3857625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1DBE41-4CC1-4461-B6B2-18817E2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F9DAED-124D-4E92-B8E3-7915F472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Aortic valve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5E1409-8CF8-4824-A02C-DCBF75B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</a:defRPr>
            </a:pPr>
            <a:r>
              <a:rPr sz="1500" b="0">
                <a:solidFill>
                  <a:srgbClr val="172026"/>
                </a:solidFill>
              </a:rPr>
              <a:t>Mechanical AVR restores competent valvular outflow. Mechanical prostheses generally require lifelong vitamin K antagonist anticoagulation.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FB29C-1E55-4AD9-90BA-9AB87C1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85925"/>
            <a:ext cx="3562350" cy="3857625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19B7C0-1D29-46D0-A930-8AF55DE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43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3B6428-A414-49CA-90A8-C9ABB0E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050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Ascending aorta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B85EE6-1C2F-438E-93E9-7C259A5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480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</a:defRPr>
            </a:pPr>
            <a:r>
              <a:rPr sz="1500" b="0">
                <a:solidFill>
                  <a:srgbClr val="172026"/>
                </a:solidFill>
              </a:rPr>
              <a:t>The diseased ascending segment is excised and replaced with a vascular graft; distal work may require an open field and circulatory arrest.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55E6C-8526-44E0-A02E-95394491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85925"/>
            <a:ext cx="3562350" cy="3857625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1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14E66B-A68B-40BD-834E-ED14BCB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313A36-0C84-433B-992E-1C027CFB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Subaortic membrane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3C3885-E524-44C2-A224-AB5D7A44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4802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</a:defRPr>
            </a:pPr>
            <a:r>
              <a:rPr sz="1500" b="0">
                <a:solidFill>
                  <a:srgbClr val="172026"/>
                </a:solidFill>
              </a:rPr>
              <a:t>A fixed fibrous ridge below the valve is removed through the aortic route to relieve LV outflow tract obstruction; recurrence surveillance remains important.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D7D86B99-9527-4E77-BE22-10F4A363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36B"/>
                </a:solidFill>
              </a:defRPr>
            </a:pPr>
            <a:r>
              <a:rPr sz="750" b="0">
                <a:solidFill>
                  <a:srgbClr val="56636B"/>
                </a:solidFill>
              </a:rPr>
              <a:t>Background: 2021 ESC/EACTS valve guideline; 2022 ACC/AHA aortic guideline; subaortic stenosis literature.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29845D2-6712-48FB-AEEF-0725F9BE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1649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107319B-5C7C-4315-9A2D-07605EC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Circulatory arrest trades operative access for time-limited ischemic risk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C93A6B1-2519-4BCA-B772-39BAB69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6"/>
                </a:solidFill>
              </a:defRPr>
            </a:pPr>
            <a:r>
              <a:rPr sz="1875" b="0">
                <a:solidFill>
                  <a:srgbClr val="172026"/>
                </a:solidFill>
              </a:rPr>
              <a:t>Stopping systemic flow creates a bloodless field for open distal aortic reconstruction. Protection depends on lowering metabolic demand and maintaining cerebral perfusion whenever anatomy permits.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86A0C-16CD-4C2D-BE19-318F1755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5334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CAB431-071D-4C94-9718-1A3E5E5B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28 °C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E017B4-AD60-426D-8378-ED1ACC52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5762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8EE"/>
                </a:solidFill>
              </a:defRPr>
            </a:pPr>
            <a:r>
              <a:rPr sz="1650" b="0">
                <a:solidFill>
                  <a:srgbClr val="D8E8EE"/>
                </a:solidFill>
              </a:rPr>
              <a:t>moderate hypothermia target reported in this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49FDB-6875-4CF7-A54B-E55C5F05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54673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D238CA-D53C-4655-8B02-051608A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7"/>
                </a:solidFill>
              </a:defRPr>
            </a:pPr>
            <a:r>
              <a:rPr sz="1800" b="1">
                <a:solidFill>
                  <a:srgbClr val="123047"/>
                </a:solidFill>
              </a:rPr>
              <a:t>Protection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ABBFD-912A-45D6-93F0-4B10444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369A92-AD97-4651-9F65-B7A9026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Systemic cooling before arrest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D5E6D-D7FD-42A6-8D6A-53FACDC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F3825C-0351-4D4F-BAF9-1ECF17C6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5277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Antegrade cerebral perfusion (ACP)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4733B-E02C-4F8F-88E1-3DDFFABB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3789B9-EFEB-45D2-B538-AC4C2C0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52850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Neuromonitoring and pressure/flow targets per protocol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38FC4-16B6-4A8E-8F83-149A0F4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54F394-511A-4349-9BD6-3E2A884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529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Shortest feasible no-flow intervals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E4A67974-23AC-48C3-9C16-46AD21BC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36B"/>
                </a:solidFill>
              </a:defRPr>
            </a:pPr>
            <a:r>
              <a:rPr sz="750" b="0">
                <a:solidFill>
                  <a:srgbClr val="56636B"/>
                </a:solidFill>
              </a:rPr>
              <a:t>Guideline context: 2022 ACC/AHA Aortic Disease; 2024 EACTS/EACTAIC/EBCP CPB.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DCFDC9-7F7B-4B99-A8CE-9DA0A68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3542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77AE512-311D-4EAD-9EB2-60C46366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Femoral access supported systemic CPB; axillary access enabled antegrade brain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A0B33-1693-4105-BF29-BD6E9BB1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64770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72B6C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FF08F-6B70-4931-8F63-C8E3C781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194724-7E5C-407F-BDA7-25D3814A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Femoral cannulation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0B6562-F6E3-4C5D-9C88-D5E8C205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Rapid peripheral route for venous drainage and/or systemic arterial return, depending on the documented configuration.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9A7767-08BD-4189-819B-14B3D80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3B3B"/>
                </a:solidFill>
              </a:defRPr>
            </a:pPr>
            <a:r>
              <a:rPr sz="1350" b="1">
                <a:solidFill>
                  <a:srgbClr val="A33B3B"/>
                </a:solidFill>
              </a:rPr>
              <a:t>Primary role in this case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963ED5-CEE1-4320-8DA1-48AE7EA1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Whole-body bypass and cooling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2BA40-79F8-4835-B93B-DC366546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DE0A2F-2041-406E-A143-EB386B0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145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Axillary cannulation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7CE173-0594-4398-9B3C-BB250B8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24175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Antegrade arterial access that can continue directed cerebral perfusion when distal systemic flow is stopped.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2DBB16B-16AE-4D17-B07B-CC7E8ED8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3B3B"/>
                </a:solidFill>
              </a:defRPr>
            </a:pPr>
            <a:r>
              <a:rPr sz="1350" b="1">
                <a:solidFill>
                  <a:srgbClr val="A33B3B"/>
                </a:solidFill>
              </a:rPr>
              <a:t>Primary role in this case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6F0959-653B-4CEB-A819-BAB583F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</a:defRPr>
            </a:pPr>
            <a:r>
              <a:rPr sz="1500" b="1">
                <a:solidFill>
                  <a:srgbClr val="172026"/>
                </a:solidFill>
              </a:rPr>
              <a:t>ACP during aortic reconstruction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8B6910-E512-48F3-A7FE-D71F90F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F8E"/>
                </a:solidFill>
              </a:defRPr>
            </a:pPr>
            <a:r>
              <a:rPr sz="1650" b="1">
                <a:solidFill>
                  <a:srgbClr val="2D6F8E"/>
                </a:solidFill>
              </a:rPr>
              <a:t>dual arterial strategy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D9E56E74-E698-4A2A-8EA9-5F129EF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36B"/>
                </a:solidFill>
              </a:defRPr>
            </a:pPr>
            <a:r>
              <a:rPr sz="750" b="0">
                <a:solidFill>
                  <a:srgbClr val="56636B"/>
                </a:solidFill>
              </a:rPr>
              <a:t>Cannulation strategy must be individualized to anatomy, urgency and the operative plan.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DFBAAE-08EC-458C-A7EA-2CFCBF4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24083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71C1D86-5518-4210-9F8D-6D3A79F9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Bypass and cooling were established before the sternotomy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D588A-00F7-4457-8086-2BA3DFA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FA9559-B130-4783-B903-66AF923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3B3B"/>
                </a:solidFill>
              </a:defRPr>
            </a:pPr>
            <a:r>
              <a:rPr sz="2550" b="1">
                <a:solidFill>
                  <a:srgbClr val="A33B3B"/>
                </a:solidFill>
              </a:rP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496D014-8B9D-4DC5-A4FF-BF22D34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047"/>
                </a:solidFill>
              </a:defRPr>
            </a:pPr>
            <a:r>
              <a:rPr sz="1875" b="1">
                <a:solidFill>
                  <a:srgbClr val="123047"/>
                </a:solidFill>
              </a:rPr>
              <a:t>Cannulate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F13D10-887D-4F40-ACA2-DA82652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Femoral and axillary access established before chest incision.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83670-0ED0-4150-9B89-BB0E1459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8264FC-13F6-4356-9369-D9333D55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669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3B3B"/>
                </a:solidFill>
              </a:defRPr>
            </a:pPr>
            <a:r>
              <a:rPr sz="2550" b="1">
                <a:solidFill>
                  <a:srgbClr val="A33B3B"/>
                </a:solidFill>
              </a:rPr>
              <a:t>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9872B5-370D-49FA-AE06-8CD9F2BF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047"/>
                </a:solidFill>
              </a:defRPr>
            </a:pPr>
            <a:r>
              <a:rPr sz="1875" b="1">
                <a:solidFill>
                  <a:srgbClr val="123047"/>
                </a:solidFill>
              </a:rPr>
              <a:t>Anticoagulate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368EFD-A443-4C37-ABD3-C16985C7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Systemic heparinization before CPB; verify ACT and dose in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2E6B5-0E17-4AEB-A3A7-02514508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38E359-C134-4DF1-9F1E-75DE37A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669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3B3B"/>
                </a:solidFill>
              </a:defRPr>
            </a:pPr>
            <a:r>
              <a:rPr sz="2550" b="1">
                <a:solidFill>
                  <a:srgbClr val="A33B3B"/>
                </a:solidFill>
              </a:rPr>
              <a:t>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1A49F5-CA85-44BC-9BB3-414AF8C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047"/>
                </a:solidFill>
              </a:defRPr>
            </a:pPr>
            <a:r>
              <a:rPr sz="1875" b="1">
                <a:solidFill>
                  <a:srgbClr val="123047"/>
                </a:solidFill>
              </a:rPr>
              <a:t>Initiate CPB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57D7CF-6244-4BE2-9970-03E53C8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Advance to reported full flow of 4.0 L/min. Adequacy cannot be indexed without BSA.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381B5-642F-4796-91AC-144DF734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571750" cy="3143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E8B28F-7D06-4231-847E-30C91B1F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669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3B3B"/>
                </a:solidFill>
              </a:defRPr>
            </a:pPr>
            <a:r>
              <a:rPr sz="2550" b="1">
                <a:solidFill>
                  <a:srgbClr val="A33B3B"/>
                </a:solidFill>
              </a:rPr>
              <a:t>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B15077-66D9-4B83-BE06-EFEDC765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14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047"/>
                </a:solidFill>
              </a:defRPr>
            </a:pPr>
            <a:r>
              <a:rPr sz="1875" b="1">
                <a:solidFill>
                  <a:srgbClr val="123047"/>
                </a:solidFill>
              </a:rPr>
              <a:t>Cool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FD76F2E-C70B-424A-845D-A64A9987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6"/>
                </a:solidFill>
              </a:defRPr>
            </a:pPr>
            <a:r>
              <a:rPr sz="1425" b="0">
                <a:solidFill>
                  <a:srgbClr val="172026"/>
                </a:solidFill>
              </a:rPr>
              <a:t>Core temperature reduced to 28 °C before skin incision.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B8A050-805C-4E39-8142-6E011CA6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36B"/>
                </a:solidFill>
              </a:defRPr>
            </a:pPr>
            <a:r>
              <a:rPr sz="1425" b="0">
                <a:solidFill>
                  <a:srgbClr val="56636B"/>
                </a:solidFill>
              </a:rPr>
              <a:t>Reported adjuncts: TXA, albumin and mannitol. Their exact dose, timing and whether albumin/mannitol were in the prime require verification.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F1E3CC5-C8D6-4902-8636-E01D6D79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36B"/>
                </a:solidFill>
              </a:defRPr>
            </a:pPr>
            <a:r>
              <a:rPr sz="750" b="0">
                <a:solidFill>
                  <a:srgbClr val="56636B"/>
                </a:solidFill>
              </a:rPr>
              <a:t>2024 CPB guideline: routine mannitol in the prime is not recommended; document the case-specific indication.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B39F9E-7928-4361-83F1-59271489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6606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12EA6A4-DBDC-4992-B686-2751AD2C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Sternotomy converted the plan from controlled cooling to active blood conservation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5D066-F256-4C51-B1B0-6D396ED0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95300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A36CC2F-2A30-48BD-81F3-DEE24F18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33B3B"/>
                </a:solidFill>
              </a:defRPr>
            </a:pPr>
            <a:r>
              <a:rPr sz="1650" b="1">
                <a:solidFill>
                  <a:srgbClr val="A33B3B"/>
                </a:solidFill>
              </a:rPr>
              <a:t>Trigger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10EB00-04D1-40D2-83F5-164A8E5A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6"/>
                </a:solidFill>
              </a:defRPr>
            </a:pPr>
            <a:r>
              <a:rPr sz="2025" b="1">
                <a:solidFill>
                  <a:srgbClr val="172026"/>
                </a:solidFill>
              </a:rPr>
              <a:t>After skin incision and median sternotomy, bleeding increased once the chest was opened.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2119AC-6B6A-4872-B175-6EE7E80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36B"/>
                </a:solidFill>
              </a:defRPr>
            </a:pPr>
            <a:r>
              <a:rPr sz="1425" b="0">
                <a:solidFill>
                  <a:srgbClr val="56636B"/>
                </a:solidFill>
              </a:rPr>
              <a:t>The narrative does not identify the source, total blood loss or transfusion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7F717-0665-41C9-85AD-F5E0BB66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0"/>
            <a:ext cx="58483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946140-01F2-46C9-9799-9E7EE496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7"/>
                </a:solidFill>
              </a:defRPr>
            </a:pPr>
            <a:r>
              <a:rPr sz="1650" b="1">
                <a:solidFill>
                  <a:srgbClr val="123047"/>
                </a:solidFill>
              </a:rPr>
              <a:t>Perfusion response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C10399D-46D4-43B8-95FF-CC5A70CE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A33B3B"/>
                </a:solidFill>
              </a:defRPr>
            </a:pPr>
            <a:r>
              <a:rPr sz="5400" b="1">
                <a:solidFill>
                  <a:srgbClr val="A33B3B"/>
                </a:solidFill>
              </a:rPr>
              <a:t>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741FA8-F48B-4DAF-A84B-052BC0B4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7"/>
                </a:solidFill>
              </a:defRPr>
            </a:pPr>
            <a:r>
              <a:rPr sz="2025" b="1">
                <a:solidFill>
                  <a:srgbClr val="123047"/>
                </a:solidFill>
              </a:rPr>
              <a:t>field suckers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D7D532-63C2-43DC-AC68-8E4F164B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004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~1 L/min each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73B9DE-1964-4EC3-AA52-BA3FD25C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36B"/>
                </a:solidFill>
              </a:defRPr>
            </a:pPr>
            <a:r>
              <a:rPr sz="1425" b="0">
                <a:solidFill>
                  <a:srgbClr val="56636B"/>
                </a:solidFill>
              </a:rPr>
              <a:t>Reported maximum suction setting; actual recovered volume is not given.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2027FF24-2FBD-4FF2-B1A3-1EE8106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87E37E-EE11-434E-BD31-1213D838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19234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8ACA980-FE3E-411B-BCAE-2D5ED63E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Myocardial arrest preceded selective brain-only perfusion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E3BC4-F1E9-416C-A3BC-3079756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230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D64FA-C617-443E-B78E-6E0A4E5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3FA5CC-B187-4EBE-A0C2-86070D6E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Cross-clamp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4FCCDC-8D64-4519-A653-24241C4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38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</a:defRPr>
            </a:pPr>
            <a:r>
              <a:rPr sz="1500" b="0">
                <a:solidFill>
                  <a:srgbClr val="172026"/>
                </a:solidFill>
              </a:rPr>
              <a:t>Aortic cross-clamp applied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2A87D-FCDE-492B-B01C-9BD23AE5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C96678-5C4C-458A-A912-A939CEE4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Cardioplegia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7724E0-9AFF-4731-8C70-CE0B72E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</a:defRPr>
            </a:pPr>
            <a:r>
              <a:rPr sz="1500" b="0">
                <a:solidFill>
                  <a:srgbClr val="172026"/>
                </a:solidFill>
              </a:rPr>
              <a:t>1 L retrograde dose reported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4D3F4-C582-4ACC-8CDC-3B3B9CAE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487503-DD7A-4AAB-AFCE-85BC4F7A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ACP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4E4598-B688-42D3-B7D1-973E462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85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6"/>
                </a:solidFill>
              </a:defRPr>
            </a:pPr>
            <a:r>
              <a:rPr sz="1500" b="0">
                <a:solidFill>
                  <a:srgbClr val="172026"/>
                </a:solidFill>
              </a:rPr>
              <a:t>Systemic flow reduced to brain-only antegrade perfusion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EAADD-1F8C-4B7E-A653-478DE108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1277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D4AF55-D359-4E67-B6CC-E9DEF9F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6B"/>
                </a:solidFill>
              </a:defRPr>
            </a:pPr>
            <a:r>
              <a:rPr sz="1350" b="0">
                <a:solidFill>
                  <a:srgbClr val="56636B"/>
                </a:solidFill>
              </a:rPr>
              <a:t>Sequence is reconstructed from the supplied narrative; confirm whether cardioplegia redosing, topical cooling or root venting occurred.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759C75A7-11F3-439A-944A-CC5CE39A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5D7A61-D652-494C-863B-121BDCCE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4652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A1CBEAE-8339-442E-B3E7-15DC2EBA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Aortic grafting required a brief interruption of cerebral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02CF-D373-4930-82CC-B3D73D8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76625" cy="35623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E3C012-1EFD-4FB1-B217-0D882F1C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Ascending graft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ED4DB9-E44E-4220-BA78-6BF0B11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1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The ascending aorta was opened/resected and reconstructed with a vascular graft under arrest with ACP.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039EE-3D27-4BD6-BFE0-C2B3CF51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14500"/>
            <a:ext cx="3476625" cy="35623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978E7B-2B91-42EA-A4D4-42F19DA0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38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Right subclavian base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98B437-3544-493A-B6C1-D306051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2714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The narrative reports “zero cerebral flow” during repair at the base of the right subclavian artery.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A03206-302E-4AB0-8C1F-1D8E91E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76725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33B3B"/>
                </a:solidFill>
              </a:defRPr>
            </a:pPr>
            <a:r>
              <a:rPr sz="1425" b="1">
                <a:solidFill>
                  <a:srgbClr val="A33B3B"/>
                </a:solidFill>
              </a:rPr>
              <a:t>Interpret as a brief no-ACP interval; exact duration is not provided.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1907D-5E05-4CCA-8890-C42444B6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486150" cy="35623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1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54F8963-14D0-4FF8-8972-492BDD5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Flow restored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6FF5BC-9F98-4206-891A-E220D805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271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6"/>
                </a:solidFill>
              </a:defRPr>
            </a:pPr>
            <a:r>
              <a:rPr sz="1575" b="0">
                <a:solidFill>
                  <a:srgbClr val="172026"/>
                </a:solidFill>
              </a:rPr>
              <a:t>After completion of the critical distal repair, perfusion returned from selective cerebral flow to full-body flow.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95A02267-47F4-41FE-BA79-6E4D18D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6636B"/>
                </a:solidFill>
              </a:defRPr>
            </a:pPr>
            <a:r>
              <a:rPr sz="750" b="0">
                <a:solidFill>
                  <a:srgbClr val="56636B"/>
                </a:solidFill>
              </a:rPr>
              <a:t>Reported total circulatory arrest time: 20 minutes. Do not equate this automatically with 20 minutes of no cerebral flow.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A21727-250C-42D9-9757-CDEA2227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08675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104AC1B-263C-4F6C-93A0-ABA100CA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Full-body perfusion supported valve replacement, rewarming and separation from CPB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D9BCA-9D9A-4F44-9D64-1A6CB81B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000250" cy="2428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7331027-8107-4E44-A498-2481F904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ECE0AF1-4E8C-480B-9FD0-F1EBA52D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7"/>
                </a:solidFill>
              </a:defRPr>
            </a:pPr>
            <a:r>
              <a:rPr sz="1650" b="1">
                <a:solidFill>
                  <a:srgbClr val="123047"/>
                </a:solidFill>
              </a:rPr>
              <a:t>Restore systemic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49099-5C6B-42A7-9F8D-34A60C2D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2000250" cy="2428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69555E-CAD4-4018-947E-595FD58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6AF5E1-A093-4603-A425-B2C32AF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47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7"/>
                </a:solidFill>
              </a:defRPr>
            </a:pPr>
            <a:r>
              <a:rPr sz="1650" b="1">
                <a:solidFill>
                  <a:srgbClr val="123047"/>
                </a:solidFill>
              </a:rPr>
              <a:t>Resect subaortic membrane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B3101-7407-4075-B20D-B831F85E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2000250" cy="2428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F3CFBD-A8AC-49C4-A9CA-551106E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D3F405-39B3-45FB-A04F-A232178C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47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7"/>
                </a:solidFill>
              </a:defRPr>
            </a:pPr>
            <a:r>
              <a:rPr sz="1650" b="1">
                <a:solidFill>
                  <a:srgbClr val="123047"/>
                </a:solidFill>
              </a:rPr>
              <a:t>Implant mechanical aortic valve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231C6-6106-4B03-BB02-700FE19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2000250" cy="2428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7FDF010-9205-4771-B722-3DDD821A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B3B"/>
                </a:solidFill>
              </a:defRPr>
            </a:pPr>
            <a:r>
              <a:rPr sz="2100" b="1">
                <a:solidFill>
                  <a:srgbClr val="A33B3B"/>
                </a:solidFill>
              </a:rPr>
              <a:t>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B8BB57-2F69-42CF-92AE-6D69F5CE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47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047"/>
                </a:solidFill>
              </a:defRPr>
            </a:pPr>
            <a:r>
              <a:rPr sz="1650" b="1">
                <a:solidFill>
                  <a:srgbClr val="123047"/>
                </a:solidFill>
              </a:rPr>
              <a:t>Rewarm and de-air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A571E-9F7A-4B7C-A89E-8143B82D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2000250" cy="2428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08A203-C170-4996-8E6B-8D28839E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2B6C9"/>
                </a:solidFill>
              </a:defRPr>
            </a:pPr>
            <a:r>
              <a:rPr sz="2100" b="1">
                <a:solidFill>
                  <a:srgbClr val="72B6C9"/>
                </a:solidFill>
              </a:rPr>
              <a:t>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348837-581E-4E77-BB9A-B5B02A2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47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Wean successfully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CC3217C-2604-4C96-8B4F-038E049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3B3B"/>
                </a:solidFill>
              </a:defRPr>
            </a:pPr>
            <a:r>
              <a:rPr sz="1500" b="1">
                <a:solidFill>
                  <a:srgbClr val="A33B3B"/>
                </a:solidFill>
              </a:rPr>
              <a:t>Case endpoint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4B9BAA4-2A3E-42D0-A5E5-6BE2EC60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</a:defRPr>
            </a:pPr>
            <a:r>
              <a:rPr sz="1650" b="0">
                <a:solidFill>
                  <a:srgbClr val="172026"/>
                </a:solidFill>
              </a:rPr>
              <a:t>Successful separation from bypass was reported; postoperative support, transfusion and organ outcomes were not supplied.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93D77BCB-BD1C-4E70-8688-94918385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441970-3B84-466C-8B2F-521A0581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173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2FE9F69-398E-496E-BFA8-30AC56D4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The operative timeline concentrated risk into a 20-minute arrest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3E85F-BB5E-4E80-8F1E-3A60E33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8953500" cy="0"/>
          </a:xfrm>
          <a:prstGeom xmlns:a="http://schemas.openxmlformats.org/drawingml/2006/main" prst="line">
            <a:avLst/>
          </a:prstGeom>
          <a:ln xmlns:a="http://schemas.openxmlformats.org/drawingml/2006/main" w="114300">
            <a:solidFill>
              <a:srgbClr val="1230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A595D-3D70-4A48-9253-CAE43DA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92C005-B8D2-406D-B652-1A14BA76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7"/>
                </a:solidFill>
              </a:defRPr>
            </a:pPr>
            <a:r>
              <a:rPr sz="1350" b="1">
                <a:solidFill>
                  <a:srgbClr val="123047"/>
                </a:solidFill>
              </a:rPr>
              <a:t>TOTAL CPB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9679A2-88C1-4210-80C1-EF4F055A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100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2789B-6CC3-41E5-B141-B5FC09CF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2AF207-F94F-4A84-BFBC-1B6F878E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33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636B"/>
                </a:solidFill>
              </a:defRPr>
            </a:pPr>
            <a:r>
              <a:rPr sz="1350" b="1">
                <a:solidFill>
                  <a:srgbClr val="56636B"/>
                </a:solidFill>
              </a:rPr>
              <a:t>Clamp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EE2D52-F5AB-4BBE-A739-C03808E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76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33B3B"/>
                </a:solidFill>
              </a:defRPr>
            </a:pPr>
            <a:r>
              <a:rPr sz="2850" b="1">
                <a:solidFill>
                  <a:srgbClr val="A33B3B"/>
                </a:solidFill>
              </a:rPr>
              <a:t>55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F90F56-EB0F-40EB-AD98-5D60FA3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6098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6B"/>
                </a:solidFill>
              </a:defRPr>
            </a:pPr>
            <a:r>
              <a:rPr sz="1350" b="0">
                <a:solidFill>
                  <a:srgbClr val="56636B"/>
                </a:solidFill>
              </a:rPr>
              <a:t>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90250-E9A4-4769-9C3A-B52E3F89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142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F17481-7B63-40D5-B0C9-775BD26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147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636B"/>
                </a:solidFill>
              </a:defRPr>
            </a:pPr>
            <a:r>
              <a:rPr sz="1350" b="1">
                <a:solidFill>
                  <a:srgbClr val="56636B"/>
                </a:solidFill>
              </a:rPr>
              <a:t>Arrest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0598DE-087A-4CCA-B7F5-8E9EF71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57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33B3B"/>
                </a:solidFill>
              </a:defRPr>
            </a:pPr>
            <a:r>
              <a:rPr sz="2850" b="1">
                <a:solidFill>
                  <a:srgbClr val="A33B3B"/>
                </a:solidFill>
              </a:rPr>
              <a:t>20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ABE224-1917-4FD9-AC50-FA413BB5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990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6B"/>
                </a:solidFill>
              </a:defRPr>
            </a:pPr>
            <a:r>
              <a:rPr sz="1350" b="0">
                <a:solidFill>
                  <a:srgbClr val="56636B"/>
                </a:solidFill>
              </a:rPr>
              <a:t>min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BF8BF36-921D-44CA-AFD8-5C9CDBA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0025"/>
            <a:ext cx="876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Cannulation → full flow → cooling → incision/sternotomy → clamp/cardioplegia → ACP/arrest → graft repair → full-body flow → AVR → wean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922CD7-2A7A-4952-BE79-8DE3CEE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01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6B"/>
                </a:solidFill>
              </a:defRPr>
            </a:pPr>
            <a:r>
              <a:rPr sz="1350" b="0">
                <a:solidFill>
                  <a:srgbClr val="56636B"/>
                </a:solidFill>
              </a:rPr>
              <a:t>Exact event timestamps were not provided; the sequence is shown without invented offsets.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5CD6C43A-BBC9-4F4B-B6B1-AA17D9C5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BFFA47-DBA8-49D4-9BB1-CA9DF84A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2666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D636241-EBED-472F-BBCB-EB6EF3BF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The reported endpoints show efficient separation despite complex flow transitions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C3FFD1B-9EC8-4816-8E27-BBA1E748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36B"/>
                </a:solidFill>
              </a:defRPr>
            </a:pPr>
            <a:r>
              <a:rPr sz="1575" b="0">
                <a:solidFill>
                  <a:srgbClr val="56636B"/>
                </a:solidFill>
              </a:rPr>
              <a:t>CARDIOPULMONARY BYPASS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89E3BF2-07DA-49EF-875D-F980C957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23047"/>
                </a:solidFill>
              </a:defRPr>
            </a:pPr>
            <a:r>
              <a:rPr sz="4800" b="1">
                <a:solidFill>
                  <a:srgbClr val="123047"/>
                </a:solidFill>
              </a:rPr>
              <a:t>100 min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4A541B-CAF5-4DF9-B55A-597DA451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289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36B"/>
                </a:solidFill>
              </a:defRPr>
            </a:pPr>
            <a:r>
              <a:rPr sz="1575" b="0">
                <a:solidFill>
                  <a:srgbClr val="56636B"/>
                </a:solidFill>
              </a:rPr>
              <a:t>AORTIC CROSS-CLAMP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559AB8-25CE-480F-BDF4-8A520DDA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194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A33B3B"/>
                </a:solidFill>
              </a:defRPr>
            </a:pPr>
            <a:r>
              <a:rPr sz="4800" b="1">
                <a:solidFill>
                  <a:srgbClr val="A33B3B"/>
                </a:solidFill>
              </a:rPr>
              <a:t>55 min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63E3F3-4D77-4487-8772-6B5B4F1B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36B"/>
                </a:solidFill>
              </a:defRPr>
            </a:pPr>
            <a:r>
              <a:rPr sz="1575" b="0">
                <a:solidFill>
                  <a:srgbClr val="56636B"/>
                </a:solidFill>
              </a:rPr>
              <a:t>CIRCULATORY ARREST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A1513E-0489-4BDD-B3A8-83A83207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A33B3B"/>
                </a:solidFill>
              </a:defRPr>
            </a:pPr>
            <a:r>
              <a:rPr sz="4800" b="1">
                <a:solidFill>
                  <a:srgbClr val="A33B3B"/>
                </a:solidFill>
              </a:rPr>
              <a:t>20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5C70F-8BF5-4FA0-AED1-A13CD85E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688A16-4B29-4AFA-866C-E6321AF3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7"/>
                </a:solidFill>
              </a:defRPr>
            </a:pPr>
            <a:r>
              <a:rPr sz="1575" b="1">
                <a:solidFill>
                  <a:srgbClr val="123047"/>
                </a:solidFill>
              </a:rPr>
              <a:t>Key perfusion lesson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0BBCDF-2BD4-4200-8BB7-254A7248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8157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</a:defRPr>
            </a:pPr>
            <a:r>
              <a:rPr sz="1650" b="0">
                <a:solidFill>
                  <a:srgbClr val="172026"/>
                </a:solidFill>
              </a:rPr>
              <a:t>Peripheral cannulation before incision created a margin for controlled cooling, while axillary access preserved an antegrade cerebral route during open aortic work.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77D59B76-FBD1-497D-811E-1BDEA8E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884EF4-0C53-4419-883D-F605E09F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33419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81892C5-E42A-48DC-A22F-9B46025C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References and case-use note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9FCE182-BA72-4165-B4CB-299AFF2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7"/>
                </a:solidFill>
              </a:defRPr>
            </a:pPr>
            <a:r>
              <a:rPr sz="1800" b="1">
                <a:solidFill>
                  <a:srgbClr val="123047"/>
                </a:solidFill>
              </a:rPr>
              <a:t>Authoritative background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2060D-E1F0-4A01-9450-F9A21A9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7D9664-B3EC-4DFD-B1DD-22958151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50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Wahba A, et al. 2024 EACTS/EACTAIC/EBCP Guidelines on cardiopulmonary bypass in adult cardiac surgery. Eur J Cardiothorac Surg. 2025;67:ezae354.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1AB65-3D09-473B-9C57-1D3A7871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D45AAA-679F-4321-A704-8AC340E4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50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Isselbacher EM, et al. 2022 ACC/AHA Guideline for the Diagnosis and Management of Aortic Disease. J Am Coll Cardiol. 2022.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367D1-B39D-4E02-A4C9-658D0CCE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803DEA-322C-4F40-A800-5C2879C5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50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Vahanian A, et al. 2021 ESC/EACTS Guidelines for the management of valvular heart disease. Eur Heart J. 2022;43:561–632.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81FE-423C-4C6D-A26B-0B02B37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3F798D-E1EF-4318-91D1-25DB988B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506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Etnel JRG, et al. Surgical literature on discrete subaortic stenosis/membrane resection and recurrence surveillance.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B825E-DFAD-4ACF-833A-6BD5CE2C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277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8944F6-F302-4BA6-B3CF-5F1CE5FD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3B3B"/>
                </a:solidFill>
              </a:defRPr>
            </a:pPr>
            <a:r>
              <a:rPr sz="1200" b="1">
                <a:solidFill>
                  <a:srgbClr val="A33B3B"/>
                </a:solidFill>
              </a:rPr>
              <a:t>Educational case reconstruction only. Verify all patient-specific facts, doses, flows, temperatures and outcomes against the official operative, anesthesia and perfusion records before presentation or clinical use.</a:t>
            </a:r>
          </a:p>
        </p:txBody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1A794824-3BDF-476F-B026-50F45B70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481C3A-8500-4BA8-9D96-2F21A904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36B"/>
                </a:solidFill>
              </a:defRPr>
            </a:pPr>
            <a:r>
              <a:rPr sz="825" b="0">
                <a:solidFill>
                  <a:srgbClr val="56636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86297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2026-07-21T23:34:20.7730000Z</dcterms:created>
  <dcterms:modified xsi:type="dcterms:W3CDTF">2026-07-21T23:34:20.7740000Z</dcterms:modified>
</coreProperties>
</file>