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76" autoAdjust="0"/>
    <p:restoredTop sz="94660"/>
  </p:normalViewPr>
  <p:slideViewPr>
    <p:cSldViewPr snapToGrid="0">
      <p:cViewPr varScale="1">
        <p:scale>
          <a:sx n="26" d="100"/>
          <a:sy n="26" d="100"/>
        </p:scale>
        <p:origin x="148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F6F324-E7C6-AA44-AA87-5CC53A556A4C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BDE0CB-5B3E-B64B-AFFA-8858759DD025}">
      <dgm:prSet phldrT="[Text]"/>
      <dgm:spPr/>
      <dgm:t>
        <a:bodyPr/>
        <a:lstStyle/>
        <a:p>
          <a:pPr>
            <a:buNone/>
          </a:pPr>
          <a:r>
            <a:rPr lang="en-US" b="1" dirty="0"/>
            <a:t>Said et al., 2020</a:t>
          </a:r>
          <a:endParaRPr lang="en-US" dirty="0"/>
        </a:p>
      </dgm:t>
    </dgm:pt>
    <dgm:pt modelId="{321690B2-39A8-C741-9E60-6658A7EF2D54}" type="parTrans" cxnId="{7CB4601E-F001-0F46-9C76-407E7AD4F7E0}">
      <dgm:prSet/>
      <dgm:spPr/>
      <dgm:t>
        <a:bodyPr/>
        <a:lstStyle/>
        <a:p>
          <a:endParaRPr lang="en-US"/>
        </a:p>
      </dgm:t>
    </dgm:pt>
    <dgm:pt modelId="{238A209B-767C-3144-AA80-EFA5CF8872C1}" type="sibTrans" cxnId="{7CB4601E-F001-0F46-9C76-407E7AD4F7E0}">
      <dgm:prSet/>
      <dgm:spPr/>
      <dgm:t>
        <a:bodyPr/>
        <a:lstStyle/>
        <a:p>
          <a:endParaRPr lang="en-US"/>
        </a:p>
      </dgm:t>
    </dgm:pt>
    <dgm:pt modelId="{BB924099-9113-BC41-9DE7-A4B9A1899EF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Validation study (Level IV)</a:t>
          </a:r>
        </a:p>
      </dgm:t>
    </dgm:pt>
    <dgm:pt modelId="{CB4E4200-C4D4-A04A-8FF8-2FD1EE5BBC60}" type="parTrans" cxnId="{42938143-D0FA-1946-9950-30A5105E0A9A}">
      <dgm:prSet/>
      <dgm:spPr/>
      <dgm:t>
        <a:bodyPr/>
        <a:lstStyle/>
        <a:p>
          <a:endParaRPr lang="en-US"/>
        </a:p>
      </dgm:t>
    </dgm:pt>
    <dgm:pt modelId="{FED80A65-0513-3043-B67C-24B3004A419C}" type="sibTrans" cxnId="{42938143-D0FA-1946-9950-30A5105E0A9A}">
      <dgm:prSet/>
      <dgm:spPr/>
      <dgm:t>
        <a:bodyPr/>
        <a:lstStyle/>
        <a:p>
          <a:endParaRPr lang="en-US"/>
        </a:p>
      </dgm:t>
    </dgm:pt>
    <dgm:pt modelId="{7C870503-800C-EE43-8B27-194F2EDD998F}">
      <dgm:prSet phldrT="[Text]"/>
      <dgm:spPr/>
      <dgm:t>
        <a:bodyPr/>
        <a:lstStyle/>
        <a:p>
          <a:pPr>
            <a:buNone/>
          </a:pPr>
          <a:r>
            <a:rPr lang="en-US" b="1" dirty="0"/>
            <a:t>Richardson et al., 2019</a:t>
          </a:r>
          <a:endParaRPr lang="en-US" dirty="0"/>
        </a:p>
      </dgm:t>
    </dgm:pt>
    <dgm:pt modelId="{3D3AA2B8-4100-1848-996B-59FAF5DCB92A}" type="parTrans" cxnId="{FE1B565C-D79A-AA46-AA98-D4D2E122F338}">
      <dgm:prSet/>
      <dgm:spPr/>
      <dgm:t>
        <a:bodyPr/>
        <a:lstStyle/>
        <a:p>
          <a:endParaRPr lang="en-US"/>
        </a:p>
      </dgm:t>
    </dgm:pt>
    <dgm:pt modelId="{C3A0BAEF-2CB1-834B-9718-875C59976CD6}" type="sibTrans" cxnId="{FE1B565C-D79A-AA46-AA98-D4D2E122F338}">
      <dgm:prSet/>
      <dgm:spPr/>
      <dgm:t>
        <a:bodyPr/>
        <a:lstStyle/>
        <a:p>
          <a:endParaRPr lang="en-US"/>
        </a:p>
      </dgm:t>
    </dgm:pt>
    <dgm:pt modelId="{ACCB94D2-2F4D-9F42-B5E4-B19D2223BAA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Quasi-experimental study (Level II)</a:t>
          </a:r>
        </a:p>
      </dgm:t>
    </dgm:pt>
    <dgm:pt modelId="{C1ECC389-E081-7341-90B5-80C4296448D8}" type="parTrans" cxnId="{F79B9A0B-1F5B-CF4B-9CBC-16291B0B5B62}">
      <dgm:prSet/>
      <dgm:spPr/>
      <dgm:t>
        <a:bodyPr/>
        <a:lstStyle/>
        <a:p>
          <a:endParaRPr lang="en-US"/>
        </a:p>
      </dgm:t>
    </dgm:pt>
    <dgm:pt modelId="{A3A6427F-76F5-2542-93DE-9EC0F7D15650}" type="sibTrans" cxnId="{F79B9A0B-1F5B-CF4B-9CBC-16291B0B5B62}">
      <dgm:prSet/>
      <dgm:spPr/>
      <dgm:t>
        <a:bodyPr/>
        <a:lstStyle/>
        <a:p>
          <a:endParaRPr lang="en-US"/>
        </a:p>
      </dgm:t>
    </dgm:pt>
    <dgm:pt modelId="{29B2449D-39F5-8444-B08F-72EC5F124D2E}">
      <dgm:prSet phldrT="[Text]"/>
      <dgm:spPr/>
      <dgm:t>
        <a:bodyPr/>
        <a:lstStyle/>
        <a:p>
          <a:pPr>
            <a:buNone/>
          </a:pPr>
          <a:r>
            <a:rPr lang="en-US" b="1" dirty="0"/>
            <a:t>Hudson et al.,</a:t>
          </a:r>
          <a:endParaRPr lang="en-US" dirty="0"/>
        </a:p>
      </dgm:t>
    </dgm:pt>
    <dgm:pt modelId="{305B51E9-9FA4-5348-A1FA-8130AB3317A8}" type="parTrans" cxnId="{82ACCAAA-04F6-5441-A26F-4E2A18B8F96B}">
      <dgm:prSet/>
      <dgm:spPr/>
      <dgm:t>
        <a:bodyPr/>
        <a:lstStyle/>
        <a:p>
          <a:endParaRPr lang="en-US"/>
        </a:p>
      </dgm:t>
    </dgm:pt>
    <dgm:pt modelId="{74D4EE9A-E1A9-0849-B107-30B723536764}" type="sibTrans" cxnId="{82ACCAAA-04F6-5441-A26F-4E2A18B8F96B}">
      <dgm:prSet/>
      <dgm:spPr/>
      <dgm:t>
        <a:bodyPr/>
        <a:lstStyle/>
        <a:p>
          <a:endParaRPr lang="en-US"/>
        </a:p>
      </dgm:t>
    </dgm:pt>
    <dgm:pt modelId="{C50DC12C-7B81-904A-830F-D6BC4BDCB5C9}">
      <dgm:prSet/>
      <dgm:spPr/>
      <dgm:t>
        <a:bodyPr/>
        <a:lstStyle/>
        <a:p>
          <a:pPr>
            <a:buNone/>
          </a:pPr>
          <a:r>
            <a:rPr lang="en-US" b="1" dirty="0"/>
            <a:t>Weigl et al., 2016</a:t>
          </a:r>
        </a:p>
      </dgm:t>
    </dgm:pt>
    <dgm:pt modelId="{64864FEA-D5CC-1741-9028-549A4C865E17}" type="parTrans" cxnId="{7E343A1F-559A-414A-A76D-3F27B0A7D3C4}">
      <dgm:prSet/>
      <dgm:spPr/>
      <dgm:t>
        <a:bodyPr/>
        <a:lstStyle/>
        <a:p>
          <a:endParaRPr lang="en-US"/>
        </a:p>
      </dgm:t>
    </dgm:pt>
    <dgm:pt modelId="{3496EF8B-EF2C-8642-BC7A-B306F0B51480}" type="sibTrans" cxnId="{7E343A1F-559A-414A-A76D-3F27B0A7D3C4}">
      <dgm:prSet/>
      <dgm:spPr/>
      <dgm:t>
        <a:bodyPr/>
        <a:lstStyle/>
        <a:p>
          <a:endParaRPr lang="en-US"/>
        </a:p>
      </dgm:t>
    </dgm:pt>
    <dgm:pt modelId="{0868062A-A2C6-FD4C-A5D7-341B65C6C97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Quality: validated NASA-TLX in healthcare setting</a:t>
          </a:r>
        </a:p>
      </dgm:t>
    </dgm:pt>
    <dgm:pt modelId="{9CFC36E2-95A0-4945-8A24-177A40EF7791}" type="parTrans" cxnId="{371C56B4-3B52-9F4B-9052-FE84BDC3C35D}">
      <dgm:prSet/>
      <dgm:spPr/>
      <dgm:t>
        <a:bodyPr/>
        <a:lstStyle/>
        <a:p>
          <a:endParaRPr lang="en-US"/>
        </a:p>
      </dgm:t>
    </dgm:pt>
    <dgm:pt modelId="{6DD7AB8B-A5BE-7246-8D56-DDE0ABFDA331}" type="sibTrans" cxnId="{371C56B4-3B52-9F4B-9052-FE84BDC3C35D}">
      <dgm:prSet/>
      <dgm:spPr/>
      <dgm:t>
        <a:bodyPr/>
        <a:lstStyle/>
        <a:p>
          <a:endParaRPr lang="en-US"/>
        </a:p>
      </dgm:t>
    </dgm:pt>
    <dgm:pt modelId="{557F906A-9186-724D-806F-5DBDA2D4319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Limitation: controlled/simulated tasks</a:t>
          </a:r>
        </a:p>
      </dgm:t>
    </dgm:pt>
    <dgm:pt modelId="{F2656756-46D0-474E-AB42-26AFF4CB837E}" type="parTrans" cxnId="{F2C74979-3A31-8B41-A0B5-F459633DB12A}">
      <dgm:prSet/>
      <dgm:spPr/>
      <dgm:t>
        <a:bodyPr/>
        <a:lstStyle/>
        <a:p>
          <a:endParaRPr lang="en-US"/>
        </a:p>
      </dgm:t>
    </dgm:pt>
    <dgm:pt modelId="{9B11EDB4-E5D6-454A-9F76-0DA2E90EEF74}" type="sibTrans" cxnId="{F2C74979-3A31-8B41-A0B5-F459633DB12A}">
      <dgm:prSet/>
      <dgm:spPr/>
      <dgm:t>
        <a:bodyPr/>
        <a:lstStyle/>
        <a:p>
          <a:endParaRPr lang="en-US"/>
        </a:p>
      </dgm:t>
    </dgm:pt>
    <dgm:pt modelId="{75175904-1A99-C547-B93B-58B7BB0ADAB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Quality: improved adherence and reduced workload</a:t>
          </a:r>
        </a:p>
      </dgm:t>
    </dgm:pt>
    <dgm:pt modelId="{630B1C18-43C6-474B-A012-D6FC59C017DB}" type="parTrans" cxnId="{9C7ED5D0-058C-CA47-9E52-7C3E152434A3}">
      <dgm:prSet/>
      <dgm:spPr/>
      <dgm:t>
        <a:bodyPr/>
        <a:lstStyle/>
        <a:p>
          <a:endParaRPr lang="en-US"/>
        </a:p>
      </dgm:t>
    </dgm:pt>
    <dgm:pt modelId="{4A1A8F75-061C-6247-B2AA-1131D1BC3034}" type="sibTrans" cxnId="{9C7ED5D0-058C-CA47-9E52-7C3E152434A3}">
      <dgm:prSet/>
      <dgm:spPr/>
      <dgm:t>
        <a:bodyPr/>
        <a:lstStyle/>
        <a:p>
          <a:endParaRPr lang="en-US"/>
        </a:p>
      </dgm:t>
    </dgm:pt>
    <dgm:pt modelId="{4FF4504D-AB78-4341-B198-07DF7F82A2F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Limitation: not perfusion-specific</a:t>
          </a:r>
        </a:p>
      </dgm:t>
    </dgm:pt>
    <dgm:pt modelId="{71F02F6C-B888-FC44-9462-CE5AF8985907}" type="parTrans" cxnId="{7C815238-2E3D-934B-9C6F-D0A225E5147D}">
      <dgm:prSet/>
      <dgm:spPr/>
      <dgm:t>
        <a:bodyPr/>
        <a:lstStyle/>
        <a:p>
          <a:endParaRPr lang="en-US"/>
        </a:p>
      </dgm:t>
    </dgm:pt>
    <dgm:pt modelId="{10984852-BC94-3946-8B98-3A61504B3A86}" type="sibTrans" cxnId="{7C815238-2E3D-934B-9C6F-D0A225E5147D}">
      <dgm:prSet/>
      <dgm:spPr/>
      <dgm:t>
        <a:bodyPr/>
        <a:lstStyle/>
        <a:p>
          <a:endParaRPr lang="en-US"/>
        </a:p>
      </dgm:t>
    </dgm:pt>
    <dgm:pt modelId="{D1D9A1BD-E839-8F4E-9D73-EB253CED2FC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Interventional study (Level II)</a:t>
          </a:r>
        </a:p>
      </dgm:t>
    </dgm:pt>
    <dgm:pt modelId="{97E451E9-5810-2841-8DFE-BB76748410C8}" type="parTrans" cxnId="{E32ACB15-A67F-D749-A057-D36BF1E703C3}">
      <dgm:prSet/>
      <dgm:spPr/>
      <dgm:t>
        <a:bodyPr/>
        <a:lstStyle/>
        <a:p>
          <a:endParaRPr lang="en-US"/>
        </a:p>
      </dgm:t>
    </dgm:pt>
    <dgm:pt modelId="{8FF6E9D0-421A-764D-8ECB-7D7CFE1304F0}" type="sibTrans" cxnId="{E32ACB15-A67F-D749-A057-D36BF1E703C3}">
      <dgm:prSet/>
      <dgm:spPr/>
      <dgm:t>
        <a:bodyPr/>
        <a:lstStyle/>
        <a:p>
          <a:endParaRPr lang="en-US"/>
        </a:p>
      </dgm:t>
    </dgm:pt>
    <dgm:pt modelId="{2095236C-D9E7-E34A-9F07-AA85A69C971B}">
      <dgm:prSet phldrT="[Text]"/>
      <dgm:spPr/>
      <dgm:t>
        <a:bodyPr/>
        <a:lstStyle/>
        <a:p>
          <a:pPr>
            <a:buNone/>
          </a:pPr>
          <a:r>
            <a:rPr lang="en-US" dirty="0"/>
            <a:t>Observational study (Level III)</a:t>
          </a:r>
        </a:p>
      </dgm:t>
    </dgm:pt>
    <dgm:pt modelId="{CF55E1AC-3CB1-104E-9BC0-F5D0FAB4E561}" type="parTrans" cxnId="{9271C816-0DE6-FF4B-8375-5FDA04DE59C1}">
      <dgm:prSet/>
      <dgm:spPr/>
      <dgm:t>
        <a:bodyPr/>
        <a:lstStyle/>
        <a:p>
          <a:endParaRPr lang="en-US"/>
        </a:p>
      </dgm:t>
    </dgm:pt>
    <dgm:pt modelId="{F2FF4450-C80A-4245-99FF-9308FD085FE9}" type="sibTrans" cxnId="{9271C816-0DE6-FF4B-8375-5FDA04DE59C1}">
      <dgm:prSet/>
      <dgm:spPr/>
      <dgm:t>
        <a:bodyPr/>
        <a:lstStyle/>
        <a:p>
          <a:endParaRPr lang="en-US"/>
        </a:p>
      </dgm:t>
    </dgm:pt>
    <dgm:pt modelId="{BF8B596E-D3DE-FA40-AB65-A828251674A6}">
      <dgm:prSet/>
      <dgm:spPr/>
      <dgm:t>
        <a:bodyPr/>
        <a:lstStyle/>
        <a:p>
          <a:pPr>
            <a:buNone/>
          </a:pPr>
          <a:r>
            <a:rPr lang="en-US" b="1" dirty="0"/>
            <a:t>Haynes et al., 2009</a:t>
          </a:r>
        </a:p>
      </dgm:t>
    </dgm:pt>
    <dgm:pt modelId="{91BD70CC-4850-BE46-BFEA-01218DF9E05B}" type="sibTrans" cxnId="{1D61CECD-0096-664F-A184-20A6C1B1B381}">
      <dgm:prSet/>
      <dgm:spPr/>
      <dgm:t>
        <a:bodyPr/>
        <a:lstStyle/>
        <a:p>
          <a:endParaRPr lang="en-US"/>
        </a:p>
      </dgm:t>
    </dgm:pt>
    <dgm:pt modelId="{E2C4F28C-B1E8-3E41-9FE8-3FEA177D52A3}" type="parTrans" cxnId="{1D61CECD-0096-664F-A184-20A6C1B1B381}">
      <dgm:prSet/>
      <dgm:spPr/>
      <dgm:t>
        <a:bodyPr/>
        <a:lstStyle/>
        <a:p>
          <a:endParaRPr lang="en-US"/>
        </a:p>
      </dgm:t>
    </dgm:pt>
    <dgm:pt modelId="{60277830-548B-3443-A147-ECA831CEE726}">
      <dgm:prSet/>
      <dgm:spPr/>
      <dgm:t>
        <a:bodyPr/>
        <a:lstStyle/>
        <a:p>
          <a:pPr>
            <a:buNone/>
          </a:pPr>
          <a:r>
            <a:rPr lang="en-US" dirty="0"/>
            <a:t>Interventional study (Level II–III)</a:t>
          </a:r>
        </a:p>
      </dgm:t>
    </dgm:pt>
    <dgm:pt modelId="{48F8C808-5CE5-5747-B817-E6E992CB7F6D}" type="sibTrans" cxnId="{F207A072-488F-C74C-A927-2FBD5B3708C6}">
      <dgm:prSet/>
      <dgm:spPr/>
      <dgm:t>
        <a:bodyPr/>
        <a:lstStyle/>
        <a:p>
          <a:endParaRPr lang="en-US"/>
        </a:p>
      </dgm:t>
    </dgm:pt>
    <dgm:pt modelId="{563AF95D-AB36-3A44-9987-78FBFC6EAD71}" type="parTrans" cxnId="{F207A072-488F-C74C-A927-2FBD5B3708C6}">
      <dgm:prSet/>
      <dgm:spPr/>
      <dgm:t>
        <a:bodyPr/>
        <a:lstStyle/>
        <a:p>
          <a:endParaRPr lang="en-US"/>
        </a:p>
      </dgm:t>
    </dgm:pt>
    <dgm:pt modelId="{19F18E8B-92E4-CA41-82C3-D1066B467B7C}">
      <dgm:prSet/>
      <dgm:spPr/>
      <dgm:t>
        <a:bodyPr/>
        <a:lstStyle/>
        <a:p>
          <a:pPr>
            <a:buNone/>
          </a:pPr>
          <a:r>
            <a:rPr lang="en-US" dirty="0"/>
            <a:t>Quality: reduced cognitive workload with digital tool</a:t>
          </a:r>
        </a:p>
      </dgm:t>
    </dgm:pt>
    <dgm:pt modelId="{DAE0BD4C-C767-4346-92A7-4CA6C13AAB18}" type="parTrans" cxnId="{157C7519-B5D2-534E-9AA3-9CDF9C222BC6}">
      <dgm:prSet/>
      <dgm:spPr/>
      <dgm:t>
        <a:bodyPr/>
        <a:lstStyle/>
        <a:p>
          <a:endParaRPr lang="en-US"/>
        </a:p>
      </dgm:t>
    </dgm:pt>
    <dgm:pt modelId="{7CFC93A3-4643-E048-AA3B-30E196FAF207}" type="sibTrans" cxnId="{157C7519-B5D2-534E-9AA3-9CDF9C222BC6}">
      <dgm:prSet/>
      <dgm:spPr/>
      <dgm:t>
        <a:bodyPr/>
        <a:lstStyle/>
        <a:p>
          <a:endParaRPr lang="en-US"/>
        </a:p>
      </dgm:t>
    </dgm:pt>
    <dgm:pt modelId="{90F58B57-131A-B34E-9661-92EC599D10AA}">
      <dgm:prSet/>
      <dgm:spPr/>
      <dgm:t>
        <a:bodyPr/>
        <a:lstStyle/>
        <a:p>
          <a:pPr>
            <a:buNone/>
          </a:pPr>
          <a:r>
            <a:rPr lang="en-US" dirty="0"/>
            <a:t>Limitation: focused on documentation workflow</a:t>
          </a:r>
        </a:p>
      </dgm:t>
    </dgm:pt>
    <dgm:pt modelId="{C20AEF8D-3C1E-B042-8056-AB2A4C0E9BFA}" type="parTrans" cxnId="{E5773C17-AA2B-D141-BE3D-403F020DA3CA}">
      <dgm:prSet/>
      <dgm:spPr/>
      <dgm:t>
        <a:bodyPr/>
        <a:lstStyle/>
        <a:p>
          <a:endParaRPr lang="en-US"/>
        </a:p>
      </dgm:t>
    </dgm:pt>
    <dgm:pt modelId="{EC1BF12B-0FF5-6F49-AB87-916F1A419607}" type="sibTrans" cxnId="{E5773C17-AA2B-D141-BE3D-403F020DA3CA}">
      <dgm:prSet/>
      <dgm:spPr/>
      <dgm:t>
        <a:bodyPr/>
        <a:lstStyle/>
        <a:p>
          <a:endParaRPr lang="en-US"/>
        </a:p>
      </dgm:t>
    </dgm:pt>
    <dgm:pt modelId="{606C57F4-3CB5-9543-88AC-C6B77419AAF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Quality: large, multi-center study with strong outcomes</a:t>
          </a:r>
        </a:p>
      </dgm:t>
    </dgm:pt>
    <dgm:pt modelId="{448EAC7C-F8B6-324E-BF29-F9220101E4C9}" type="parTrans" cxnId="{9B62F058-274C-C440-AD34-4F7F00C0E669}">
      <dgm:prSet/>
      <dgm:spPr/>
      <dgm:t>
        <a:bodyPr/>
        <a:lstStyle/>
        <a:p>
          <a:endParaRPr lang="en-US"/>
        </a:p>
      </dgm:t>
    </dgm:pt>
    <dgm:pt modelId="{401AC381-02A4-7342-A243-6B537EA76CDC}" type="sibTrans" cxnId="{9B62F058-274C-C440-AD34-4F7F00C0E669}">
      <dgm:prSet/>
      <dgm:spPr/>
      <dgm:t>
        <a:bodyPr/>
        <a:lstStyle/>
        <a:p>
          <a:endParaRPr lang="en-US"/>
        </a:p>
      </dgm:t>
    </dgm:pt>
    <dgm:pt modelId="{C6AB9E2A-FC91-1241-9DF2-23A8DF83AA2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Limitation: broad surgical population</a:t>
          </a:r>
        </a:p>
      </dgm:t>
    </dgm:pt>
    <dgm:pt modelId="{364D5379-D7CD-744D-AB0E-E789AE24E658}" type="parTrans" cxnId="{8798F8B2-136B-F14D-925F-57AB08C30E57}">
      <dgm:prSet/>
      <dgm:spPr/>
      <dgm:t>
        <a:bodyPr/>
        <a:lstStyle/>
        <a:p>
          <a:endParaRPr lang="en-US"/>
        </a:p>
      </dgm:t>
    </dgm:pt>
    <dgm:pt modelId="{2E0470DB-A270-5E4A-BC24-D07CBCA211F3}" type="sibTrans" cxnId="{8798F8B2-136B-F14D-925F-57AB08C30E57}">
      <dgm:prSet/>
      <dgm:spPr/>
      <dgm:t>
        <a:bodyPr/>
        <a:lstStyle/>
        <a:p>
          <a:endParaRPr lang="en-US"/>
        </a:p>
      </dgm:t>
    </dgm:pt>
    <dgm:pt modelId="{0634EAFF-B446-B248-A88E-81D38F005F42}">
      <dgm:prSet phldrT="[Text]"/>
      <dgm:spPr/>
      <dgm:t>
        <a:bodyPr/>
        <a:lstStyle/>
        <a:p>
          <a:pPr>
            <a:buNone/>
          </a:pPr>
          <a:r>
            <a:rPr lang="en-US" dirty="0"/>
            <a:t>Quality: real-world clinical workflow analysis</a:t>
          </a:r>
        </a:p>
      </dgm:t>
    </dgm:pt>
    <dgm:pt modelId="{874730B8-D6B7-AC44-89F8-32C22480AB10}" type="parTrans" cxnId="{C5F384AD-B5FB-8640-A385-574F28D2119C}">
      <dgm:prSet/>
      <dgm:spPr/>
      <dgm:t>
        <a:bodyPr/>
        <a:lstStyle/>
        <a:p>
          <a:endParaRPr lang="en-US"/>
        </a:p>
      </dgm:t>
    </dgm:pt>
    <dgm:pt modelId="{47CECAFA-30E0-8F4F-9A87-C7281D9AE03D}" type="sibTrans" cxnId="{C5F384AD-B5FB-8640-A385-574F28D2119C}">
      <dgm:prSet/>
      <dgm:spPr/>
      <dgm:t>
        <a:bodyPr/>
        <a:lstStyle/>
        <a:p>
          <a:endParaRPr lang="en-US"/>
        </a:p>
      </dgm:t>
    </dgm:pt>
    <dgm:pt modelId="{46CFD81F-C178-FC4C-B6EA-C68751815A72}">
      <dgm:prSet phldrT="[Text]"/>
      <dgm:spPr/>
      <dgm:t>
        <a:bodyPr/>
        <a:lstStyle/>
        <a:p>
          <a:pPr>
            <a:buNone/>
          </a:pPr>
          <a:r>
            <a:rPr lang="en-US" dirty="0"/>
            <a:t>Limitation: cannot establish causation</a:t>
          </a:r>
        </a:p>
      </dgm:t>
    </dgm:pt>
    <dgm:pt modelId="{3E65F029-3563-B84B-AD83-361647796C65}" type="parTrans" cxnId="{99BF555B-9660-4C40-8747-7CF2BF5ED2C3}">
      <dgm:prSet/>
      <dgm:spPr/>
      <dgm:t>
        <a:bodyPr/>
        <a:lstStyle/>
        <a:p>
          <a:endParaRPr lang="en-US"/>
        </a:p>
      </dgm:t>
    </dgm:pt>
    <dgm:pt modelId="{48CFF65A-78C5-9548-A117-237F02D72806}" type="sibTrans" cxnId="{99BF555B-9660-4C40-8747-7CF2BF5ED2C3}">
      <dgm:prSet/>
      <dgm:spPr/>
      <dgm:t>
        <a:bodyPr/>
        <a:lstStyle/>
        <a:p>
          <a:endParaRPr lang="en-US"/>
        </a:p>
      </dgm:t>
    </dgm:pt>
    <dgm:pt modelId="{D1B30DEE-9F5D-4E4F-A13D-1AE873AECF83}" type="pres">
      <dgm:prSet presAssocID="{5FF6F324-E7C6-AA44-AA87-5CC53A556A4C}" presName="Name0" presStyleCnt="0">
        <dgm:presLayoutVars>
          <dgm:dir/>
          <dgm:animLvl val="lvl"/>
          <dgm:resizeHandles val="exact"/>
        </dgm:presLayoutVars>
      </dgm:prSet>
      <dgm:spPr/>
    </dgm:pt>
    <dgm:pt modelId="{7DD52FDB-D0F8-BE4E-A73E-309C98AA8F0B}" type="pres">
      <dgm:prSet presAssocID="{77BDE0CB-5B3E-B64B-AFFA-8858759DD025}" presName="composite" presStyleCnt="0"/>
      <dgm:spPr/>
    </dgm:pt>
    <dgm:pt modelId="{5C48C090-07AD-8146-8B22-9E96152A0A82}" type="pres">
      <dgm:prSet presAssocID="{77BDE0CB-5B3E-B64B-AFFA-8858759DD025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3C8947C8-DAC6-E34E-B757-A488F9CC2387}" type="pres">
      <dgm:prSet presAssocID="{77BDE0CB-5B3E-B64B-AFFA-8858759DD025}" presName="desTx" presStyleLbl="alignAccFollowNode1" presStyleIdx="0" presStyleCnt="5">
        <dgm:presLayoutVars>
          <dgm:bulletEnabled val="1"/>
        </dgm:presLayoutVars>
      </dgm:prSet>
      <dgm:spPr/>
    </dgm:pt>
    <dgm:pt modelId="{3706D683-2690-074B-8E0C-A58181F62CA8}" type="pres">
      <dgm:prSet presAssocID="{238A209B-767C-3144-AA80-EFA5CF8872C1}" presName="space" presStyleCnt="0"/>
      <dgm:spPr/>
    </dgm:pt>
    <dgm:pt modelId="{3C6E2BC8-AEB6-434B-97E6-4F9680F49654}" type="pres">
      <dgm:prSet presAssocID="{7C870503-800C-EE43-8B27-194F2EDD998F}" presName="composite" presStyleCnt="0"/>
      <dgm:spPr/>
    </dgm:pt>
    <dgm:pt modelId="{ACBBDAE5-3A84-084D-97EA-7254A8FDE598}" type="pres">
      <dgm:prSet presAssocID="{7C870503-800C-EE43-8B27-194F2EDD998F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27777861-DE3B-1B47-81CB-C31B4376EF8F}" type="pres">
      <dgm:prSet presAssocID="{7C870503-800C-EE43-8B27-194F2EDD998F}" presName="desTx" presStyleLbl="alignAccFollowNode1" presStyleIdx="1" presStyleCnt="5">
        <dgm:presLayoutVars>
          <dgm:bulletEnabled val="1"/>
        </dgm:presLayoutVars>
      </dgm:prSet>
      <dgm:spPr/>
    </dgm:pt>
    <dgm:pt modelId="{9B68A628-FEB3-7945-9233-31C186E1A31C}" type="pres">
      <dgm:prSet presAssocID="{C3A0BAEF-2CB1-834B-9718-875C59976CD6}" presName="space" presStyleCnt="0"/>
      <dgm:spPr/>
    </dgm:pt>
    <dgm:pt modelId="{51A370DE-1B09-3940-B4CE-1E0A131640BA}" type="pres">
      <dgm:prSet presAssocID="{29B2449D-39F5-8444-B08F-72EC5F124D2E}" presName="composite" presStyleCnt="0"/>
      <dgm:spPr/>
    </dgm:pt>
    <dgm:pt modelId="{72BC8249-FFF3-8844-A16E-5E4644FF1CD6}" type="pres">
      <dgm:prSet presAssocID="{29B2449D-39F5-8444-B08F-72EC5F124D2E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BEB35BFE-9492-E14F-AC34-31EC0750E572}" type="pres">
      <dgm:prSet presAssocID="{29B2449D-39F5-8444-B08F-72EC5F124D2E}" presName="desTx" presStyleLbl="alignAccFollowNode1" presStyleIdx="2" presStyleCnt="5">
        <dgm:presLayoutVars>
          <dgm:bulletEnabled val="1"/>
        </dgm:presLayoutVars>
      </dgm:prSet>
      <dgm:spPr/>
    </dgm:pt>
    <dgm:pt modelId="{C70AF2B0-07DC-7C49-9D91-E39B7341C6C8}" type="pres">
      <dgm:prSet presAssocID="{74D4EE9A-E1A9-0849-B107-30B723536764}" presName="space" presStyleCnt="0"/>
      <dgm:spPr/>
    </dgm:pt>
    <dgm:pt modelId="{D787AB4A-4185-9144-AB2B-E498F7CAB785}" type="pres">
      <dgm:prSet presAssocID="{BF8B596E-D3DE-FA40-AB65-A828251674A6}" presName="composite" presStyleCnt="0"/>
      <dgm:spPr/>
    </dgm:pt>
    <dgm:pt modelId="{F17BBF2E-5E62-4B48-88A1-29213EF414EC}" type="pres">
      <dgm:prSet presAssocID="{BF8B596E-D3DE-FA40-AB65-A828251674A6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AB52431B-9022-BD4F-A882-8D4428FCF54A}" type="pres">
      <dgm:prSet presAssocID="{BF8B596E-D3DE-FA40-AB65-A828251674A6}" presName="desTx" presStyleLbl="alignAccFollowNode1" presStyleIdx="3" presStyleCnt="5">
        <dgm:presLayoutVars>
          <dgm:bulletEnabled val="1"/>
        </dgm:presLayoutVars>
      </dgm:prSet>
      <dgm:spPr/>
    </dgm:pt>
    <dgm:pt modelId="{3C27F37F-BDDA-F348-BAEA-8B517FF7679A}" type="pres">
      <dgm:prSet presAssocID="{91BD70CC-4850-BE46-BFEA-01218DF9E05B}" presName="space" presStyleCnt="0"/>
      <dgm:spPr/>
    </dgm:pt>
    <dgm:pt modelId="{6C15FA0C-7181-CB4B-AAD9-AC83E266E37F}" type="pres">
      <dgm:prSet presAssocID="{C50DC12C-7B81-904A-830F-D6BC4BDCB5C9}" presName="composite" presStyleCnt="0"/>
      <dgm:spPr/>
    </dgm:pt>
    <dgm:pt modelId="{F7507F83-7610-C741-9C0F-8506F97F69A1}" type="pres">
      <dgm:prSet presAssocID="{C50DC12C-7B81-904A-830F-D6BC4BDCB5C9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09E40965-AD24-6F4F-B7F3-4C7757F632FE}" type="pres">
      <dgm:prSet presAssocID="{C50DC12C-7B81-904A-830F-D6BC4BDCB5C9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2A893F05-8083-4B45-9133-69444429DDBC}" type="presOf" srcId="{77BDE0CB-5B3E-B64B-AFFA-8858759DD025}" destId="{5C48C090-07AD-8146-8B22-9E96152A0A82}" srcOrd="0" destOrd="0" presId="urn:microsoft.com/office/officeart/2005/8/layout/hList1"/>
    <dgm:cxn modelId="{F79B9A0B-1F5B-CF4B-9CBC-16291B0B5B62}" srcId="{7C870503-800C-EE43-8B27-194F2EDD998F}" destId="{ACCB94D2-2F4D-9F42-B5E4-B19D2223BAA8}" srcOrd="0" destOrd="0" parTransId="{C1ECC389-E081-7341-90B5-80C4296448D8}" sibTransId="{A3A6427F-76F5-2542-93DE-9EC0F7D15650}"/>
    <dgm:cxn modelId="{E32ACB15-A67F-D749-A057-D36BF1E703C3}" srcId="{BF8B596E-D3DE-FA40-AB65-A828251674A6}" destId="{D1D9A1BD-E839-8F4E-9D73-EB253CED2FC2}" srcOrd="0" destOrd="0" parTransId="{97E451E9-5810-2841-8DFE-BB76748410C8}" sibTransId="{8FF6E9D0-421A-764D-8ECB-7D7CFE1304F0}"/>
    <dgm:cxn modelId="{9271C816-0DE6-FF4B-8375-5FDA04DE59C1}" srcId="{C50DC12C-7B81-904A-830F-D6BC4BDCB5C9}" destId="{2095236C-D9E7-E34A-9F07-AA85A69C971B}" srcOrd="0" destOrd="0" parTransId="{CF55E1AC-3CB1-104E-9BC0-F5D0FAB4E561}" sibTransId="{F2FF4450-C80A-4245-99FF-9308FD085FE9}"/>
    <dgm:cxn modelId="{E5773C17-AA2B-D141-BE3D-403F020DA3CA}" srcId="{29B2449D-39F5-8444-B08F-72EC5F124D2E}" destId="{90F58B57-131A-B34E-9661-92EC599D10AA}" srcOrd="2" destOrd="0" parTransId="{C20AEF8D-3C1E-B042-8056-AB2A4C0E9BFA}" sibTransId="{EC1BF12B-0FF5-6F49-AB87-916F1A419607}"/>
    <dgm:cxn modelId="{157C7519-B5D2-534E-9AA3-9CDF9C222BC6}" srcId="{29B2449D-39F5-8444-B08F-72EC5F124D2E}" destId="{19F18E8B-92E4-CA41-82C3-D1066B467B7C}" srcOrd="1" destOrd="0" parTransId="{DAE0BD4C-C767-4346-92A7-4CA6C13AAB18}" sibTransId="{7CFC93A3-4643-E048-AA3B-30E196FAF207}"/>
    <dgm:cxn modelId="{7CB4601E-F001-0F46-9C76-407E7AD4F7E0}" srcId="{5FF6F324-E7C6-AA44-AA87-5CC53A556A4C}" destId="{77BDE0CB-5B3E-B64B-AFFA-8858759DD025}" srcOrd="0" destOrd="0" parTransId="{321690B2-39A8-C741-9E60-6658A7EF2D54}" sibTransId="{238A209B-767C-3144-AA80-EFA5CF8872C1}"/>
    <dgm:cxn modelId="{7E343A1F-559A-414A-A76D-3F27B0A7D3C4}" srcId="{5FF6F324-E7C6-AA44-AA87-5CC53A556A4C}" destId="{C50DC12C-7B81-904A-830F-D6BC4BDCB5C9}" srcOrd="4" destOrd="0" parTransId="{64864FEA-D5CC-1741-9028-549A4C865E17}" sibTransId="{3496EF8B-EF2C-8642-BC7A-B306F0B51480}"/>
    <dgm:cxn modelId="{E0F04325-E912-284E-9F71-7862C2D39348}" type="presOf" srcId="{606C57F4-3CB5-9543-88AC-C6B77419AAFA}" destId="{AB52431B-9022-BD4F-A882-8D4428FCF54A}" srcOrd="0" destOrd="1" presId="urn:microsoft.com/office/officeart/2005/8/layout/hList1"/>
    <dgm:cxn modelId="{F292BB27-5278-8F4C-BF38-7DF1701E5508}" type="presOf" srcId="{5FF6F324-E7C6-AA44-AA87-5CC53A556A4C}" destId="{D1B30DEE-9F5D-4E4F-A13D-1AE873AECF83}" srcOrd="0" destOrd="0" presId="urn:microsoft.com/office/officeart/2005/8/layout/hList1"/>
    <dgm:cxn modelId="{7C815238-2E3D-934B-9C6F-D0A225E5147D}" srcId="{7C870503-800C-EE43-8B27-194F2EDD998F}" destId="{4FF4504D-AB78-4341-B198-07DF7F82A2F7}" srcOrd="2" destOrd="0" parTransId="{71F02F6C-B888-FC44-9462-CE5AF8985907}" sibTransId="{10984852-BC94-3946-8B98-3A61504B3A86}"/>
    <dgm:cxn modelId="{EF4CDE38-7DE7-9F4C-8703-278B11C2FEA6}" type="presOf" srcId="{BF8B596E-D3DE-FA40-AB65-A828251674A6}" destId="{F17BBF2E-5E62-4B48-88A1-29213EF414EC}" srcOrd="0" destOrd="0" presId="urn:microsoft.com/office/officeart/2005/8/layout/hList1"/>
    <dgm:cxn modelId="{4D4FF540-8B02-8844-8442-7E707B8F1B36}" type="presOf" srcId="{19F18E8B-92E4-CA41-82C3-D1066B467B7C}" destId="{BEB35BFE-9492-E14F-AC34-31EC0750E572}" srcOrd="0" destOrd="1" presId="urn:microsoft.com/office/officeart/2005/8/layout/hList1"/>
    <dgm:cxn modelId="{99BF555B-9660-4C40-8747-7CF2BF5ED2C3}" srcId="{C50DC12C-7B81-904A-830F-D6BC4BDCB5C9}" destId="{46CFD81F-C178-FC4C-B6EA-C68751815A72}" srcOrd="2" destOrd="0" parTransId="{3E65F029-3563-B84B-AD83-361647796C65}" sibTransId="{48CFF65A-78C5-9548-A117-237F02D72806}"/>
    <dgm:cxn modelId="{FE1B565C-D79A-AA46-AA98-D4D2E122F338}" srcId="{5FF6F324-E7C6-AA44-AA87-5CC53A556A4C}" destId="{7C870503-800C-EE43-8B27-194F2EDD998F}" srcOrd="1" destOrd="0" parTransId="{3D3AA2B8-4100-1848-996B-59FAF5DCB92A}" sibTransId="{C3A0BAEF-2CB1-834B-9718-875C59976CD6}"/>
    <dgm:cxn modelId="{A6261563-10B2-1240-9968-32E8E466EB22}" type="presOf" srcId="{90F58B57-131A-B34E-9661-92EC599D10AA}" destId="{BEB35BFE-9492-E14F-AC34-31EC0750E572}" srcOrd="0" destOrd="2" presId="urn:microsoft.com/office/officeart/2005/8/layout/hList1"/>
    <dgm:cxn modelId="{42938143-D0FA-1946-9950-30A5105E0A9A}" srcId="{77BDE0CB-5B3E-B64B-AFFA-8858759DD025}" destId="{BB924099-9113-BC41-9DE7-A4B9A1899EFF}" srcOrd="0" destOrd="0" parTransId="{CB4E4200-C4D4-A04A-8FF8-2FD1EE5BBC60}" sibTransId="{FED80A65-0513-3043-B67C-24B3004A419C}"/>
    <dgm:cxn modelId="{F207A072-488F-C74C-A927-2FBD5B3708C6}" srcId="{29B2449D-39F5-8444-B08F-72EC5F124D2E}" destId="{60277830-548B-3443-A147-ECA831CEE726}" srcOrd="0" destOrd="0" parTransId="{563AF95D-AB36-3A44-9987-78FBFC6EAD71}" sibTransId="{48F8C808-5CE5-5747-B817-E6E992CB7F6D}"/>
    <dgm:cxn modelId="{70354477-63EB-7F40-9AC0-F6595293B339}" type="presOf" srcId="{557F906A-9186-724D-806F-5DBDA2D43196}" destId="{3C8947C8-DAC6-E34E-B757-A488F9CC2387}" srcOrd="0" destOrd="2" presId="urn:microsoft.com/office/officeart/2005/8/layout/hList1"/>
    <dgm:cxn modelId="{245BBD77-04B0-164B-B084-CFBE5D8CD8CC}" type="presOf" srcId="{0868062A-A2C6-FD4C-A5D7-341B65C6C97F}" destId="{3C8947C8-DAC6-E34E-B757-A488F9CC2387}" srcOrd="0" destOrd="1" presId="urn:microsoft.com/office/officeart/2005/8/layout/hList1"/>
    <dgm:cxn modelId="{9B62F058-274C-C440-AD34-4F7F00C0E669}" srcId="{BF8B596E-D3DE-FA40-AB65-A828251674A6}" destId="{606C57F4-3CB5-9543-88AC-C6B77419AAFA}" srcOrd="1" destOrd="0" parTransId="{448EAC7C-F8B6-324E-BF29-F9220101E4C9}" sibTransId="{401AC381-02A4-7342-A243-6B537EA76CDC}"/>
    <dgm:cxn modelId="{F2C74979-3A31-8B41-A0B5-F459633DB12A}" srcId="{77BDE0CB-5B3E-B64B-AFFA-8858759DD025}" destId="{557F906A-9186-724D-806F-5DBDA2D43196}" srcOrd="2" destOrd="0" parTransId="{F2656756-46D0-474E-AB42-26AFF4CB837E}" sibTransId="{9B11EDB4-E5D6-454A-9F76-0DA2E90EEF74}"/>
    <dgm:cxn modelId="{031F257D-6AEE-3D40-B470-0B40B8D9C1CF}" type="presOf" srcId="{C6AB9E2A-FC91-1241-9DF2-23A8DF83AA2D}" destId="{AB52431B-9022-BD4F-A882-8D4428FCF54A}" srcOrd="0" destOrd="2" presId="urn:microsoft.com/office/officeart/2005/8/layout/hList1"/>
    <dgm:cxn modelId="{D631557F-3ACD-A842-ADB7-C688ECCAD962}" type="presOf" srcId="{46CFD81F-C178-FC4C-B6EA-C68751815A72}" destId="{09E40965-AD24-6F4F-B7F3-4C7757F632FE}" srcOrd="0" destOrd="2" presId="urn:microsoft.com/office/officeart/2005/8/layout/hList1"/>
    <dgm:cxn modelId="{AC7A987F-DA1C-F04C-885C-07DD8BA60938}" type="presOf" srcId="{D1D9A1BD-E839-8F4E-9D73-EB253CED2FC2}" destId="{AB52431B-9022-BD4F-A882-8D4428FCF54A}" srcOrd="0" destOrd="0" presId="urn:microsoft.com/office/officeart/2005/8/layout/hList1"/>
    <dgm:cxn modelId="{7390A288-FD6D-D24E-9141-922DD689853A}" type="presOf" srcId="{29B2449D-39F5-8444-B08F-72EC5F124D2E}" destId="{72BC8249-FFF3-8844-A16E-5E4644FF1CD6}" srcOrd="0" destOrd="0" presId="urn:microsoft.com/office/officeart/2005/8/layout/hList1"/>
    <dgm:cxn modelId="{1E17C694-3F53-8C4F-9753-A74BCCA0AAA6}" type="presOf" srcId="{7C870503-800C-EE43-8B27-194F2EDD998F}" destId="{ACBBDAE5-3A84-084D-97EA-7254A8FDE598}" srcOrd="0" destOrd="0" presId="urn:microsoft.com/office/officeart/2005/8/layout/hList1"/>
    <dgm:cxn modelId="{AD1E1096-9412-3D45-A82C-C0D4F50DE1A9}" type="presOf" srcId="{C50DC12C-7B81-904A-830F-D6BC4BDCB5C9}" destId="{F7507F83-7610-C741-9C0F-8506F97F69A1}" srcOrd="0" destOrd="0" presId="urn:microsoft.com/office/officeart/2005/8/layout/hList1"/>
    <dgm:cxn modelId="{5174209D-189D-3142-A655-6D3EF3BFE70F}" type="presOf" srcId="{ACCB94D2-2F4D-9F42-B5E4-B19D2223BAA8}" destId="{27777861-DE3B-1B47-81CB-C31B4376EF8F}" srcOrd="0" destOrd="0" presId="urn:microsoft.com/office/officeart/2005/8/layout/hList1"/>
    <dgm:cxn modelId="{8441E99F-17EE-B941-B652-C13CF80B6914}" type="presOf" srcId="{0634EAFF-B446-B248-A88E-81D38F005F42}" destId="{09E40965-AD24-6F4F-B7F3-4C7757F632FE}" srcOrd="0" destOrd="1" presId="urn:microsoft.com/office/officeart/2005/8/layout/hList1"/>
    <dgm:cxn modelId="{172A17A4-F04F-F34F-9E29-4CCAB814A821}" type="presOf" srcId="{2095236C-D9E7-E34A-9F07-AA85A69C971B}" destId="{09E40965-AD24-6F4F-B7F3-4C7757F632FE}" srcOrd="0" destOrd="0" presId="urn:microsoft.com/office/officeart/2005/8/layout/hList1"/>
    <dgm:cxn modelId="{82ACCAAA-04F6-5441-A26F-4E2A18B8F96B}" srcId="{5FF6F324-E7C6-AA44-AA87-5CC53A556A4C}" destId="{29B2449D-39F5-8444-B08F-72EC5F124D2E}" srcOrd="2" destOrd="0" parTransId="{305B51E9-9FA4-5348-A1FA-8130AB3317A8}" sibTransId="{74D4EE9A-E1A9-0849-B107-30B723536764}"/>
    <dgm:cxn modelId="{C5F384AD-B5FB-8640-A385-574F28D2119C}" srcId="{C50DC12C-7B81-904A-830F-D6BC4BDCB5C9}" destId="{0634EAFF-B446-B248-A88E-81D38F005F42}" srcOrd="1" destOrd="0" parTransId="{874730B8-D6B7-AC44-89F8-32C22480AB10}" sibTransId="{47CECAFA-30E0-8F4F-9A87-C7281D9AE03D}"/>
    <dgm:cxn modelId="{8798F8B2-136B-F14D-925F-57AB08C30E57}" srcId="{BF8B596E-D3DE-FA40-AB65-A828251674A6}" destId="{C6AB9E2A-FC91-1241-9DF2-23A8DF83AA2D}" srcOrd="2" destOrd="0" parTransId="{364D5379-D7CD-744D-AB0E-E789AE24E658}" sibTransId="{2E0470DB-A270-5E4A-BC24-D07CBCA211F3}"/>
    <dgm:cxn modelId="{371C56B4-3B52-9F4B-9052-FE84BDC3C35D}" srcId="{77BDE0CB-5B3E-B64B-AFFA-8858759DD025}" destId="{0868062A-A2C6-FD4C-A5D7-341B65C6C97F}" srcOrd="1" destOrd="0" parTransId="{9CFC36E2-95A0-4945-8A24-177A40EF7791}" sibTransId="{6DD7AB8B-A5BE-7246-8D56-DDE0ABFDA331}"/>
    <dgm:cxn modelId="{EE1C5DBE-5FDF-C64B-8B0F-FDB302B14D15}" type="presOf" srcId="{60277830-548B-3443-A147-ECA831CEE726}" destId="{BEB35BFE-9492-E14F-AC34-31EC0750E572}" srcOrd="0" destOrd="0" presId="urn:microsoft.com/office/officeart/2005/8/layout/hList1"/>
    <dgm:cxn modelId="{1D61CECD-0096-664F-A184-20A6C1B1B381}" srcId="{5FF6F324-E7C6-AA44-AA87-5CC53A556A4C}" destId="{BF8B596E-D3DE-FA40-AB65-A828251674A6}" srcOrd="3" destOrd="0" parTransId="{E2C4F28C-B1E8-3E41-9FE8-3FEA177D52A3}" sibTransId="{91BD70CC-4850-BE46-BFEA-01218DF9E05B}"/>
    <dgm:cxn modelId="{9C7ED5D0-058C-CA47-9E52-7C3E152434A3}" srcId="{7C870503-800C-EE43-8B27-194F2EDD998F}" destId="{75175904-1A99-C547-B93B-58B7BB0ADAB5}" srcOrd="1" destOrd="0" parTransId="{630B1C18-43C6-474B-A012-D6FC59C017DB}" sibTransId="{4A1A8F75-061C-6247-B2AA-1131D1BC3034}"/>
    <dgm:cxn modelId="{FDAF19E4-0AB9-3B4F-BA3E-0C24E988C767}" type="presOf" srcId="{75175904-1A99-C547-B93B-58B7BB0ADAB5}" destId="{27777861-DE3B-1B47-81CB-C31B4376EF8F}" srcOrd="0" destOrd="1" presId="urn:microsoft.com/office/officeart/2005/8/layout/hList1"/>
    <dgm:cxn modelId="{7FC1B4E9-098A-B04D-BBB8-155D3C3DC91E}" type="presOf" srcId="{BB924099-9113-BC41-9DE7-A4B9A1899EFF}" destId="{3C8947C8-DAC6-E34E-B757-A488F9CC2387}" srcOrd="0" destOrd="0" presId="urn:microsoft.com/office/officeart/2005/8/layout/hList1"/>
    <dgm:cxn modelId="{7D2711EE-99A7-2F45-945D-9789381810B8}" type="presOf" srcId="{4FF4504D-AB78-4341-B198-07DF7F82A2F7}" destId="{27777861-DE3B-1B47-81CB-C31B4376EF8F}" srcOrd="0" destOrd="2" presId="urn:microsoft.com/office/officeart/2005/8/layout/hList1"/>
    <dgm:cxn modelId="{DE8FB712-784B-4C43-9D69-74EE7BAC496A}" type="presParOf" srcId="{D1B30DEE-9F5D-4E4F-A13D-1AE873AECF83}" destId="{7DD52FDB-D0F8-BE4E-A73E-309C98AA8F0B}" srcOrd="0" destOrd="0" presId="urn:microsoft.com/office/officeart/2005/8/layout/hList1"/>
    <dgm:cxn modelId="{4DCD38B3-EFEB-9544-9F65-05216A9A8048}" type="presParOf" srcId="{7DD52FDB-D0F8-BE4E-A73E-309C98AA8F0B}" destId="{5C48C090-07AD-8146-8B22-9E96152A0A82}" srcOrd="0" destOrd="0" presId="urn:microsoft.com/office/officeart/2005/8/layout/hList1"/>
    <dgm:cxn modelId="{09CC169E-A345-4A48-8069-E5239CF63229}" type="presParOf" srcId="{7DD52FDB-D0F8-BE4E-A73E-309C98AA8F0B}" destId="{3C8947C8-DAC6-E34E-B757-A488F9CC2387}" srcOrd="1" destOrd="0" presId="urn:microsoft.com/office/officeart/2005/8/layout/hList1"/>
    <dgm:cxn modelId="{1D60BE25-ED6E-CB4C-89AA-8A387E3DA2A0}" type="presParOf" srcId="{D1B30DEE-9F5D-4E4F-A13D-1AE873AECF83}" destId="{3706D683-2690-074B-8E0C-A58181F62CA8}" srcOrd="1" destOrd="0" presId="urn:microsoft.com/office/officeart/2005/8/layout/hList1"/>
    <dgm:cxn modelId="{3B951B95-A4F3-2144-B14E-B75114BC69A5}" type="presParOf" srcId="{D1B30DEE-9F5D-4E4F-A13D-1AE873AECF83}" destId="{3C6E2BC8-AEB6-434B-97E6-4F9680F49654}" srcOrd="2" destOrd="0" presId="urn:microsoft.com/office/officeart/2005/8/layout/hList1"/>
    <dgm:cxn modelId="{E8E9ED41-38CC-9546-9E4B-F400C4AADB1B}" type="presParOf" srcId="{3C6E2BC8-AEB6-434B-97E6-4F9680F49654}" destId="{ACBBDAE5-3A84-084D-97EA-7254A8FDE598}" srcOrd="0" destOrd="0" presId="urn:microsoft.com/office/officeart/2005/8/layout/hList1"/>
    <dgm:cxn modelId="{C4DD9329-2F8D-0B4F-A550-1E3E7AB49D65}" type="presParOf" srcId="{3C6E2BC8-AEB6-434B-97E6-4F9680F49654}" destId="{27777861-DE3B-1B47-81CB-C31B4376EF8F}" srcOrd="1" destOrd="0" presId="urn:microsoft.com/office/officeart/2005/8/layout/hList1"/>
    <dgm:cxn modelId="{B42F2463-1268-0840-A17D-73F98A0ADF13}" type="presParOf" srcId="{D1B30DEE-9F5D-4E4F-A13D-1AE873AECF83}" destId="{9B68A628-FEB3-7945-9233-31C186E1A31C}" srcOrd="3" destOrd="0" presId="urn:microsoft.com/office/officeart/2005/8/layout/hList1"/>
    <dgm:cxn modelId="{CDFF51E8-2ECD-9649-9C8B-F2AD1FFA48B1}" type="presParOf" srcId="{D1B30DEE-9F5D-4E4F-A13D-1AE873AECF83}" destId="{51A370DE-1B09-3940-B4CE-1E0A131640BA}" srcOrd="4" destOrd="0" presId="urn:microsoft.com/office/officeart/2005/8/layout/hList1"/>
    <dgm:cxn modelId="{5FF743BD-A2EF-404B-94D1-C859BC31F0C3}" type="presParOf" srcId="{51A370DE-1B09-3940-B4CE-1E0A131640BA}" destId="{72BC8249-FFF3-8844-A16E-5E4644FF1CD6}" srcOrd="0" destOrd="0" presId="urn:microsoft.com/office/officeart/2005/8/layout/hList1"/>
    <dgm:cxn modelId="{C20B0215-8E7E-F348-8DCB-C1068C9CC60E}" type="presParOf" srcId="{51A370DE-1B09-3940-B4CE-1E0A131640BA}" destId="{BEB35BFE-9492-E14F-AC34-31EC0750E572}" srcOrd="1" destOrd="0" presId="urn:microsoft.com/office/officeart/2005/8/layout/hList1"/>
    <dgm:cxn modelId="{5FA270F2-B9E5-034E-A0A4-762BB6F89C2C}" type="presParOf" srcId="{D1B30DEE-9F5D-4E4F-A13D-1AE873AECF83}" destId="{C70AF2B0-07DC-7C49-9D91-E39B7341C6C8}" srcOrd="5" destOrd="0" presId="urn:microsoft.com/office/officeart/2005/8/layout/hList1"/>
    <dgm:cxn modelId="{750BCDCF-0F15-F245-B3B6-E0E48E7D039F}" type="presParOf" srcId="{D1B30DEE-9F5D-4E4F-A13D-1AE873AECF83}" destId="{D787AB4A-4185-9144-AB2B-E498F7CAB785}" srcOrd="6" destOrd="0" presId="urn:microsoft.com/office/officeart/2005/8/layout/hList1"/>
    <dgm:cxn modelId="{904D6B05-1DE1-5548-A50E-485262499C88}" type="presParOf" srcId="{D787AB4A-4185-9144-AB2B-E498F7CAB785}" destId="{F17BBF2E-5E62-4B48-88A1-29213EF414EC}" srcOrd="0" destOrd="0" presId="urn:microsoft.com/office/officeart/2005/8/layout/hList1"/>
    <dgm:cxn modelId="{8DAF4B4B-C191-9A46-86D9-3795881D5F95}" type="presParOf" srcId="{D787AB4A-4185-9144-AB2B-E498F7CAB785}" destId="{AB52431B-9022-BD4F-A882-8D4428FCF54A}" srcOrd="1" destOrd="0" presId="urn:microsoft.com/office/officeart/2005/8/layout/hList1"/>
    <dgm:cxn modelId="{A2CD91E4-E5E3-CD47-8B06-31CEA25D4671}" type="presParOf" srcId="{D1B30DEE-9F5D-4E4F-A13D-1AE873AECF83}" destId="{3C27F37F-BDDA-F348-BAEA-8B517FF7679A}" srcOrd="7" destOrd="0" presId="urn:microsoft.com/office/officeart/2005/8/layout/hList1"/>
    <dgm:cxn modelId="{86AA7006-B179-F54E-8611-7BE3B8B1D445}" type="presParOf" srcId="{D1B30DEE-9F5D-4E4F-A13D-1AE873AECF83}" destId="{6C15FA0C-7181-CB4B-AAD9-AC83E266E37F}" srcOrd="8" destOrd="0" presId="urn:microsoft.com/office/officeart/2005/8/layout/hList1"/>
    <dgm:cxn modelId="{FE3E1256-4BC7-784C-B003-1B58449D05C3}" type="presParOf" srcId="{6C15FA0C-7181-CB4B-AAD9-AC83E266E37F}" destId="{F7507F83-7610-C741-9C0F-8506F97F69A1}" srcOrd="0" destOrd="0" presId="urn:microsoft.com/office/officeart/2005/8/layout/hList1"/>
    <dgm:cxn modelId="{A2CA6802-6EBD-0D47-B8FB-88F30D866912}" type="presParOf" srcId="{6C15FA0C-7181-CB4B-AAD9-AC83E266E37F}" destId="{09E40965-AD24-6F4F-B7F3-4C7757F632F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8C090-07AD-8146-8B22-9E96152A0A82}">
      <dsp:nvSpPr>
        <dsp:cNvPr id="0" name=""/>
        <dsp:cNvSpPr/>
      </dsp:nvSpPr>
      <dsp:spPr>
        <a:xfrm>
          <a:off x="5231" y="789778"/>
          <a:ext cx="2005535" cy="547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Said et al., 2020</a:t>
          </a:r>
          <a:endParaRPr lang="en-US" sz="1500" kern="1200" dirty="0"/>
        </a:p>
      </dsp:txBody>
      <dsp:txXfrm>
        <a:off x="5231" y="789778"/>
        <a:ext cx="2005535" cy="547691"/>
      </dsp:txXfrm>
    </dsp:sp>
    <dsp:sp modelId="{3C8947C8-DAC6-E34E-B757-A488F9CC2387}">
      <dsp:nvSpPr>
        <dsp:cNvPr id="0" name=""/>
        <dsp:cNvSpPr/>
      </dsp:nvSpPr>
      <dsp:spPr>
        <a:xfrm>
          <a:off x="5231" y="1337469"/>
          <a:ext cx="2005535" cy="1976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Validation study (Level IV)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Quality: validated NASA-TLX in healthcare setting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Limitation: controlled/simulated tasks</a:t>
          </a:r>
        </a:p>
      </dsp:txBody>
      <dsp:txXfrm>
        <a:off x="5231" y="1337469"/>
        <a:ext cx="2005535" cy="1976400"/>
      </dsp:txXfrm>
    </dsp:sp>
    <dsp:sp modelId="{ACBBDAE5-3A84-084D-97EA-7254A8FDE598}">
      <dsp:nvSpPr>
        <dsp:cNvPr id="0" name=""/>
        <dsp:cNvSpPr/>
      </dsp:nvSpPr>
      <dsp:spPr>
        <a:xfrm>
          <a:off x="2291542" y="789778"/>
          <a:ext cx="2005535" cy="547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Richardson et al., 2019</a:t>
          </a:r>
          <a:endParaRPr lang="en-US" sz="1500" kern="1200" dirty="0"/>
        </a:p>
      </dsp:txBody>
      <dsp:txXfrm>
        <a:off x="2291542" y="789778"/>
        <a:ext cx="2005535" cy="547691"/>
      </dsp:txXfrm>
    </dsp:sp>
    <dsp:sp modelId="{27777861-DE3B-1B47-81CB-C31B4376EF8F}">
      <dsp:nvSpPr>
        <dsp:cNvPr id="0" name=""/>
        <dsp:cNvSpPr/>
      </dsp:nvSpPr>
      <dsp:spPr>
        <a:xfrm>
          <a:off x="2291542" y="1337469"/>
          <a:ext cx="2005535" cy="1976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Quasi-experimental study (Level II)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Quality: improved adherence and reduced workload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Limitation: not perfusion-specific</a:t>
          </a:r>
        </a:p>
      </dsp:txBody>
      <dsp:txXfrm>
        <a:off x="2291542" y="1337469"/>
        <a:ext cx="2005535" cy="1976400"/>
      </dsp:txXfrm>
    </dsp:sp>
    <dsp:sp modelId="{72BC8249-FFF3-8844-A16E-5E4644FF1CD6}">
      <dsp:nvSpPr>
        <dsp:cNvPr id="0" name=""/>
        <dsp:cNvSpPr/>
      </dsp:nvSpPr>
      <dsp:spPr>
        <a:xfrm>
          <a:off x="4577852" y="789778"/>
          <a:ext cx="2005535" cy="547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Hudson et al.,</a:t>
          </a:r>
          <a:endParaRPr lang="en-US" sz="1500" kern="1200" dirty="0"/>
        </a:p>
      </dsp:txBody>
      <dsp:txXfrm>
        <a:off x="4577852" y="789778"/>
        <a:ext cx="2005535" cy="547691"/>
      </dsp:txXfrm>
    </dsp:sp>
    <dsp:sp modelId="{BEB35BFE-9492-E14F-AC34-31EC0750E572}">
      <dsp:nvSpPr>
        <dsp:cNvPr id="0" name=""/>
        <dsp:cNvSpPr/>
      </dsp:nvSpPr>
      <dsp:spPr>
        <a:xfrm>
          <a:off x="4577852" y="1337469"/>
          <a:ext cx="2005535" cy="1976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Interventional study (Level II–III)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Quality: reduced cognitive workload with digital tool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Limitation: focused on documentation workflow</a:t>
          </a:r>
        </a:p>
      </dsp:txBody>
      <dsp:txXfrm>
        <a:off x="4577852" y="1337469"/>
        <a:ext cx="2005535" cy="1976400"/>
      </dsp:txXfrm>
    </dsp:sp>
    <dsp:sp modelId="{F17BBF2E-5E62-4B48-88A1-29213EF414EC}">
      <dsp:nvSpPr>
        <dsp:cNvPr id="0" name=""/>
        <dsp:cNvSpPr/>
      </dsp:nvSpPr>
      <dsp:spPr>
        <a:xfrm>
          <a:off x="6864163" y="789778"/>
          <a:ext cx="2005535" cy="547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Haynes et al., 2009</a:t>
          </a:r>
        </a:p>
      </dsp:txBody>
      <dsp:txXfrm>
        <a:off x="6864163" y="789778"/>
        <a:ext cx="2005535" cy="547691"/>
      </dsp:txXfrm>
    </dsp:sp>
    <dsp:sp modelId="{AB52431B-9022-BD4F-A882-8D4428FCF54A}">
      <dsp:nvSpPr>
        <dsp:cNvPr id="0" name=""/>
        <dsp:cNvSpPr/>
      </dsp:nvSpPr>
      <dsp:spPr>
        <a:xfrm>
          <a:off x="6864163" y="1337469"/>
          <a:ext cx="2005535" cy="1976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Interventional study (Level II)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Quality: large, multi-center study with strong outcomes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Limitation: broad surgical population</a:t>
          </a:r>
        </a:p>
      </dsp:txBody>
      <dsp:txXfrm>
        <a:off x="6864163" y="1337469"/>
        <a:ext cx="2005535" cy="1976400"/>
      </dsp:txXfrm>
    </dsp:sp>
    <dsp:sp modelId="{F7507F83-7610-C741-9C0F-8506F97F69A1}">
      <dsp:nvSpPr>
        <dsp:cNvPr id="0" name=""/>
        <dsp:cNvSpPr/>
      </dsp:nvSpPr>
      <dsp:spPr>
        <a:xfrm>
          <a:off x="9150473" y="789778"/>
          <a:ext cx="2005535" cy="547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Weigl et al., 2016</a:t>
          </a:r>
        </a:p>
      </dsp:txBody>
      <dsp:txXfrm>
        <a:off x="9150473" y="789778"/>
        <a:ext cx="2005535" cy="547691"/>
      </dsp:txXfrm>
    </dsp:sp>
    <dsp:sp modelId="{09E40965-AD24-6F4F-B7F3-4C7757F632FE}">
      <dsp:nvSpPr>
        <dsp:cNvPr id="0" name=""/>
        <dsp:cNvSpPr/>
      </dsp:nvSpPr>
      <dsp:spPr>
        <a:xfrm>
          <a:off x="9150473" y="1337469"/>
          <a:ext cx="2005535" cy="1976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Observational study (Level III)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Quality: real-world clinical workflow analysis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Limitation: cannot establish causation</a:t>
          </a:r>
        </a:p>
      </dsp:txBody>
      <dsp:txXfrm>
        <a:off x="9150473" y="1337469"/>
        <a:ext cx="2005535" cy="19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7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7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3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48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21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7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0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3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57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11D07-6CE9-43A1-BBBA-73BBCC4E63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881F0-B210-444A-A6C4-FF67520A4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9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1056/NEJMsa0810119" TargetMode="External"/><Relationship Id="rId3" Type="http://schemas.openxmlformats.org/officeDocument/2006/relationships/hyperlink" Target="https://doi.org/10.1016/j.mcpdig.2024.100193" TargetMode="External"/><Relationship Id="rId4" Type="http://schemas.openxmlformats.org/officeDocument/2006/relationships/hyperlink" Target="https://doi.org/10.1016/j.acap.2019.03.001" TargetMode="External"/><Relationship Id="rId5" Type="http://schemas.openxmlformats.org/officeDocument/2006/relationships/hyperlink" Target="https://doi.org/10.2196/19472" TargetMode="External"/><Relationship Id="rId6" Type="http://schemas.openxmlformats.org/officeDocument/2006/relationships/hyperlink" Target="https://doi.org/10.1136/bmjqs-2011-000188" TargetMode="External"/><Relationship Id="rId7" Type="http://schemas.openxmlformats.org/officeDocument/2006/relationships/image" Target="../media/image1.jpe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diagramData" Target="../diagrams/data1.xml"/><Relationship Id="rId14" Type="http://schemas.openxmlformats.org/officeDocument/2006/relationships/diagramLayout" Target="../diagrams/layout1.xml"/><Relationship Id="rId15" Type="http://schemas.openxmlformats.org/officeDocument/2006/relationships/diagramQuickStyle" Target="../diagrams/quickStyle1.xml"/><Relationship Id="rId16" Type="http://schemas.openxmlformats.org/officeDocument/2006/relationships/diagramColors" Target="../diagrams/colors1.xml"/><Relationship Id="rId17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9399" y="95615"/>
            <a:ext cx="19253201" cy="3352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" y="0"/>
            <a:ext cx="19253202" cy="3962400"/>
          </a:xfrm>
          <a:solidFill>
            <a:srgbClr val="002060"/>
          </a:solidFill>
        </p:spPr>
        <p:txBody>
          <a:bodyPr anchor="ctr" wrap="square">
            <a:noAutofit/>
          </a:bodyPr>
          <a:lstStyle/>
          <a:p>
            <a:r>
              <a:rPr sz="3800" b="1">
                <a:solidFill>
                  <a:srgbClr val="FFFFFF"/>
                </a:solidFill>
                <a:latin typeface="Arial"/>
              </a:rPr>
              <a:t>Development and Evaluation of a Web-Based CPB Perfusion Tool for Education and Simulation</a:t>
            </a:r>
          </a:p>
          <a:p/>
          <a:p>
            <a:r>
              <a:rPr sz="3800" b="1">
                <a:solidFill>
                  <a:srgbClr val="FFFFFF"/>
                </a:solidFill>
                <a:latin typeface="Arial"/>
              </a:rPr>
              <a:t>Sydney Lias</a:t>
            </a:r>
          </a:p>
          <a:p>
            <a:r>
              <a:rPr sz="3800" b="1">
                <a:solidFill>
                  <a:srgbClr val="FFFFFF"/>
                </a:solidFill>
                <a:latin typeface="Arial"/>
              </a:rPr>
              <a:t>Emory University - CVP 587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958" y="4295465"/>
            <a:ext cx="9652000" cy="489364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/>
          <a:p>
            <a:r>
              <a:rPr sz="2000">
                <a:solidFill>
                  <a:srgbClr val="000000"/>
                </a:solidFill>
                <a:latin typeface="Arial"/>
              </a:rPr>
              <a:t>Clinical Problem</a:t>
            </a:r>
          </a:p>
          <a:p>
            <a:r>
              <a:rPr sz="2000">
                <a:solidFill>
                  <a:srgbClr val="000000"/>
                </a:solidFill>
                <a:latin typeface="Arial"/>
              </a:rPr>
              <a:t>Cardiopulmonary bypass requires rapid patient-specific calculations while perfusionists monitor circuit function, oxygen delivery, hemodilution, anticoagulation, and team workflow.</a:t>
            </a:r>
          </a:p>
          <a:p/>
          <a:p>
            <a:r>
              <a:rPr sz="2000">
                <a:solidFill>
                  <a:srgbClr val="000000"/>
                </a:solidFill>
                <a:latin typeface="Arial"/>
              </a:rPr>
              <a:t>Opportunity</a:t>
            </a:r>
          </a:p>
          <a:p>
            <a:r>
              <a:rPr sz="2000">
                <a:solidFill>
                  <a:srgbClr val="000000"/>
                </a:solidFill>
                <a:latin typeface="Arial"/>
              </a:rPr>
              <a:t>Perfusion students often rely on manual or separate calculators during simulation, which can increase cognitive workload and interrupt learning flow.</a:t>
            </a:r>
          </a:p>
          <a:p/>
          <a:p>
            <a:r>
              <a:rPr sz="2000">
                <a:solidFill>
                  <a:srgbClr val="000000"/>
                </a:solidFill>
                <a:latin typeface="Arial"/>
              </a:rPr>
              <a:t>Goal</a:t>
            </a:r>
          </a:p>
          <a:p>
            <a:r>
              <a:rPr sz="2000">
                <a:solidFill>
                  <a:srgbClr val="000000"/>
                </a:solidFill>
                <a:latin typeface="Arial"/>
              </a:rPr>
              <a:t>Develop a mobile-friendly web-based CPB Perfusion Tool that integrates perfusion, prime planning, and anticoagulation support into one educational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112" y="4164782"/>
            <a:ext cx="965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Clinical Problem /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112" y="8858130"/>
            <a:ext cx="965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Introduction &amp;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13600" y="11703274"/>
            <a:ext cx="965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Synthesis of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1530" y="4364541"/>
            <a:ext cx="965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48068" y="10150000"/>
            <a:ext cx="965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Selected References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399" y="3679406"/>
            <a:ext cx="10223501" cy="1734580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078113" y="11100000"/>
            <a:ext cx="9741727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880">
                <a:solidFill>
                  <a:srgbClr val="000000"/>
                </a:solidFill>
                <a:latin typeface="Arial"/>
              </a:rPr>
              <a:t>American Society of ExtraCorporeal Technology. (2023). AmSECT standards and guidelines for perfusion practice.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Babar, Z. U. D., Max, S. A., Martina, B. G., Rosalia, R. A., Peek, J. J., van Dijk, A., Sadeghi, A. H., &amp; Mahtab, E. A. F. (2023). Virtual reality simulation as a training tool for perfusionists in extracorporeal circulation. JTCVS Techniques, 21, 135-148. https://doi.org/10.1016/j.xjtc.2023.06.004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Gao, P., Liu, J., Zhang, P., Bai, L., Jin, Y., &amp; Li, Y. (2023). Goal-directed perfusion for reducing acute kidney injury in cardiac surgery: A systematic review and meta-analysis. Perfusion, 38(3), 591-599. https://doi.org/10.1177/02676591211073783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Hyzy, M., Bond, R., Mulvenna, M., Bai, L., Dix, A., Leigh, S., &amp; Hunt, S. (2022). System Usability Scale benchmarking for digital health apps. JMIR mHealth and uHealth, 10(8), e37290. https://doi.org/10.2196/37290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Mukaida, H., Matsushita, S., Yamamoto, T., Minami, Y., Sato, G., Asai, T., &amp; Amano, A. (2023). Oxygen delivery-guided perfusion for the prevention of acute kidney injury. The Journal of Thoracic and Cardiovascular Surgery, 165(2), 750-760.e5. https://doi.org/10.1016/j.jtcvs.2021.03.032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Ranucci, M., Johnson, I., Willcox, T., et al. (2018). Goal-directed perfusion to reduce acute kidney injury. The Journal of Thoracic and Cardiovascular Surgery, 156(5), 1918-1927.e2. https://doi.org/10.1016/j.jtcvs.2018.04.045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Said, S., Gozdzik, M., Roche, T. R., Braun, J., Rossler, J., Kaserer, A., Spahn, D. R., Nothiger, C. B., &amp; Tscholl, D. W. (2020). Validation of the Raw NASA-TLX questionnaire. Journal of Medical Internet Research, 22(9), e19472. https://doi.org/10.2196/19472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Searles, B. E., Riley, J. B., Darling, E. M., &amp; Wiles, J. R. (2024). Simulated cardiopulmonary bypass. Advances in Simulation, 9, Article 1. https://doi.org/10.1186/s41077-023-00269-w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Shore-Lesserson, L., Baker, R. A., Ferraris, V. A., et al. (2018). Clinical practice guidelines: Anticoagulation during cardiopulmonary bypass. The Annals of Thoracic Surgery, 105(2), 650-662. https://doi.org/10.1016/j.athoracsur.2017.09.061</a:t>
            </a:r>
          </a:p>
          <a:p/>
          <a:p>
            <a:r>
              <a:rPr sz="880">
                <a:solidFill>
                  <a:srgbClr val="000000"/>
                </a:solidFill>
                <a:latin typeface="Arial"/>
              </a:rPr>
              <a:t>Tibi, P., McClure, R. S., Huang, J., et al. (2021). STS/SCA/AmSECT/SABM update to the clinical practice guidelines on patient blood management. The Annals of Thoracic Surgery, 112(3), 981-1004. https://doi.org/10.1016/j.athoracsur.2021.03.033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0207" y="3713041"/>
            <a:ext cx="11337861" cy="17297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1899222" y="3727815"/>
            <a:ext cx="10617200" cy="17297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A5EEDF-92AB-48CE-B3FF-5478FC4DDBD3}"/>
              </a:ext>
            </a:extLst>
          </p:cNvPr>
          <p:cNvSpPr txBox="1"/>
          <p:nvPr/>
        </p:nvSpPr>
        <p:spPr>
          <a:xfrm>
            <a:off x="351031" y="14703414"/>
            <a:ext cx="965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PICOT / Research Question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10B9F6-9B4B-4CE0-9862-40D1CFEB210C}"/>
              </a:ext>
            </a:extLst>
          </p:cNvPr>
          <p:cNvSpPr txBox="1"/>
          <p:nvPr/>
        </p:nvSpPr>
        <p:spPr>
          <a:xfrm>
            <a:off x="11464507" y="16426897"/>
            <a:ext cx="965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Appraisal of Literature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2A23EE-C06F-4CED-9E0F-6888EDDC6A99}"/>
              </a:ext>
            </a:extLst>
          </p:cNvPr>
          <p:cNvSpPr txBox="1"/>
          <p:nvPr/>
        </p:nvSpPr>
        <p:spPr>
          <a:xfrm>
            <a:off x="11385976" y="4164782"/>
            <a:ext cx="965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Project Design / Methods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3F511C-6F6C-4158-89B8-DBB6549B9ADE}"/>
              </a:ext>
            </a:extLst>
          </p:cNvPr>
          <p:cNvSpPr/>
          <p:nvPr/>
        </p:nvSpPr>
        <p:spPr>
          <a:xfrm>
            <a:off x="19532600" y="0"/>
            <a:ext cx="12517285" cy="39624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13FEB-A115-F4C5-064B-A29F457D693F}"/>
              </a:ext>
            </a:extLst>
          </p:cNvPr>
          <p:cNvSpPr txBox="1"/>
          <p:nvPr/>
        </p:nvSpPr>
        <p:spPr>
          <a:xfrm>
            <a:off x="584993" y="15179179"/>
            <a:ext cx="96123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In perfusion students participating in CPB education or simulation, does use of a web-based CPB Perfusion Tool improve calculation accuracy, workflow efficiency, usability, cognitive workload, and learner confidence compared with manual calculation methods?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1D911C-E6C8-BBD9-A81D-641326395BA2}"/>
              </a:ext>
            </a:extLst>
          </p:cNvPr>
          <p:cNvSpPr txBox="1"/>
          <p:nvPr/>
        </p:nvSpPr>
        <p:spPr>
          <a:xfrm>
            <a:off x="441517" y="9450665"/>
            <a:ext cx="956151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000000"/>
                </a:solidFill>
                <a:latin typeface="Arial"/>
              </a:rPr>
              <a:t>CPB is a high-acuity workflow requiring accurate calculations for BSA, pump flow, DO2i, prime dilution, hematocrit, heparin, and protamine.</a:t>
            </a:r>
          </a:p>
          <a:p/>
          <a:p>
            <a:r>
              <a:rPr sz="2000">
                <a:solidFill>
                  <a:srgbClr val="000000"/>
                </a:solidFill>
                <a:latin typeface="Arial"/>
              </a:rPr>
              <a:t>Perfusion tools have evolved from paper calculations and manual records to electronic perfusion records, simulation systems, online calculators, and emerging decision-support tools.</a:t>
            </a:r>
          </a:p>
          <a:p/>
          <a:p>
            <a:r>
              <a:rPr sz="2000">
                <a:solidFill>
                  <a:srgbClr val="000000"/>
                </a:solidFill>
                <a:latin typeface="Arial"/>
              </a:rPr>
              <a:t>Similar calculators exist, but many are isolated, commercial, or documentation-focused rather than student-centered, mobile-friendly workflow tools.</a:t>
            </a:r>
          </a:p>
          <a:p/>
          <a:p>
            <a:r>
              <a:rPr sz="2000">
                <a:solidFill>
                  <a:srgbClr val="000000"/>
                </a:solidFill>
                <a:latin typeface="Arial"/>
              </a:rPr>
              <a:t>Knowledge gap: Limited evidence exists on integrated web-based CPB calculation tools designed specifically for perfusion education and simulation.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C0BA72-1187-C650-7B33-FFDBACE32518}"/>
              </a:ext>
            </a:extLst>
          </p:cNvPr>
          <p:cNvSpPr txBox="1"/>
          <p:nvPr/>
        </p:nvSpPr>
        <p:spPr>
          <a:xfrm>
            <a:off x="11078540" y="12291920"/>
            <a:ext cx="9677400" cy="3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900">
                <a:solidFill>
                  <a:srgbClr val="000000"/>
                </a:solidFill>
                <a:latin typeface="Arial"/>
              </a:rPr>
              <a:t>Key themes from the literature:</a:t>
            </a:r>
          </a:p>
          <a:p>
            <a:r>
              <a:rPr sz="1900">
                <a:solidFill>
                  <a:srgbClr val="000000"/>
                </a:solidFill>
                <a:latin typeface="Arial"/>
              </a:rPr>
              <a:t>Standardization and safety: AmSECT and STS/SCA/AmSECT guidelines support transparent assumptions, protocol awareness, and anticoagulation safety.</a:t>
            </a:r>
          </a:p>
          <a:p/>
          <a:p>
            <a:r>
              <a:rPr sz="1900">
                <a:solidFill>
                  <a:srgbClr val="000000"/>
                </a:solidFill>
                <a:latin typeface="Arial"/>
              </a:rPr>
              <a:t>Goal-directed perfusion: RCTs and meta-analyses support the clinical importance of oxygen delivery, flow, hemoglobin, and AKI-risk education.</a:t>
            </a:r>
          </a:p>
          <a:p/>
          <a:p>
            <a:r>
              <a:rPr sz="1900">
                <a:solidFill>
                  <a:srgbClr val="000000"/>
                </a:solidFill>
                <a:latin typeface="Arial"/>
              </a:rPr>
              <a:t>Simulation education: CPB and extracorporeal simulation studies support technology-enhanced learning before patient care.</a:t>
            </a:r>
          </a:p>
          <a:p/>
          <a:p>
            <a:r>
              <a:rPr sz="1900">
                <a:solidFill>
                  <a:srgbClr val="000000"/>
                </a:solidFill>
                <a:latin typeface="Arial"/>
              </a:rPr>
              <a:t>Usability and workload: SUS and NASA-TLX literature support measuring usability, cognitive load, and learner experience.</a:t>
            </a:r>
          </a:p>
        </p:txBody>
      </p:sp>
      <p:pic>
        <p:nvPicPr>
          <p:cNvPr id="17" name="Picture 16" descr="A close-up of a logo&#10;&#10;AI-generated content may be incorrect.">
            <a:extLst>
              <a:ext uri="{FF2B5EF4-FFF2-40B4-BE49-F238E27FC236}">
                <a16:creationId xmlns:a16="http://schemas.microsoft.com/office/drawing/2014/main" id="{36C915D6-5F70-5E1E-CF31-2016DDC01EF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7975" y="293878"/>
            <a:ext cx="10513247" cy="29562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41E4F1-CE5C-6CB9-BE22-2BB42ABA92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560" y="16864334"/>
            <a:ext cx="7703225" cy="391594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7DF5D1E-2834-5D9F-4800-308DF03E6E61}"/>
              </a:ext>
            </a:extLst>
          </p:cNvPr>
          <p:cNvSpPr txBox="1"/>
          <p:nvPr/>
        </p:nvSpPr>
        <p:spPr>
          <a:xfrm>
            <a:off x="22234269" y="4912971"/>
            <a:ext cx="9186522" cy="2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000000"/>
                </a:solidFill>
                <a:latin typeface="Arial"/>
              </a:rPr>
              <a:t>The proposed CPB Perfusion Tool addresses an important educational opportunity in cardiovascular perfusion practice. By integrating common CPB calculations into one mobile-friendly workflow, the tool may improve calculation consistency, reduce learner cognitive burden, and strengthen confidence during simulation.</a:t>
            </a:r>
          </a:p>
          <a:p/>
          <a:p>
            <a:r>
              <a:rPr sz="2000">
                <a:solidFill>
                  <a:srgbClr val="000000"/>
                </a:solidFill>
                <a:latin typeface="Arial"/>
              </a:rPr>
              <a:t>This educational tool does not replace institutional protocols or clinical judgment.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F181B6-EBF7-FCBD-C413-15E93BA6D3A0}"/>
              </a:ext>
            </a:extLst>
          </p:cNvPr>
          <p:cNvSpPr txBox="1"/>
          <p:nvPr/>
        </p:nvSpPr>
        <p:spPr>
          <a:xfrm>
            <a:off x="11256340" y="4920000"/>
            <a:ext cx="9321799" cy="60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900">
                <a:solidFill>
                  <a:srgbClr val="000000"/>
                </a:solidFill>
                <a:latin typeface="Arial"/>
              </a:rPr>
              <a:t>Design: Evidence-based practice / quality improvement project using a mixed methods evaluation.</a:t>
            </a:r>
          </a:p>
          <a:p/>
          <a:p>
            <a:r>
              <a:rPr sz="1900">
                <a:solidFill>
                  <a:srgbClr val="000000"/>
                </a:solidFill>
                <a:latin typeface="Arial"/>
              </a:rPr>
              <a:t>Final product: Static web-based CPB tool with perfusion calculator, prime planner, and anticoagulation support modules.</a:t>
            </a:r>
          </a:p>
          <a:p/>
          <a:p>
            <a:r>
              <a:rPr sz="1900">
                <a:solidFill>
                  <a:srgbClr val="000000"/>
                </a:solidFill>
                <a:latin typeface="Arial"/>
              </a:rPr>
              <a:t>Participants: Perfusion students, instructors, preceptors, and practicing perfusionists when available.</a:t>
            </a:r>
          </a:p>
          <a:p/>
          <a:p>
            <a:r>
              <a:rPr sz="1900">
                <a:solidFill>
                  <a:srgbClr val="000000"/>
                </a:solidFill>
                <a:latin typeface="Arial"/>
              </a:rPr>
              <a:t>Data collection: Accuracy checklist, task completion time, System Usability Scale, NASA-TLX or brief workload rating, confidence rating, and open-ended feedback.</a:t>
            </a:r>
          </a:p>
          <a:p/>
          <a:p>
            <a:r>
              <a:rPr sz="1900">
                <a:solidFill>
                  <a:srgbClr val="000000"/>
                </a:solidFill>
                <a:latin typeface="Arial"/>
              </a:rPr>
              <a:t>Timeline: July-November 2026; recruitment and testing occur after IRB/program approval.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130140-7A33-D641-3CAF-C36207E80A5C}"/>
              </a:ext>
            </a:extLst>
          </p:cNvPr>
          <p:cNvSpPr txBox="1"/>
          <p:nvPr/>
        </p:nvSpPr>
        <p:spPr>
          <a:xfrm>
            <a:off x="11256340" y="16920000"/>
            <a:ext cx="9321799" cy="33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Strengths: Evidence includes RCTs, systematic review/meta-analysis, professional guidelines, simulation validation studies, and usability/workload measurement research.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Weaknesses: Much of the evidence is not specific to web-based perfusion calculators. Several studies focus on clinical outcomes, simulation models, or general digital health usability rather than this exact intervention.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Implication: Local usability testing and stakeholder review are needed before broader educational adoption.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001530" y="8000000"/>
            <a:ext cx="9652000" cy="461665"/>
          </a:xfrm>
          <a:prstGeom prst="rect">
            <a:avLst/>
          </a:prstGeom>
          <a:solidFill>
            <a:srgbClr val="002763"/>
          </a:solidFill>
          <a:ln>
            <a:solidFill>
              <a:srgbClr val="002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Limitations / Mitigation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234269" y="8570000"/>
            <a:ext cx="918652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Arial"/>
              </a:rPr>
              <a:t>Limits: educational-only use, institutional protocol variation, formula error risk, small sample size, and mobile usability constraints.</a:t>
            </a:r>
          </a:p>
          <a:p/>
          <a:p>
            <a:r>
              <a:rPr sz="1500">
                <a:solidFill>
                  <a:srgbClr val="000000"/>
                </a:solidFill>
                <a:latin typeface="Arial"/>
              </a:rPr>
              <a:t>Mitigation: clear disclaimers, visible assumptions, referenced formulas, stakeholder review, testing, and iterative feedback.</a:t>
            </a:r>
          </a:p>
        </p:txBody>
      </p:sp>
    </p:spTree>
    <p:extLst>
      <p:ext uri="{BB962C8B-B14F-4D97-AF65-F5344CB8AC3E}">
        <p14:creationId xmlns:p14="http://schemas.microsoft.com/office/powerpoint/2010/main" val="3695233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1035</TotalTime>
  <Words>906</Words>
  <Application>Microsoft Office PowerPoint</Application>
  <PresentationFormat>Custom</PresentationFormat>
  <Paragraphs>84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Development and Evaluation of a Web-Based Perfusion Support Tool to Reduce Cognitive Workload and Improve Protocol Adherence During Cardiopulmonary Bypass  My Do Emory University – CVP 587</vt:lpstr>
      <vt:lpstr>Group Participation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Evidence-based Practice Poster Title Author(s) Name(s), Degree, License, Certification, Institution and/or  Department Affiliations</dc:title>
  <dc:creator>Kim Bissett</dc:creator>
  <cp:lastModifiedBy>Lias, Sydney</cp:lastModifiedBy>
  <cp:revision>38</cp:revision>
  <dcterms:created xsi:type="dcterms:W3CDTF">2019-06-25T16:32:08Z</dcterms:created>
  <dcterms:modified xsi:type="dcterms:W3CDTF">2026-07-31T01:45:29Z</dcterms:modified>
</cp:coreProperties>
</file>